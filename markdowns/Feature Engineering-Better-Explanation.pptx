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12192000"/>
  <p:embeddedFontLst>
    <p:embeddedFont>
      <p:font typeface="Caladea"/>
      <p:regular r:id="rId22"/>
      <p:bold r:id="rId23"/>
      <p:italic r:id="rId24"/>
      <p:boldItalic r:id="rId25"/>
    </p:embeddedFont>
    <p:embeddedFont>
      <p:font typeface="Carli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oPB395w6vJFw6rvAetglDt3JF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428F95-D982-4F4E-99CC-6B386F8E9489}">
  <a:tblStyle styleId="{B1428F95-D982-4F4E-99CC-6B386F8E94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aladea-regular.fntdata"/><Relationship Id="rId21" Type="http://schemas.openxmlformats.org/officeDocument/2006/relationships/slide" Target="slides/slide16.xml"/><Relationship Id="rId24" Type="http://schemas.openxmlformats.org/officeDocument/2006/relationships/font" Target="fonts/Caladea-italic.fntdata"/><Relationship Id="rId23" Type="http://schemas.openxmlformats.org/officeDocument/2006/relationships/font" Target="fonts/Calade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rlito-regular.fntdata"/><Relationship Id="rId25" Type="http://schemas.openxmlformats.org/officeDocument/2006/relationships/font" Target="fonts/Caladea-boldItalic.fntdata"/><Relationship Id="rId28" Type="http://schemas.openxmlformats.org/officeDocument/2006/relationships/font" Target="fonts/Carlito-italic.fntdata"/><Relationship Id="rId27" Type="http://schemas.openxmlformats.org/officeDocument/2006/relationships/font" Target="fonts/Carl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arlito-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1pPr>
            <a:lvl2pPr lvl="1"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2pPr>
            <a:lvl3pPr lvl="2"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3pPr>
            <a:lvl4pPr lvl="3"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4pPr>
            <a:lvl5pPr lvl="4"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5pPr>
            <a:lvl6pPr lvl="5"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6pPr>
            <a:lvl7pPr lvl="6"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7pPr>
            <a:lvl8pPr lvl="7"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8pPr>
            <a:lvl9pPr lvl="8"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rlito"/>
                <a:ea typeface="Carlito"/>
                <a:cs typeface="Carlito"/>
                <a:sym typeface="Carlito"/>
              </a:defRPr>
            </a:lvl1pPr>
            <a:lvl2pPr lvl="1"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2pPr>
            <a:lvl3pPr lvl="2"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3pPr>
            <a:lvl4pPr lvl="3"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4pPr>
            <a:lvl5pPr lvl="4"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5pPr>
            <a:lvl6pPr lvl="5"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6pPr>
            <a:lvl7pPr lvl="6"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7pPr>
            <a:lvl8pPr lvl="7"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8pPr>
            <a:lvl9pPr lvl="8"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1pPr>
            <a:lvl2pPr indent="-228600" lvl="1" marL="9144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2pPr>
            <a:lvl3pPr indent="-228600" lvl="2" marL="13716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3pPr>
            <a:lvl4pPr indent="-228600" lvl="3" marL="18288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4pPr>
            <a:lvl5pPr indent="-228600" lvl="4" marL="22860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5pPr>
            <a:lvl6pPr indent="-228600" lvl="5" marL="27432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6pPr>
            <a:lvl7pPr indent="-228600" lvl="6" marL="32004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7pPr>
            <a:lvl8pPr indent="-228600" lvl="7" marL="36576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8pPr>
            <a:lvl9pPr indent="-228600" lvl="8" marL="411480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rlito"/>
                <a:ea typeface="Carlito"/>
                <a:cs typeface="Carlito"/>
                <a:sym typeface="Carlito"/>
              </a:defRPr>
            </a:lvl1pPr>
            <a:lvl2pPr lvl="1"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2pPr>
            <a:lvl3pPr lvl="2"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3pPr>
            <a:lvl4pPr lvl="3"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4pPr>
            <a:lvl5pPr lvl="4"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5pPr>
            <a:lvl6pPr lvl="5"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6pPr>
            <a:lvl7pPr lvl="6"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7pPr>
            <a:lvl8pPr lvl="7"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8pPr>
            <a:lvl9pPr lvl="8" marR="0" rtl="0" algn="l">
              <a:spcBef>
                <a:spcPts val="0"/>
              </a:spcBef>
              <a:spcAft>
                <a:spcPts val="0"/>
              </a:spcAft>
              <a:buSzPts val="1400"/>
              <a:buNone/>
              <a:defRPr b="0" i="0" sz="1800" u="none" cap="none" strike="noStrike">
                <a:solidFill>
                  <a:schemeClr val="dk1"/>
                </a:solidFill>
                <a:latin typeface="Carlito"/>
                <a:ea typeface="Carlito"/>
                <a:cs typeface="Carlito"/>
                <a:sym typeface="Carlito"/>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rlito"/>
                <a:ea typeface="Carlito"/>
                <a:cs typeface="Carlito"/>
                <a:sym typeface="Carlito"/>
              </a:rPr>
              <a:t>‹#›</a:t>
            </a:fld>
            <a:endParaRPr b="0" i="0" sz="1200" u="none" cap="none" strike="noStrike">
              <a:solidFill>
                <a:schemeClr val="dk1"/>
              </a:solidFill>
              <a:latin typeface="Carlito"/>
              <a:ea typeface="Carlito"/>
              <a:cs typeface="Carlito"/>
              <a:sym typeface="Carlito"/>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feature engineering stage. We took the findings from our EDA and turned them into two model-ready tables: one for tree models like XGBoost and LightGBM, and one normalized for a neural net. No model is trained yet; this is the data the modeling pipeline will load. The final notebook combines the work of all four of us.</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us built a feature engineering notebook. The advisor asked us to combine them, since that was the blocker before training any model. The final notebook starts from exactly the same data as the EDA, keeps the best version of each feature, and credits who built what. It saves two tables the modeling pipeline can load directly.</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kept the EDA training period exactly, so every EDA finding still applies. The EDA validation period is split into a validation half for comparing versions and a holdout we score once at the end. Kaggle test has no labels, so it cannot produce the advisor’s metrics. Note that fraud rises from 3.13 to 3.75 percent between validation and holdout, so compare scores across periods with care.</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maps each point from our last advisor meeting to what we built. The two biggest are the encoding choice for columns with many categories and building separate tables for tree models and neural nets.</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advisor warned that one-hot encoding columns with many categories creates sparse, wide data. So we route by the number of categories. Few categories get one-hot for the neural net. Many categories get frequency encoding: each value becomes how common it is in training. That turns about 14,400 mostly-zero columns into 14. The advisor also suggested mean encoding but said it only works if fraud rates are stable over time. Jennifer built it for the stable columns, which we cover on slide 9; addr1 failed the stability check, so it is left out. id_14, the timezone, was added on Salvador’s suggestion.</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EDA found fraud amounts are higher within every product, but products have very different typical amounts. So we compare each amount to its own product’s training median. The same 150 payment is three times typical on H but only 1.2 times typical on R. Other amount and time features are listed in the table. Hour and weekday use sine and cosine so the model knows 11 PM and midnight are neighbors. None of these are latent variables. Amount relative to product median is the one interaction feature: it hard-codes the idea that an amount only means something relative to its product, so the model doesn’t have to discover that combination on its own. The others are simple transforms or lookups of a single column.</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 has no customer ID, so we approximate one. Key 1 is the EDA’s: card, address and the card’s estimated start day. Key 2 swaps the address for the email domain. For each transaction we look only at that account’s earlier activity: how many earlier payments, the usual amount, how long since the last one, and how many different devices and emails were used. T5 in the example is the pattern we want to catch. We don’t put device or email into Key 1, because then a new device would look like a new account and hide the change.</a:t>
            </a:r>
            <a:endParaRPr/>
          </a:p>
        </p:txBody>
      </p:sp>
      <p:sp>
        <p:nvSpPr>
          <p:cNvPr id="132" name="Google Shape;13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EDA flagged a blind spot: transactions with no address are 11 percent of the data but 37 percent of fraud, and the account key can’t be built for them. Key 2 reaches 96 percent of them and gives 58 percent an account history. Having history alone is only slightly riskier; the real test is whether the history features, like amount versus usual and new devices, improve the model. Key 2 is broader than Key 1, since many people share gmail.com, so we’ll compare models with and without it.</a:t>
            </a:r>
            <a:endParaRPr/>
          </a:p>
        </p:txBody>
      </p:sp>
      <p:sp>
        <p:nvSpPr>
          <p:cNvPr id="158" name="Google Shape;1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advisor suggested exploring mean encoding but warned it only works if fraud rates stay stable over time. Jennifer built it carefully: each category becomes its smoothed fraud rate, and training rows only use earlier data, so no row sees its own answer. Encoded card2 is now our strongest single feature at 0.728. P_emaildomain is the weakest and least stable, so we may drop it. Jennifer also added account-behavior features on both keys, 32 in total with Susie’s week and month windows: repeated amounts, velocity in the last hour, day, week and month, how unusual an amount is for the account, and whether a device, email or address is new. The numbers on the cards are the best validation AUC in each family. A feature set without her block lets the modeling pipeline test whether it helps.</a:t>
            </a:r>
            <a:endParaRPr/>
          </a:p>
        </p:txBody>
      </p:sp>
      <p:sp>
        <p:nvSpPr>
          <p:cNvPr id="183" name="Google Shape;1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table walks through one column with made-up numbers. For each category we count its transactions and its fraud cases. The fraud rate is fraud divided by transactions: category A has 45 fraud cases in 500 transactions, so 9 percent. The share of fraud is how much of all the fraud that category holds: A’s 45 out of 225 total is 20 percent, so B, with a lower rate, still holds more of the fraud because it is bigger. The encoding is the smoothed fraud rate the model actually receives. To check stability, Jennifer calculated each category’s fraud rate in the first half of training and again in the second half, keeping only categories with at least 30 transactions in both halves. The table uses made-up numbers to show the idea: if the categories stay in the same order from riskiest to safest, the rank correlation is high and the column is stable. Her real results were 0.68 for R_emaildomain, 0.48 for card2 and 0.31 for P_emaildomain. The encoding itself smooths each rate toward the overall 3.5 percent, so a category with one fraudulent transaction gets about 8 percent, not 100 percent. Training rows are encoded only from earlier time folds, so no row ever sees its own answer. The general form of the smoothing is a weighted average of the category’s own rate and the overall rate, with the weight growing as the category gets more transactions. Insurers use the same idea, called credibility weighting, to price small groups of policyholders; in Bayesian statistics it is the posterior mean of a Beta-Binomial model; and in machine learning it is Laplace smoothing. That is why our approach is standard rather than ad hoc.</a:t>
            </a:r>
            <a:endParaRPr/>
          </a:p>
        </p:txBody>
      </p:sp>
      <p:sp>
        <p:nvSpPr>
          <p:cNvPr id="217" name="Google Shape;21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EDA showed missing values are structured and carry fraud signal. We capture which blocks are missing with one flag per block, how much is missing with Eric’s counts, and the overall pattern with Jean’s k-means clusters. The clusters match the EDA: a large low-risk group, a middle group, and a small group at 12 percent fraud. For the neural net, missing values must be filled, so these flags are the only record that a value was missing.</a:t>
            </a:r>
            <a:endParaRPr/>
          </a:p>
        </p:txBody>
      </p:sp>
      <p:sp>
        <p:nvSpPr>
          <p:cNvPr id="242" name="Google Shape;24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Following the advisor, trees and neural nets get different preparation. Trees split on values, so they handle raw numbers, missing values and near-duplicate columns fine. Neural nets do math with the values, so everything is filled, scaled and encoded as numbers. The four named feature sets match our plan to train on raw, clean and history-enriched data, plus the reduced-V test the advisor suggested. Kyaw’s research may refine the neural-net rules.</a:t>
            </a:r>
            <a:endParaRPr/>
          </a:p>
        </p:txBody>
      </p:sp>
      <p:sp>
        <p:nvSpPr>
          <p:cNvPr id="265" name="Google Shape;2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any model, we scored each new feature alone: its own values serve as the fraud score, and ROC-AUC measures how well that ranking separates fraud. 0.5 is a coin flip. The best single feature is now Jennifer’s target encoding of card2 at 0.728; before it, raw_missing_count led at 0.678. Most top features say the same thing, whether identity data is present, which the EDA found triples the fraud rate. This is a screening tool, not a way to pick features, and it sets the baseline a real model must clearly beat.</a:t>
            </a:r>
            <a:endParaRPr/>
          </a:p>
        </p:txBody>
      </p:sp>
      <p:sp>
        <p:nvSpPr>
          <p:cNvPr id="280" name="Google Shape;28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advisor’s KS table: sort by score, cut into buckets, and keep running totals. Using one feature with no model, Jennifer’s encoded card2, flagging the top 10 percent catches 40 percent of fraud at 7 legitimate transactions per fraud, and the top 20 percent catches 52 percent at 11.3 to 1. It beats the old best feature at the very top of the list, which is where fraud teams actually work. For real models we should use 20 to 100 buckets to see the cutoffs near the target precisely. TFPR is the fraud industry’s transaction false positive rate, which despite the name is a ratio, legitimate per fraud caught. Our notes say 10 percent, but the target is most likely 10 to 1. This is a baseline: our first real model should clearly beat it.</a:t>
            </a:r>
            <a:endParaRPr/>
          </a:p>
        </p:txBody>
      </p:sp>
      <p:sp>
        <p:nvSpPr>
          <p:cNvPr id="322" name="Google Shape;32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teammate’s work is in the final notebook, and the notebook itself credits each section. Eric’s pipeline structure is the backbone, Jean added the missingness clusters, Jennifer added the target encoding and account-behavior features, Salvador contributed ideas from Kaggle discussions, Susie added the week and month velocity windows, and Sal added the pieces the advisor asked for and the EDA gaps, then combined everything.</a:t>
            </a:r>
            <a:endParaRPr/>
          </a:p>
        </p:txBody>
      </p:sp>
      <p:sp>
        <p:nvSpPr>
          <p:cNvPr id="346" name="Google Shape;34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Feature engineering is done, so the next step is modeling. Following the advisor, one person builds the full pipeline and the rest of us run comparisons on it. We compare the four feature sets, report the advisor’s metrics, test the choices we left open, confirm the TFPR target with Debasmita, and only at the very end score the holdout once.</a:t>
            </a:r>
            <a:endParaRPr/>
          </a:p>
        </p:txBody>
      </p:sp>
      <p:sp>
        <p:nvSpPr>
          <p:cNvPr id="358" name="Google Shape;35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18"/>
          <p:cNvSpPr txBox="1"/>
          <p:nvPr>
            <p:ph type="title"/>
          </p:nvPr>
        </p:nvSpPr>
        <p:spPr>
          <a:xfrm>
            <a:off x="812800" y="711200"/>
            <a:ext cx="10566400" cy="876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6213E"/>
              </a:buClr>
              <a:buSzPts val="3000"/>
              <a:buFont typeface="Caladea"/>
              <a:buNone/>
              <a:defRPr sz="3000">
                <a:solidFill>
                  <a:srgbClr val="16213E"/>
                </a:solidFill>
                <a:latin typeface="Caladea"/>
                <a:ea typeface="Caladea"/>
                <a:cs typeface="Caladea"/>
                <a:sym typeface="Calad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8"/>
          <p:cNvSpPr txBox="1"/>
          <p:nvPr>
            <p:ph idx="1" type="body"/>
          </p:nvPr>
        </p:nvSpPr>
        <p:spPr>
          <a:xfrm>
            <a:off x="812800" y="1892300"/>
            <a:ext cx="10566400" cy="41529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6213E"/>
              </a:buClr>
              <a:buSzPts val="1600"/>
              <a:buNone/>
              <a:defRPr sz="1600">
                <a:solidFill>
                  <a:srgbClr val="16213E"/>
                </a:solidFill>
                <a:latin typeface="Carlito"/>
                <a:ea typeface="Carlito"/>
                <a:cs typeface="Carlito"/>
                <a:sym typeface="Carlito"/>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12800" y="711200"/>
            <a:ext cx="10566400" cy="8763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6213E"/>
              </a:buClr>
              <a:buSzPts val="3000"/>
              <a:buFont typeface="Caladea"/>
              <a:buNone/>
              <a:defRPr b="0" i="0" sz="3000" u="none" cap="none" strike="noStrike">
                <a:solidFill>
                  <a:srgbClr val="16213E"/>
                </a:solidFill>
                <a:latin typeface="Caladea"/>
                <a:ea typeface="Caladea"/>
                <a:cs typeface="Caladea"/>
                <a:sym typeface="Calade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12800" y="1892300"/>
            <a:ext cx="10566400" cy="41529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6213E"/>
              </a:buClr>
              <a:buSzPts val="1600"/>
              <a:buFont typeface="Arial"/>
              <a:buNone/>
              <a:defRPr b="0" i="0" sz="1600" u="none" cap="none" strike="noStrike">
                <a:solidFill>
                  <a:srgbClr val="16213E"/>
                </a:solidFill>
                <a:latin typeface="Carlito"/>
                <a:ea typeface="Carlito"/>
                <a:cs typeface="Carlito"/>
                <a:sym typeface="Carlito"/>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rlito"/>
                <a:ea typeface="Carlito"/>
                <a:cs typeface="Carlito"/>
                <a:sym typeface="Carlito"/>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rlito"/>
                <a:ea typeface="Carlito"/>
                <a:cs typeface="Carlito"/>
                <a:sym typeface="Carlito"/>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rlito"/>
                <a:ea typeface="Carlito"/>
                <a:cs typeface="Carlito"/>
                <a:sym typeface="Carlito"/>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rlito"/>
                <a:ea typeface="Carlito"/>
                <a:cs typeface="Carlito"/>
                <a:sym typeface="Carlito"/>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rlito"/>
                <a:ea typeface="Carlito"/>
                <a:cs typeface="Carlito"/>
                <a:sym typeface="Carlito"/>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rlito"/>
                <a:ea typeface="Carlito"/>
                <a:cs typeface="Carlito"/>
                <a:sym typeface="Carlito"/>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rlito"/>
                <a:ea typeface="Carlito"/>
                <a:cs typeface="Carlito"/>
                <a:sym typeface="Carlito"/>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rlito"/>
                <a:ea typeface="Carlito"/>
                <a:cs typeface="Carlito"/>
                <a:sym typeface="Carlit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laude.ai/artifact/LzXieovWKWTuwLCbpvDMZ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13E"/>
        </a:solidFill>
      </p:bgPr>
    </p:bg>
    <p:spTree>
      <p:nvGrpSpPr>
        <p:cNvPr id="20" name="Shape 20"/>
        <p:cNvGrpSpPr/>
        <p:nvPr/>
      </p:nvGrpSpPr>
      <p:grpSpPr>
        <a:xfrm>
          <a:off x="0" y="0"/>
          <a:ext cx="0" cy="0"/>
          <a:chOff x="0" y="0"/>
          <a:chExt cx="0" cy="0"/>
        </a:xfrm>
      </p:grpSpPr>
      <p:sp>
        <p:nvSpPr>
          <p:cNvPr id="21" name="Google Shape;21;p1"/>
          <p:cNvSpPr/>
          <p:nvPr/>
        </p:nvSpPr>
        <p:spPr>
          <a:xfrm>
            <a:off x="812800" y="1891030"/>
            <a:ext cx="6200394"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200"/>
              <a:buFont typeface="Carlito"/>
              <a:buNone/>
            </a:pPr>
            <a:r>
              <a:rPr b="1" i="0" lang="en-US" sz="1200" u="none" cap="none" strike="noStrike">
                <a:solidFill>
                  <a:srgbClr val="C9D1E0"/>
                </a:solidFill>
                <a:latin typeface="Carlito"/>
                <a:ea typeface="Carlito"/>
                <a:cs typeface="Carlito"/>
                <a:sym typeface="Carlito"/>
              </a:rPr>
              <a:t>BANKING B · BREAK THROUGH TECH × MASTERCARD</a:t>
            </a:r>
            <a:endParaRPr b="0" i="0" sz="1200" u="none" cap="none" strike="noStrike">
              <a:solidFill>
                <a:schemeClr val="dk1"/>
              </a:solidFill>
              <a:latin typeface="Carlito"/>
              <a:ea typeface="Carlito"/>
              <a:cs typeface="Carlito"/>
              <a:sym typeface="Carlito"/>
            </a:endParaRPr>
          </a:p>
        </p:txBody>
      </p:sp>
      <p:sp>
        <p:nvSpPr>
          <p:cNvPr id="22" name="Google Shape;22;p1"/>
          <p:cNvSpPr txBox="1"/>
          <p:nvPr>
            <p:ph type="title"/>
          </p:nvPr>
        </p:nvSpPr>
        <p:spPr>
          <a:xfrm>
            <a:off x="812800" y="2307590"/>
            <a:ext cx="6200394" cy="141224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FFFFF"/>
              </a:buClr>
              <a:buSzPts val="5200"/>
              <a:buFont typeface="Caladea"/>
              <a:buNone/>
            </a:pPr>
            <a:r>
              <a:rPr b="1" i="0" lang="en-US" sz="5200">
                <a:solidFill>
                  <a:srgbClr val="FFFFFF"/>
                </a:solidFill>
                <a:latin typeface="Caladea"/>
                <a:ea typeface="Caladea"/>
                <a:cs typeface="Caladea"/>
                <a:sym typeface="Caladea"/>
              </a:rPr>
              <a:t>Feature Engineering</a:t>
            </a:r>
            <a:endParaRPr sz="5200"/>
          </a:p>
        </p:txBody>
      </p:sp>
      <p:sp>
        <p:nvSpPr>
          <p:cNvPr id="23" name="Google Shape;23;p1"/>
          <p:cNvSpPr/>
          <p:nvPr/>
        </p:nvSpPr>
        <p:spPr>
          <a:xfrm>
            <a:off x="812800" y="3897630"/>
            <a:ext cx="6200394" cy="6426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800"/>
              <a:buFont typeface="Carlito"/>
              <a:buNone/>
            </a:pPr>
            <a:r>
              <a:rPr b="0" i="0" lang="en-US" sz="1800" u="none" cap="none" strike="noStrike">
                <a:solidFill>
                  <a:srgbClr val="C9D1E0"/>
                </a:solidFill>
                <a:latin typeface="Carlito"/>
                <a:ea typeface="Carlito"/>
                <a:cs typeface="Carlito"/>
                <a:sym typeface="Carlito"/>
              </a:rPr>
              <a:t>Turning the EDA into model-ready data for 1.1 million online card transactions</a:t>
            </a:r>
            <a:endParaRPr b="0" i="0" sz="1800" u="none" cap="none" strike="noStrike">
              <a:solidFill>
                <a:schemeClr val="dk1"/>
              </a:solidFill>
              <a:latin typeface="Carlito"/>
              <a:ea typeface="Carlito"/>
              <a:cs typeface="Carlito"/>
              <a:sym typeface="Carlito"/>
            </a:endParaRPr>
          </a:p>
        </p:txBody>
      </p:sp>
      <p:sp>
        <p:nvSpPr>
          <p:cNvPr id="24" name="Google Shape;24;p1"/>
          <p:cNvSpPr/>
          <p:nvPr/>
        </p:nvSpPr>
        <p:spPr>
          <a:xfrm>
            <a:off x="812800" y="4718050"/>
            <a:ext cx="6200394"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400"/>
              <a:buFont typeface="Carlito"/>
              <a:buNone/>
            </a:pPr>
            <a:r>
              <a:rPr b="0" i="0" lang="en-US" sz="1400" u="sng" cap="none" strike="noStrike">
                <a:solidFill>
                  <a:srgbClr val="FF8A8A"/>
                </a:solidFill>
                <a:latin typeface="Carlito"/>
                <a:ea typeface="Carlito"/>
                <a:cs typeface="Carlito"/>
                <a:sym typeface="Carlito"/>
                <a:hlinkClick r:id="rId3">
                  <a:extLst>
                    <a:ext uri="{A12FA001-AC4F-418D-AE19-62706E023703}">
                      <ahyp:hlinkClr val="tx"/>
                    </a:ext>
                  </a:extLst>
                </a:hlinkClick>
              </a:rPr>
              <a:t>Read the full write-up</a:t>
            </a:r>
            <a:endParaRPr b="0" i="0" sz="1400" u="none" cap="none" strike="noStrike">
              <a:solidFill>
                <a:schemeClr val="dk1"/>
              </a:solidFill>
              <a:latin typeface="Carlito"/>
              <a:ea typeface="Carlito"/>
              <a:cs typeface="Carlito"/>
              <a:sym typeface="Carlito"/>
            </a:endParaRPr>
          </a:p>
        </p:txBody>
      </p:sp>
      <p:sp>
        <p:nvSpPr>
          <p:cNvPr id="25" name="Google Shape;25;p1"/>
          <p:cNvSpPr/>
          <p:nvPr/>
        </p:nvSpPr>
        <p:spPr>
          <a:xfrm>
            <a:off x="7442200" y="1590040"/>
            <a:ext cx="3937000" cy="3677920"/>
          </a:xfrm>
          <a:prstGeom prst="roundRect">
            <a:avLst>
              <a:gd fmla="val 2762" name="adj"/>
            </a:avLst>
          </a:prstGeom>
          <a:solidFill>
            <a:srgbClr val="2232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7797800" y="1945640"/>
            <a:ext cx="3322574"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300"/>
              <a:buFont typeface="Carlito"/>
              <a:buNone/>
            </a:pPr>
            <a:r>
              <a:rPr b="0" i="0" lang="en-US" sz="1300" u="none" cap="none" strike="noStrike">
                <a:solidFill>
                  <a:srgbClr val="C9D1E0"/>
                </a:solidFill>
                <a:latin typeface="Carlito"/>
                <a:ea typeface="Carlito"/>
                <a:cs typeface="Carlito"/>
                <a:sym typeface="Carlito"/>
              </a:rPr>
              <a:t>What we hand to the modeling pipeline</a:t>
            </a:r>
            <a:endParaRPr b="0" i="0" sz="1300" u="none" cap="none" strike="noStrike">
              <a:solidFill>
                <a:schemeClr val="dk1"/>
              </a:solidFill>
              <a:latin typeface="Carlito"/>
              <a:ea typeface="Carlito"/>
              <a:cs typeface="Carlito"/>
              <a:sym typeface="Carlito"/>
            </a:endParaRPr>
          </a:p>
        </p:txBody>
      </p:sp>
      <p:sp>
        <p:nvSpPr>
          <p:cNvPr id="27" name="Google Shape;27;p1"/>
          <p:cNvSpPr/>
          <p:nvPr/>
        </p:nvSpPr>
        <p:spPr>
          <a:xfrm>
            <a:off x="7797800" y="2329180"/>
            <a:ext cx="3322574" cy="52832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F8A8A"/>
              </a:buClr>
              <a:buSzPts val="3600"/>
              <a:buFont typeface="Caladea"/>
              <a:buNone/>
            </a:pPr>
            <a:r>
              <a:rPr b="1" i="0" lang="en-US" sz="3600" u="none" cap="none" strike="noStrike">
                <a:solidFill>
                  <a:srgbClr val="FF8A8A"/>
                </a:solidFill>
                <a:latin typeface="Caladea"/>
                <a:ea typeface="Caladea"/>
                <a:cs typeface="Caladea"/>
                <a:sym typeface="Caladea"/>
              </a:rPr>
              <a:t>537</a:t>
            </a:r>
            <a:endParaRPr b="0" i="0" sz="3600" u="none" cap="none" strike="noStrike">
              <a:solidFill>
                <a:schemeClr val="dk1"/>
              </a:solidFill>
              <a:latin typeface="Carlito"/>
              <a:ea typeface="Carlito"/>
              <a:cs typeface="Carlito"/>
              <a:sym typeface="Carlito"/>
            </a:endParaRPr>
          </a:p>
        </p:txBody>
      </p:sp>
      <p:sp>
        <p:nvSpPr>
          <p:cNvPr id="28" name="Google Shape;28;p1"/>
          <p:cNvSpPr/>
          <p:nvPr/>
        </p:nvSpPr>
        <p:spPr>
          <a:xfrm>
            <a:off x="7797800" y="2857500"/>
            <a:ext cx="3322574"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300"/>
              <a:buFont typeface="Carlito"/>
              <a:buNone/>
            </a:pPr>
            <a:r>
              <a:rPr b="0" i="0" lang="en-US" sz="1300" u="none" cap="none" strike="noStrike">
                <a:solidFill>
                  <a:srgbClr val="FFFFFF"/>
                </a:solidFill>
                <a:latin typeface="Carlito"/>
                <a:ea typeface="Carlito"/>
                <a:cs typeface="Carlito"/>
                <a:sym typeface="Carlito"/>
              </a:rPr>
              <a:t>columns for tree models</a:t>
            </a:r>
            <a:endParaRPr b="0" i="0" sz="1300" u="none" cap="none" strike="noStrike">
              <a:solidFill>
                <a:schemeClr val="dk1"/>
              </a:solidFill>
              <a:latin typeface="Carlito"/>
              <a:ea typeface="Carlito"/>
              <a:cs typeface="Carlito"/>
              <a:sym typeface="Carlito"/>
            </a:endParaRPr>
          </a:p>
        </p:txBody>
      </p:sp>
      <p:sp>
        <p:nvSpPr>
          <p:cNvPr id="29" name="Google Shape;29;p1"/>
          <p:cNvSpPr/>
          <p:nvPr/>
        </p:nvSpPr>
        <p:spPr>
          <a:xfrm>
            <a:off x="7797800" y="3241040"/>
            <a:ext cx="3322574" cy="52832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F8A8A"/>
              </a:buClr>
              <a:buSzPts val="3600"/>
              <a:buFont typeface="Caladea"/>
              <a:buNone/>
            </a:pPr>
            <a:r>
              <a:rPr b="1" i="0" lang="en-US" sz="3600" u="none" cap="none" strike="noStrike">
                <a:solidFill>
                  <a:srgbClr val="FF8A8A"/>
                </a:solidFill>
                <a:latin typeface="Caladea"/>
                <a:ea typeface="Caladea"/>
                <a:cs typeface="Caladea"/>
                <a:sym typeface="Caladea"/>
              </a:rPr>
              <a:t>515</a:t>
            </a:r>
            <a:endParaRPr b="0" i="0" sz="3600" u="none" cap="none" strike="noStrike">
              <a:solidFill>
                <a:schemeClr val="dk1"/>
              </a:solidFill>
              <a:latin typeface="Carlito"/>
              <a:ea typeface="Carlito"/>
              <a:cs typeface="Carlito"/>
              <a:sym typeface="Carlito"/>
            </a:endParaRPr>
          </a:p>
        </p:txBody>
      </p:sp>
      <p:sp>
        <p:nvSpPr>
          <p:cNvPr id="30" name="Google Shape;30;p1"/>
          <p:cNvSpPr/>
          <p:nvPr/>
        </p:nvSpPr>
        <p:spPr>
          <a:xfrm>
            <a:off x="7797800" y="3769360"/>
            <a:ext cx="3322574"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300"/>
              <a:buFont typeface="Carlito"/>
              <a:buNone/>
            </a:pPr>
            <a:r>
              <a:rPr b="0" i="0" lang="en-US" sz="1300" u="none" cap="none" strike="noStrike">
                <a:solidFill>
                  <a:srgbClr val="FFFFFF"/>
                </a:solidFill>
                <a:latin typeface="Carlito"/>
                <a:ea typeface="Carlito"/>
                <a:cs typeface="Carlito"/>
                <a:sym typeface="Carlito"/>
              </a:rPr>
              <a:t>normalized columns for a neural net</a:t>
            </a:r>
            <a:endParaRPr b="0" i="0" sz="1300" u="none" cap="none" strike="noStrike">
              <a:solidFill>
                <a:schemeClr val="dk1"/>
              </a:solidFill>
              <a:latin typeface="Carlito"/>
              <a:ea typeface="Carlito"/>
              <a:cs typeface="Carlito"/>
              <a:sym typeface="Carlito"/>
            </a:endParaRPr>
          </a:p>
        </p:txBody>
      </p:sp>
      <p:sp>
        <p:nvSpPr>
          <p:cNvPr id="31" name="Google Shape;31;p1"/>
          <p:cNvSpPr/>
          <p:nvPr/>
        </p:nvSpPr>
        <p:spPr>
          <a:xfrm>
            <a:off x="7797800" y="4152900"/>
            <a:ext cx="3322574" cy="52832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F8A8A"/>
              </a:buClr>
              <a:buSzPts val="3600"/>
              <a:buFont typeface="Caladea"/>
              <a:buNone/>
            </a:pPr>
            <a:r>
              <a:rPr b="1" i="0" lang="en-US" sz="3600" u="none" cap="none" strike="noStrike">
                <a:solidFill>
                  <a:srgbClr val="FF8A8A"/>
                </a:solidFill>
                <a:latin typeface="Caladea"/>
                <a:ea typeface="Caladea"/>
                <a:cs typeface="Caladea"/>
                <a:sym typeface="Caladea"/>
              </a:rPr>
              <a:t>6</a:t>
            </a:r>
            <a:endParaRPr b="0" i="0" sz="3600" u="none" cap="none" strike="noStrike">
              <a:solidFill>
                <a:schemeClr val="dk1"/>
              </a:solidFill>
              <a:latin typeface="Carlito"/>
              <a:ea typeface="Carlito"/>
              <a:cs typeface="Carlito"/>
              <a:sym typeface="Carlito"/>
            </a:endParaRPr>
          </a:p>
        </p:txBody>
      </p:sp>
      <p:sp>
        <p:nvSpPr>
          <p:cNvPr id="32" name="Google Shape;32;p1"/>
          <p:cNvSpPr/>
          <p:nvPr/>
        </p:nvSpPr>
        <p:spPr>
          <a:xfrm>
            <a:off x="7797800" y="4681220"/>
            <a:ext cx="3322574"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300"/>
              <a:buFont typeface="Carlito"/>
              <a:buNone/>
            </a:pPr>
            <a:r>
              <a:rPr b="0" i="0" lang="en-US" sz="1300" u="none" cap="none" strike="noStrike">
                <a:solidFill>
                  <a:srgbClr val="FFFFFF"/>
                </a:solidFill>
                <a:latin typeface="Carlito"/>
                <a:ea typeface="Carlito"/>
                <a:cs typeface="Carlito"/>
                <a:sym typeface="Carlito"/>
              </a:rPr>
              <a:t>teammate notebooks combined</a:t>
            </a:r>
            <a:endParaRPr b="0" i="0" sz="1300" u="none" cap="none" strike="noStrike">
              <a:solidFill>
                <a:schemeClr val="dk1"/>
              </a:solidFill>
              <a:latin typeface="Carlito"/>
              <a:ea typeface="Carlito"/>
              <a:cs typeface="Carlito"/>
              <a:sym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2"/>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Where we are: feature engineering combined into one notebook</a:t>
            </a:r>
            <a:endParaRPr sz="3000"/>
          </a:p>
        </p:txBody>
      </p:sp>
      <p:sp>
        <p:nvSpPr>
          <p:cNvPr id="39" name="Google Shape;39;p2"/>
          <p:cNvSpPr/>
          <p:nvPr/>
        </p:nvSpPr>
        <p:spPr>
          <a:xfrm>
            <a:off x="812800" y="1892300"/>
            <a:ext cx="2489200" cy="2438400"/>
          </a:xfrm>
          <a:prstGeom prst="roundRect">
            <a:avLst>
              <a:gd fmla="val 4167"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066800" y="2146300"/>
            <a:ext cx="508000" cy="508000"/>
          </a:xfrm>
          <a:prstGeom prst="roundRect">
            <a:avLst>
              <a:gd fmla="val 50000"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41" name="Google Shape;41;p2"/>
          <p:cNvPicPr preferRelativeResize="0"/>
          <p:nvPr/>
        </p:nvPicPr>
        <p:blipFill rotWithShape="1">
          <a:blip r:embed="rId3">
            <a:alphaModFix/>
          </a:blip>
          <a:srcRect b="0" l="0" r="0" t="0"/>
          <a:stretch/>
        </p:blipFill>
        <p:spPr>
          <a:xfrm>
            <a:off x="1193800" y="2273300"/>
            <a:ext cx="254000" cy="254000"/>
          </a:xfrm>
          <a:prstGeom prst="rect">
            <a:avLst/>
          </a:prstGeom>
          <a:noFill/>
          <a:ln>
            <a:noFill/>
          </a:ln>
        </p:spPr>
      </p:pic>
      <p:sp>
        <p:nvSpPr>
          <p:cNvPr id="42" name="Google Shape;42;p2"/>
          <p:cNvSpPr/>
          <p:nvPr/>
        </p:nvSpPr>
        <p:spPr>
          <a:xfrm>
            <a:off x="2715673" y="2204720"/>
            <a:ext cx="332327" cy="4165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D7263D"/>
              </a:buClr>
              <a:buSzPts val="2200"/>
              <a:buFont typeface="Caladea"/>
              <a:buNone/>
            </a:pPr>
            <a:r>
              <a:rPr b="1" i="0" lang="en-US" sz="2200" u="none" cap="none" strike="noStrike">
                <a:solidFill>
                  <a:srgbClr val="D7263D"/>
                </a:solidFill>
                <a:latin typeface="Caladea"/>
                <a:ea typeface="Caladea"/>
                <a:cs typeface="Caladea"/>
                <a:sym typeface="Caladea"/>
              </a:rPr>
              <a:t>01</a:t>
            </a:r>
            <a:endParaRPr b="0" i="0" sz="2200" u="none" cap="none" strike="noStrike">
              <a:solidFill>
                <a:schemeClr val="dk1"/>
              </a:solidFill>
              <a:latin typeface="Carlito"/>
              <a:ea typeface="Carlito"/>
              <a:cs typeface="Carlito"/>
              <a:sym typeface="Carlito"/>
            </a:endParaRPr>
          </a:p>
        </p:txBody>
      </p:sp>
      <p:sp>
        <p:nvSpPr>
          <p:cNvPr id="43" name="Google Shape;43;p2"/>
          <p:cNvSpPr/>
          <p:nvPr/>
        </p:nvSpPr>
        <p:spPr>
          <a:xfrm>
            <a:off x="1066800" y="2781300"/>
            <a:ext cx="2040636"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937"/>
              </a:buClr>
              <a:buSzPts val="1600"/>
              <a:buFont typeface="Carlito"/>
              <a:buNone/>
            </a:pPr>
            <a:r>
              <a:rPr b="1" i="0" lang="en-US" sz="1600" u="none" cap="none" strike="noStrike">
                <a:solidFill>
                  <a:srgbClr val="1F2937"/>
                </a:solidFill>
                <a:latin typeface="Carlito"/>
                <a:ea typeface="Carlito"/>
                <a:cs typeface="Carlito"/>
                <a:sym typeface="Carlito"/>
              </a:rPr>
              <a:t>Six notebooks</a:t>
            </a:r>
            <a:endParaRPr b="0" i="0" sz="1600" u="none" cap="none" strike="noStrike">
              <a:solidFill>
                <a:schemeClr val="dk1"/>
              </a:solidFill>
              <a:latin typeface="Carlito"/>
              <a:ea typeface="Carlito"/>
              <a:cs typeface="Carlito"/>
              <a:sym typeface="Carlito"/>
            </a:endParaRPr>
          </a:p>
        </p:txBody>
      </p:sp>
      <p:sp>
        <p:nvSpPr>
          <p:cNvPr id="44" name="Google Shape;44;p2"/>
          <p:cNvSpPr/>
          <p:nvPr/>
        </p:nvSpPr>
        <p:spPr>
          <a:xfrm>
            <a:off x="1066800" y="3152140"/>
            <a:ext cx="2040636" cy="949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300"/>
              <a:buFont typeface="Carlito"/>
              <a:buNone/>
            </a:pPr>
            <a:r>
              <a:rPr b="0" i="0" lang="en-US" sz="1300" u="none" cap="none" strike="noStrike">
                <a:solidFill>
                  <a:srgbClr val="5B6475"/>
                </a:solidFill>
                <a:latin typeface="Carlito"/>
                <a:ea typeface="Carlito"/>
                <a:cs typeface="Carlito"/>
                <a:sym typeface="Carlito"/>
              </a:rPr>
              <a:t>Eric, Jean, Jennifer, Salvador, Susie and Sal each engineered features on their own.</a:t>
            </a:r>
            <a:endParaRPr b="0" i="0" sz="1300" u="none" cap="none" strike="noStrike">
              <a:solidFill>
                <a:schemeClr val="dk1"/>
              </a:solidFill>
              <a:latin typeface="Carlito"/>
              <a:ea typeface="Carlito"/>
              <a:cs typeface="Carlito"/>
              <a:sym typeface="Carlito"/>
            </a:endParaRPr>
          </a:p>
        </p:txBody>
      </p:sp>
      <p:sp>
        <p:nvSpPr>
          <p:cNvPr id="45" name="Google Shape;45;p2"/>
          <p:cNvSpPr/>
          <p:nvPr/>
        </p:nvSpPr>
        <p:spPr>
          <a:xfrm>
            <a:off x="3505200" y="1892300"/>
            <a:ext cx="2489200" cy="2438400"/>
          </a:xfrm>
          <a:prstGeom prst="roundRect">
            <a:avLst>
              <a:gd fmla="val 4167"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3759200" y="2146300"/>
            <a:ext cx="508000" cy="508000"/>
          </a:xfrm>
          <a:prstGeom prst="roundRect">
            <a:avLst>
              <a:gd fmla="val 50000"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47" name="Google Shape;47;p2"/>
          <p:cNvPicPr preferRelativeResize="0"/>
          <p:nvPr/>
        </p:nvPicPr>
        <p:blipFill rotWithShape="1">
          <a:blip r:embed="rId4">
            <a:alphaModFix/>
          </a:blip>
          <a:srcRect b="0" l="0" r="0" t="0"/>
          <a:stretch/>
        </p:blipFill>
        <p:spPr>
          <a:xfrm>
            <a:off x="3886200" y="2273300"/>
            <a:ext cx="254000" cy="254000"/>
          </a:xfrm>
          <a:prstGeom prst="rect">
            <a:avLst/>
          </a:prstGeom>
          <a:noFill/>
          <a:ln>
            <a:noFill/>
          </a:ln>
        </p:spPr>
      </p:pic>
      <p:sp>
        <p:nvSpPr>
          <p:cNvPr id="48" name="Google Shape;48;p2"/>
          <p:cNvSpPr/>
          <p:nvPr/>
        </p:nvSpPr>
        <p:spPr>
          <a:xfrm>
            <a:off x="5391690" y="2204720"/>
            <a:ext cx="348710" cy="4165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D7263D"/>
              </a:buClr>
              <a:buSzPts val="2200"/>
              <a:buFont typeface="Caladea"/>
              <a:buNone/>
            </a:pPr>
            <a:r>
              <a:rPr b="1" i="0" lang="en-US" sz="2200" u="none" cap="none" strike="noStrike">
                <a:solidFill>
                  <a:srgbClr val="D7263D"/>
                </a:solidFill>
                <a:latin typeface="Caladea"/>
                <a:ea typeface="Caladea"/>
                <a:cs typeface="Caladea"/>
                <a:sym typeface="Caladea"/>
              </a:rPr>
              <a:t>02</a:t>
            </a:r>
            <a:endParaRPr b="0" i="0" sz="2200" u="none" cap="none" strike="noStrike">
              <a:solidFill>
                <a:schemeClr val="dk1"/>
              </a:solidFill>
              <a:latin typeface="Carlito"/>
              <a:ea typeface="Carlito"/>
              <a:cs typeface="Carlito"/>
              <a:sym typeface="Carlito"/>
            </a:endParaRPr>
          </a:p>
        </p:txBody>
      </p:sp>
      <p:sp>
        <p:nvSpPr>
          <p:cNvPr id="49" name="Google Shape;49;p2"/>
          <p:cNvSpPr/>
          <p:nvPr/>
        </p:nvSpPr>
        <p:spPr>
          <a:xfrm>
            <a:off x="3759200" y="2781300"/>
            <a:ext cx="2040636"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937"/>
              </a:buClr>
              <a:buSzPts val="1600"/>
              <a:buFont typeface="Carlito"/>
              <a:buNone/>
            </a:pPr>
            <a:r>
              <a:rPr b="1" i="0" lang="en-US" sz="1600" u="none" cap="none" strike="noStrike">
                <a:solidFill>
                  <a:srgbClr val="1F2937"/>
                </a:solidFill>
                <a:latin typeface="Carlito"/>
                <a:ea typeface="Carlito"/>
                <a:cs typeface="Carlito"/>
                <a:sym typeface="Carlito"/>
              </a:rPr>
              <a:t>Built on the EDA</a:t>
            </a:r>
            <a:endParaRPr b="0" i="0" sz="1600" u="none" cap="none" strike="noStrike">
              <a:solidFill>
                <a:schemeClr val="dk1"/>
              </a:solidFill>
              <a:latin typeface="Carlito"/>
              <a:ea typeface="Carlito"/>
              <a:cs typeface="Carlito"/>
              <a:sym typeface="Carlito"/>
            </a:endParaRPr>
          </a:p>
        </p:txBody>
      </p:sp>
      <p:sp>
        <p:nvSpPr>
          <p:cNvPr id="50" name="Google Shape;50;p2"/>
          <p:cNvSpPr/>
          <p:nvPr/>
        </p:nvSpPr>
        <p:spPr>
          <a:xfrm>
            <a:off x="3759200" y="3152140"/>
            <a:ext cx="2040636" cy="7188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300"/>
              <a:buFont typeface="Carlito"/>
              <a:buNone/>
            </a:pPr>
            <a:r>
              <a:rPr b="0" i="0" lang="en-US" sz="1300" u="none" cap="none" strike="noStrike">
                <a:solidFill>
                  <a:srgbClr val="5B6475"/>
                </a:solidFill>
                <a:latin typeface="Carlito"/>
                <a:ea typeface="Carlito"/>
                <a:cs typeface="Carlito"/>
                <a:sym typeface="Carlito"/>
              </a:rPr>
              <a:t>Same raw data, same join, same 472,432 training transactions.</a:t>
            </a:r>
            <a:endParaRPr b="0" i="0" sz="1300" u="none" cap="none" strike="noStrike">
              <a:solidFill>
                <a:schemeClr val="dk1"/>
              </a:solidFill>
              <a:latin typeface="Carlito"/>
              <a:ea typeface="Carlito"/>
              <a:cs typeface="Carlito"/>
              <a:sym typeface="Carlito"/>
            </a:endParaRPr>
          </a:p>
        </p:txBody>
      </p:sp>
      <p:sp>
        <p:nvSpPr>
          <p:cNvPr id="51" name="Google Shape;51;p2"/>
          <p:cNvSpPr/>
          <p:nvPr/>
        </p:nvSpPr>
        <p:spPr>
          <a:xfrm>
            <a:off x="6197600" y="1892300"/>
            <a:ext cx="2489200" cy="2438400"/>
          </a:xfrm>
          <a:prstGeom prst="roundRect">
            <a:avLst>
              <a:gd fmla="val 4167"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451600" y="2146300"/>
            <a:ext cx="508000" cy="508000"/>
          </a:xfrm>
          <a:prstGeom prst="roundRect">
            <a:avLst>
              <a:gd fmla="val 50000"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nk" id="53" name="Google Shape;53;p2"/>
          <p:cNvPicPr preferRelativeResize="0"/>
          <p:nvPr/>
        </p:nvPicPr>
        <p:blipFill rotWithShape="1">
          <a:blip r:embed="rId5">
            <a:alphaModFix/>
          </a:blip>
          <a:srcRect b="0" l="0" r="0" t="0"/>
          <a:stretch/>
        </p:blipFill>
        <p:spPr>
          <a:xfrm>
            <a:off x="6578600" y="2273300"/>
            <a:ext cx="254000" cy="254000"/>
          </a:xfrm>
          <a:prstGeom prst="rect">
            <a:avLst/>
          </a:prstGeom>
          <a:noFill/>
          <a:ln>
            <a:noFill/>
          </a:ln>
        </p:spPr>
      </p:pic>
      <p:sp>
        <p:nvSpPr>
          <p:cNvPr id="54" name="Google Shape;54;p2"/>
          <p:cNvSpPr/>
          <p:nvPr/>
        </p:nvSpPr>
        <p:spPr>
          <a:xfrm>
            <a:off x="8083709" y="2204720"/>
            <a:ext cx="349091" cy="4165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D7263D"/>
              </a:buClr>
              <a:buSzPts val="2200"/>
              <a:buFont typeface="Caladea"/>
              <a:buNone/>
            </a:pPr>
            <a:r>
              <a:rPr b="1" i="0" lang="en-US" sz="2200" u="none" cap="none" strike="noStrike">
                <a:solidFill>
                  <a:srgbClr val="D7263D"/>
                </a:solidFill>
                <a:latin typeface="Caladea"/>
                <a:ea typeface="Caladea"/>
                <a:cs typeface="Caladea"/>
                <a:sym typeface="Caladea"/>
              </a:rPr>
              <a:t>03</a:t>
            </a:r>
            <a:endParaRPr b="0" i="0" sz="2200" u="none" cap="none" strike="noStrike">
              <a:solidFill>
                <a:schemeClr val="dk1"/>
              </a:solidFill>
              <a:latin typeface="Carlito"/>
              <a:ea typeface="Carlito"/>
              <a:cs typeface="Carlito"/>
              <a:sym typeface="Carlito"/>
            </a:endParaRPr>
          </a:p>
        </p:txBody>
      </p:sp>
      <p:sp>
        <p:nvSpPr>
          <p:cNvPr id="55" name="Google Shape;55;p2"/>
          <p:cNvSpPr/>
          <p:nvPr/>
        </p:nvSpPr>
        <p:spPr>
          <a:xfrm>
            <a:off x="6451600" y="2781300"/>
            <a:ext cx="2040636"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937"/>
              </a:buClr>
              <a:buSzPts val="1600"/>
              <a:buFont typeface="Carlito"/>
              <a:buNone/>
            </a:pPr>
            <a:r>
              <a:rPr b="1" i="0" lang="en-US" sz="1600" u="none" cap="none" strike="noStrike">
                <a:solidFill>
                  <a:srgbClr val="1F2937"/>
                </a:solidFill>
                <a:latin typeface="Carlito"/>
                <a:ea typeface="Carlito"/>
                <a:cs typeface="Carlito"/>
                <a:sym typeface="Carlito"/>
              </a:rPr>
              <a:t>Combined</a:t>
            </a:r>
            <a:endParaRPr b="0" i="0" sz="1600" u="none" cap="none" strike="noStrike">
              <a:solidFill>
                <a:schemeClr val="dk1"/>
              </a:solidFill>
              <a:latin typeface="Carlito"/>
              <a:ea typeface="Carlito"/>
              <a:cs typeface="Carlito"/>
              <a:sym typeface="Carlito"/>
            </a:endParaRPr>
          </a:p>
        </p:txBody>
      </p:sp>
      <p:sp>
        <p:nvSpPr>
          <p:cNvPr id="56" name="Google Shape;56;p2"/>
          <p:cNvSpPr/>
          <p:nvPr/>
        </p:nvSpPr>
        <p:spPr>
          <a:xfrm>
            <a:off x="6451600" y="3152140"/>
            <a:ext cx="2040636" cy="7188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300"/>
              <a:buFont typeface="Carlito"/>
              <a:buNone/>
            </a:pPr>
            <a:r>
              <a:rPr b="0" i="0" lang="en-US" sz="1300" u="none" cap="none" strike="noStrike">
                <a:solidFill>
                  <a:srgbClr val="5B6475"/>
                </a:solidFill>
                <a:latin typeface="Carlito"/>
                <a:ea typeface="Carlito"/>
                <a:cs typeface="Carlito"/>
                <a:sym typeface="Carlito"/>
              </a:rPr>
              <a:t>One final notebook keeps the best version of every feature and credits each author.</a:t>
            </a:r>
            <a:endParaRPr b="0" i="0" sz="1300" u="none" cap="none" strike="noStrike">
              <a:solidFill>
                <a:schemeClr val="dk1"/>
              </a:solidFill>
              <a:latin typeface="Carlito"/>
              <a:ea typeface="Carlito"/>
              <a:cs typeface="Carlito"/>
              <a:sym typeface="Carlito"/>
            </a:endParaRPr>
          </a:p>
        </p:txBody>
      </p:sp>
      <p:sp>
        <p:nvSpPr>
          <p:cNvPr id="57" name="Google Shape;57;p2"/>
          <p:cNvSpPr/>
          <p:nvPr/>
        </p:nvSpPr>
        <p:spPr>
          <a:xfrm>
            <a:off x="8890000" y="1892300"/>
            <a:ext cx="2489200" cy="2438400"/>
          </a:xfrm>
          <a:prstGeom prst="roundRect">
            <a:avLst>
              <a:gd fmla="val 4167"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9144000" y="2146300"/>
            <a:ext cx="508000" cy="508000"/>
          </a:xfrm>
          <a:prstGeom prst="roundRect">
            <a:avLst>
              <a:gd fmla="val 50000"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59" name="Google Shape;59;p2"/>
          <p:cNvPicPr preferRelativeResize="0"/>
          <p:nvPr/>
        </p:nvPicPr>
        <p:blipFill rotWithShape="1">
          <a:blip r:embed="rId6">
            <a:alphaModFix/>
          </a:blip>
          <a:srcRect b="0" l="0" r="0" t="0"/>
          <a:stretch/>
        </p:blipFill>
        <p:spPr>
          <a:xfrm>
            <a:off x="9271000" y="2273300"/>
            <a:ext cx="254000" cy="254000"/>
          </a:xfrm>
          <a:prstGeom prst="rect">
            <a:avLst/>
          </a:prstGeom>
          <a:noFill/>
          <a:ln>
            <a:noFill/>
          </a:ln>
        </p:spPr>
      </p:pic>
      <p:sp>
        <p:nvSpPr>
          <p:cNvPr id="60" name="Google Shape;60;p2"/>
          <p:cNvSpPr/>
          <p:nvPr/>
        </p:nvSpPr>
        <p:spPr>
          <a:xfrm>
            <a:off x="10761059" y="2204720"/>
            <a:ext cx="364141" cy="4165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D7263D"/>
              </a:buClr>
              <a:buSzPts val="2200"/>
              <a:buFont typeface="Caladea"/>
              <a:buNone/>
            </a:pPr>
            <a:r>
              <a:rPr b="1" i="0" lang="en-US" sz="2200" u="none" cap="none" strike="noStrike">
                <a:solidFill>
                  <a:srgbClr val="D7263D"/>
                </a:solidFill>
                <a:latin typeface="Caladea"/>
                <a:ea typeface="Caladea"/>
                <a:cs typeface="Caladea"/>
                <a:sym typeface="Caladea"/>
              </a:rPr>
              <a:t>04</a:t>
            </a:r>
            <a:endParaRPr b="0" i="0" sz="2200" u="none" cap="none" strike="noStrike">
              <a:solidFill>
                <a:schemeClr val="dk1"/>
              </a:solidFill>
              <a:latin typeface="Carlito"/>
              <a:ea typeface="Carlito"/>
              <a:cs typeface="Carlito"/>
              <a:sym typeface="Carlito"/>
            </a:endParaRPr>
          </a:p>
        </p:txBody>
      </p:sp>
      <p:sp>
        <p:nvSpPr>
          <p:cNvPr id="61" name="Google Shape;61;p2"/>
          <p:cNvSpPr/>
          <p:nvPr/>
        </p:nvSpPr>
        <p:spPr>
          <a:xfrm>
            <a:off x="9144000" y="2781300"/>
            <a:ext cx="2040636"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937"/>
              </a:buClr>
              <a:buSzPts val="1600"/>
              <a:buFont typeface="Carlito"/>
              <a:buNone/>
            </a:pPr>
            <a:r>
              <a:rPr b="1" i="0" lang="en-US" sz="1600" u="none" cap="none" strike="noStrike">
                <a:solidFill>
                  <a:srgbClr val="1F2937"/>
                </a:solidFill>
                <a:latin typeface="Carlito"/>
                <a:ea typeface="Carlito"/>
                <a:cs typeface="Carlito"/>
                <a:sym typeface="Carlito"/>
              </a:rPr>
              <a:t>Checked and saved</a:t>
            </a:r>
            <a:endParaRPr b="0" i="0" sz="1600" u="none" cap="none" strike="noStrike">
              <a:solidFill>
                <a:schemeClr val="dk1"/>
              </a:solidFill>
              <a:latin typeface="Carlito"/>
              <a:ea typeface="Carlito"/>
              <a:cs typeface="Carlito"/>
              <a:sym typeface="Carlito"/>
            </a:endParaRPr>
          </a:p>
        </p:txBody>
      </p:sp>
      <p:sp>
        <p:nvSpPr>
          <p:cNvPr id="62" name="Google Shape;62;p2"/>
          <p:cNvSpPr/>
          <p:nvPr/>
        </p:nvSpPr>
        <p:spPr>
          <a:xfrm>
            <a:off x="9144000" y="3152140"/>
            <a:ext cx="2040636" cy="7188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300"/>
              <a:buFont typeface="Carlito"/>
              <a:buNone/>
            </a:pPr>
            <a:r>
              <a:rPr b="0" i="0" lang="en-US" sz="1300" u="none" cap="none" strike="noStrike">
                <a:solidFill>
                  <a:srgbClr val="5B6475"/>
                </a:solidFill>
                <a:latin typeface="Carlito"/>
                <a:ea typeface="Carlito"/>
                <a:cs typeface="Carlito"/>
                <a:sym typeface="Carlito"/>
              </a:rPr>
              <a:t>Leakage checks pass; tree and neural-net tables are saved for modeling.</a:t>
            </a:r>
            <a:endParaRPr b="0" i="0" sz="1300" u="none" cap="none" strike="noStrike">
              <a:solidFill>
                <a:schemeClr val="dk1"/>
              </a:solidFill>
              <a:latin typeface="Carlito"/>
              <a:ea typeface="Carlito"/>
              <a:cs typeface="Carlito"/>
              <a:sym typeface="Carlito"/>
            </a:endParaRPr>
          </a:p>
        </p:txBody>
      </p:sp>
      <p:sp>
        <p:nvSpPr>
          <p:cNvPr id="63" name="Google Shape;63;p2"/>
          <p:cNvSpPr/>
          <p:nvPr/>
        </p:nvSpPr>
        <p:spPr>
          <a:xfrm>
            <a:off x="812800" y="4635500"/>
            <a:ext cx="10883392"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400"/>
              <a:buFont typeface="Carlito"/>
              <a:buNone/>
            </a:pPr>
            <a:r>
              <a:rPr b="0" i="1" lang="en-US" sz="1400" u="none" cap="none" strike="noStrike">
                <a:solidFill>
                  <a:srgbClr val="5B6475"/>
                </a:solidFill>
                <a:latin typeface="Carlito"/>
                <a:ea typeface="Carlito"/>
                <a:cs typeface="Carlito"/>
                <a:sym typeface="Carlito"/>
              </a:rPr>
              <a:t>Result: the immediate blocker before model training is cleared.</a:t>
            </a:r>
            <a:endParaRPr b="0" i="0" sz="1400" u="none" cap="none" strike="noStrike">
              <a:solidFill>
                <a:schemeClr val="dk1"/>
              </a:solidFill>
              <a:latin typeface="Carlito"/>
              <a:ea typeface="Carlito"/>
              <a:cs typeface="Carlito"/>
              <a:sym typeface="Carlito"/>
            </a:endParaRPr>
          </a:p>
        </p:txBody>
      </p:sp>
      <p:sp>
        <p:nvSpPr>
          <p:cNvPr id="64" name="Google Shape;64;p2"/>
          <p:cNvSpPr/>
          <p:nvPr/>
        </p:nvSpPr>
        <p:spPr>
          <a:xfrm>
            <a:off x="812800" y="6238241"/>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65" name="Google Shape;65;p2"/>
          <p:cNvSpPr/>
          <p:nvPr/>
        </p:nvSpPr>
        <p:spPr>
          <a:xfrm>
            <a:off x="10566400" y="6238241"/>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2</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3"/>
          <p:cNvSpPr txBox="1"/>
          <p:nvPr>
            <p:ph type="title"/>
          </p:nvPr>
        </p:nvSpPr>
        <p:spPr>
          <a:xfrm>
            <a:off x="812800" y="711200"/>
            <a:ext cx="11379200" cy="46355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We split by time and kept a labeled holdout for the final score</a:t>
            </a:r>
            <a:endParaRPr sz="3000"/>
          </a:p>
        </p:txBody>
      </p:sp>
      <p:cxnSp>
        <p:nvCxnSpPr>
          <p:cNvPr id="72" name="Google Shape;72;p3"/>
          <p:cNvCxnSpPr/>
          <p:nvPr/>
        </p:nvCxnSpPr>
        <p:spPr>
          <a:xfrm>
            <a:off x="7921625" y="1454150"/>
            <a:ext cx="0" cy="2209800"/>
          </a:xfrm>
          <a:prstGeom prst="straightConnector1">
            <a:avLst/>
          </a:prstGeom>
          <a:noFill/>
          <a:ln cap="flat" cmpd="sng" w="9525">
            <a:solidFill>
              <a:srgbClr val="D8DEE8"/>
            </a:solidFill>
            <a:prstDash val="solid"/>
            <a:round/>
            <a:headEnd len="sm" w="sm" type="none"/>
            <a:tailEnd len="sm" w="sm" type="none"/>
          </a:ln>
        </p:spPr>
      </p:cxnSp>
      <p:cxnSp>
        <p:nvCxnSpPr>
          <p:cNvPr id="73" name="Google Shape;73;p3"/>
          <p:cNvCxnSpPr/>
          <p:nvPr/>
        </p:nvCxnSpPr>
        <p:spPr>
          <a:xfrm>
            <a:off x="812800" y="3660775"/>
            <a:ext cx="7112000" cy="0"/>
          </a:xfrm>
          <a:prstGeom prst="straightConnector1">
            <a:avLst/>
          </a:prstGeom>
          <a:noFill/>
          <a:ln cap="flat" cmpd="sng" w="9525">
            <a:solidFill>
              <a:srgbClr val="D8DEE8"/>
            </a:solidFill>
            <a:prstDash val="solid"/>
            <a:round/>
            <a:headEnd len="sm" w="sm" type="none"/>
            <a:tailEnd len="sm" w="sm" type="none"/>
          </a:ln>
        </p:spPr>
      </p:cxnSp>
      <p:graphicFrame>
        <p:nvGraphicFramePr>
          <p:cNvPr id="74" name="Google Shape;74;p3"/>
          <p:cNvGraphicFramePr/>
          <p:nvPr/>
        </p:nvGraphicFramePr>
        <p:xfrm>
          <a:off x="822960" y="1464310"/>
          <a:ext cx="3000000" cy="3000000"/>
        </p:xfrm>
        <a:graphic>
          <a:graphicData uri="http://schemas.openxmlformats.org/drawingml/2006/table">
            <a:tbl>
              <a:tblPr>
                <a:noFill/>
                <a:tableStyleId>{B1428F95-D982-4F4E-99CC-6B386F8E9489}</a:tableStyleId>
              </a:tblPr>
              <a:tblGrid>
                <a:gridCol w="1135475"/>
                <a:gridCol w="922575"/>
                <a:gridCol w="1064525"/>
                <a:gridCol w="851600"/>
                <a:gridCol w="922575"/>
                <a:gridCol w="993550"/>
                <a:gridCol w="1206450"/>
              </a:tblGrid>
              <a:tr h="543550">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Period</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Rows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Days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Share of 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Used for</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Train</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472,432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 to 141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≈16,598</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3.51%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80.3%</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Learning rules</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Validation</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59,054</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141 to 161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1,851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3.13%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9.0%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Comparing</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Holdout</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59,054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161 to 182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≈2,214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3.75%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10.7%</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Final score</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All labeled</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590,540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 to 182</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20,663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3.50%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chemeClr val="dk1"/>
                        </a:buClr>
                        <a:buSzPts val="1200"/>
                        <a:buFont typeface="Carlito"/>
                        <a:buNone/>
                      </a:pPr>
                      <a:r>
                        <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Kaggle test</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506,691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213 to 395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no labels</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no labels</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no labels</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Submission only</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75" name="Google Shape;75;p3"/>
          <p:cNvSpPr/>
          <p:nvPr/>
        </p:nvSpPr>
        <p:spPr>
          <a:xfrm>
            <a:off x="812800" y="3790950"/>
            <a:ext cx="7325360" cy="4165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100"/>
              <a:buFont typeface="Carlito"/>
              <a:buNone/>
            </a:pPr>
            <a:r>
              <a:rPr b="0" i="0" lang="en-US" sz="1100" u="none" cap="none" strike="noStrike">
                <a:solidFill>
                  <a:srgbClr val="5B6475"/>
                </a:solidFill>
                <a:latin typeface="Carlito"/>
                <a:ea typeface="Carlito"/>
                <a:cs typeface="Carlito"/>
                <a:sym typeface="Carlito"/>
              </a:rPr>
              <a:t>≈: from the printed rates; validation’s count is exact. Boundaries fall between timestamps, so payments made in the same second never land in two periods.</a:t>
            </a:r>
            <a:endParaRPr b="0" i="0" sz="1100" u="none" cap="none" strike="noStrike">
              <a:solidFill>
                <a:schemeClr val="dk1"/>
              </a:solidFill>
              <a:latin typeface="Carlito"/>
              <a:ea typeface="Carlito"/>
              <a:cs typeface="Carlito"/>
              <a:sym typeface="Carlito"/>
            </a:endParaRPr>
          </a:p>
        </p:txBody>
      </p:sp>
      <p:sp>
        <p:nvSpPr>
          <p:cNvPr id="76" name="Google Shape;76;p3"/>
          <p:cNvSpPr/>
          <p:nvPr/>
        </p:nvSpPr>
        <p:spPr>
          <a:xfrm>
            <a:off x="8229600" y="1454150"/>
            <a:ext cx="3149600" cy="2877820"/>
          </a:xfrm>
          <a:prstGeom prst="roundRect">
            <a:avLst>
              <a:gd fmla="val 3530"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8483600" y="1708150"/>
            <a:ext cx="2720848"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300"/>
              <a:buFont typeface="Carlito"/>
              <a:buNone/>
            </a:pPr>
            <a:r>
              <a:rPr b="1" i="0" lang="en-US" sz="1300" u="none" cap="none" strike="noStrike">
                <a:solidFill>
                  <a:srgbClr val="FFFFFF"/>
                </a:solidFill>
                <a:latin typeface="Carlito"/>
                <a:ea typeface="Carlito"/>
                <a:cs typeface="Carlito"/>
                <a:sym typeface="Carlito"/>
              </a:rPr>
              <a:t>Fraud rate</a:t>
            </a:r>
            <a:endParaRPr b="0" i="0" sz="1300" u="none" cap="none" strike="noStrike">
              <a:solidFill>
                <a:schemeClr val="dk1"/>
              </a:solidFill>
              <a:latin typeface="Carlito"/>
              <a:ea typeface="Carlito"/>
              <a:cs typeface="Carlito"/>
              <a:sym typeface="Carlito"/>
            </a:endParaRPr>
          </a:p>
        </p:txBody>
      </p:sp>
      <p:sp>
        <p:nvSpPr>
          <p:cNvPr id="78" name="Google Shape;78;p3"/>
          <p:cNvSpPr/>
          <p:nvPr/>
        </p:nvSpPr>
        <p:spPr>
          <a:xfrm>
            <a:off x="8483600" y="1977391"/>
            <a:ext cx="2720848"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400"/>
              <a:buFont typeface="Caladea"/>
              <a:buNone/>
            </a:pPr>
            <a:r>
              <a:rPr b="0" i="0" lang="en-US" sz="1400" u="none" cap="none" strike="noStrike">
                <a:solidFill>
                  <a:srgbClr val="FF8A8A"/>
                </a:solidFill>
                <a:latin typeface="Caladea"/>
                <a:ea typeface="Caladea"/>
                <a:cs typeface="Caladea"/>
                <a:sym typeface="Caladea"/>
              </a:rPr>
              <a:t>fraud ÷ rows</a:t>
            </a:r>
            <a:endParaRPr b="0" i="0" sz="1400" u="none" cap="none" strike="noStrike">
              <a:solidFill>
                <a:schemeClr val="dk1"/>
              </a:solidFill>
              <a:latin typeface="Carlito"/>
              <a:ea typeface="Carlito"/>
              <a:cs typeface="Carlito"/>
              <a:sym typeface="Carlito"/>
            </a:endParaRPr>
          </a:p>
        </p:txBody>
      </p:sp>
      <p:sp>
        <p:nvSpPr>
          <p:cNvPr id="79" name="Google Shape;79;p3"/>
          <p:cNvSpPr/>
          <p:nvPr/>
        </p:nvSpPr>
        <p:spPr>
          <a:xfrm>
            <a:off x="8483600" y="2264411"/>
            <a:ext cx="2720848"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Validation: 1,851 ÷ 59,054 = 3.13%</a:t>
            </a:r>
            <a:endParaRPr b="0" i="0" sz="1100" u="none" cap="none" strike="noStrike">
              <a:solidFill>
                <a:schemeClr val="dk1"/>
              </a:solidFill>
              <a:latin typeface="Carlito"/>
              <a:ea typeface="Carlito"/>
              <a:cs typeface="Carlito"/>
              <a:sym typeface="Carlito"/>
            </a:endParaRPr>
          </a:p>
        </p:txBody>
      </p:sp>
      <p:sp>
        <p:nvSpPr>
          <p:cNvPr id="80" name="Google Shape;80;p3"/>
          <p:cNvSpPr/>
          <p:nvPr/>
        </p:nvSpPr>
        <p:spPr>
          <a:xfrm>
            <a:off x="8483600" y="2599691"/>
            <a:ext cx="2720848"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300"/>
              <a:buFont typeface="Carlito"/>
              <a:buNone/>
            </a:pPr>
            <a:r>
              <a:rPr b="1" i="0" lang="en-US" sz="1300" u="none" cap="none" strike="noStrike">
                <a:solidFill>
                  <a:srgbClr val="FFFFFF"/>
                </a:solidFill>
                <a:latin typeface="Carlito"/>
                <a:ea typeface="Carlito"/>
                <a:cs typeface="Carlito"/>
                <a:sym typeface="Carlito"/>
              </a:rPr>
              <a:t>Share of fraud</a:t>
            </a:r>
            <a:endParaRPr b="0" i="0" sz="1300" u="none" cap="none" strike="noStrike">
              <a:solidFill>
                <a:schemeClr val="dk1"/>
              </a:solidFill>
              <a:latin typeface="Carlito"/>
              <a:ea typeface="Carlito"/>
              <a:cs typeface="Carlito"/>
              <a:sym typeface="Carlito"/>
            </a:endParaRPr>
          </a:p>
        </p:txBody>
      </p:sp>
      <p:sp>
        <p:nvSpPr>
          <p:cNvPr id="81" name="Google Shape;81;p3"/>
          <p:cNvSpPr/>
          <p:nvPr/>
        </p:nvSpPr>
        <p:spPr>
          <a:xfrm>
            <a:off x="8483600" y="2868930"/>
            <a:ext cx="2720848"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400"/>
              <a:buFont typeface="Caladea"/>
              <a:buNone/>
            </a:pPr>
            <a:r>
              <a:rPr b="0" i="0" lang="en-US" sz="1400" u="none" cap="none" strike="noStrike">
                <a:solidFill>
                  <a:srgbClr val="FF8A8A"/>
                </a:solidFill>
                <a:latin typeface="Caladea"/>
                <a:ea typeface="Caladea"/>
                <a:cs typeface="Caladea"/>
                <a:sym typeface="Caladea"/>
              </a:rPr>
              <a:t>period fraud ÷ all labeled fraud</a:t>
            </a:r>
            <a:endParaRPr b="0" i="0" sz="1400" u="none" cap="none" strike="noStrike">
              <a:solidFill>
                <a:schemeClr val="dk1"/>
              </a:solidFill>
              <a:latin typeface="Carlito"/>
              <a:ea typeface="Carlito"/>
              <a:cs typeface="Carlito"/>
              <a:sym typeface="Carlito"/>
            </a:endParaRPr>
          </a:p>
        </p:txBody>
      </p:sp>
      <p:sp>
        <p:nvSpPr>
          <p:cNvPr id="82" name="Google Shape;82;p3"/>
          <p:cNvSpPr/>
          <p:nvPr/>
        </p:nvSpPr>
        <p:spPr>
          <a:xfrm>
            <a:off x="8483600" y="3155950"/>
            <a:ext cx="2720848"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Validation: 1,851 ÷ 20,663 = 9.0%</a:t>
            </a:r>
            <a:endParaRPr b="0" i="0" sz="1100" u="none" cap="none" strike="noStrike">
              <a:solidFill>
                <a:schemeClr val="dk1"/>
              </a:solidFill>
              <a:latin typeface="Carlito"/>
              <a:ea typeface="Carlito"/>
              <a:cs typeface="Carlito"/>
              <a:sym typeface="Carlito"/>
            </a:endParaRPr>
          </a:p>
        </p:txBody>
      </p:sp>
      <p:sp>
        <p:nvSpPr>
          <p:cNvPr id="83" name="Google Shape;83;p3"/>
          <p:cNvSpPr/>
          <p:nvPr/>
        </p:nvSpPr>
        <p:spPr>
          <a:xfrm>
            <a:off x="8483600" y="3491230"/>
            <a:ext cx="2720848" cy="6121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100"/>
              <a:buFont typeface="Carlito"/>
              <a:buNone/>
            </a:pPr>
            <a:r>
              <a:rPr b="0" i="0" lang="en-US" sz="1100" u="none" cap="none" strike="noStrike">
                <a:solidFill>
                  <a:srgbClr val="FFFFFF"/>
                </a:solidFill>
                <a:latin typeface="Carlito"/>
                <a:ea typeface="Carlito"/>
                <a:cs typeface="Carlito"/>
                <a:sym typeface="Carlito"/>
              </a:rPr>
              <a:t>Kaggle test has no labels, so it can’t give detection rate or TFPR; the holdout is the labeled out-of-time set the advisor asked for.</a:t>
            </a:r>
            <a:endParaRPr b="0" i="0" sz="1100" u="none" cap="none" strike="noStrike">
              <a:solidFill>
                <a:schemeClr val="dk1"/>
              </a:solidFill>
              <a:latin typeface="Carlito"/>
              <a:ea typeface="Carlito"/>
              <a:cs typeface="Carlito"/>
              <a:sym typeface="Carlito"/>
            </a:endParaRPr>
          </a:p>
        </p:txBody>
      </p:sp>
      <p:sp>
        <p:nvSpPr>
          <p:cNvPr id="84" name="Google Shape;84;p3"/>
          <p:cNvSpPr/>
          <p:nvPr/>
        </p:nvSpPr>
        <p:spPr>
          <a:xfrm>
            <a:off x="812800" y="6238241"/>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85" name="Google Shape;85;p3"/>
          <p:cNvSpPr/>
          <p:nvPr/>
        </p:nvSpPr>
        <p:spPr>
          <a:xfrm>
            <a:off x="10566400" y="6238241"/>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3</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4"/>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Every piece of the advisor’s guidance has a home in the notebook</a:t>
            </a:r>
            <a:endParaRPr sz="3000"/>
          </a:p>
        </p:txBody>
      </p:sp>
      <p:cxnSp>
        <p:nvCxnSpPr>
          <p:cNvPr id="92" name="Google Shape;92;p4"/>
          <p:cNvCxnSpPr/>
          <p:nvPr/>
        </p:nvCxnSpPr>
        <p:spPr>
          <a:xfrm>
            <a:off x="11376025" y="1892300"/>
            <a:ext cx="0" cy="2513330"/>
          </a:xfrm>
          <a:prstGeom prst="straightConnector1">
            <a:avLst/>
          </a:prstGeom>
          <a:noFill/>
          <a:ln cap="flat" cmpd="sng" w="9525">
            <a:solidFill>
              <a:srgbClr val="D8DEE8"/>
            </a:solidFill>
            <a:prstDash val="solid"/>
            <a:round/>
            <a:headEnd len="sm" w="sm" type="none"/>
            <a:tailEnd len="sm" w="sm" type="none"/>
          </a:ln>
        </p:spPr>
      </p:cxnSp>
      <p:cxnSp>
        <p:nvCxnSpPr>
          <p:cNvPr id="93" name="Google Shape;93;p4"/>
          <p:cNvCxnSpPr/>
          <p:nvPr/>
        </p:nvCxnSpPr>
        <p:spPr>
          <a:xfrm>
            <a:off x="812800" y="4402455"/>
            <a:ext cx="10566400" cy="0"/>
          </a:xfrm>
          <a:prstGeom prst="straightConnector1">
            <a:avLst/>
          </a:prstGeom>
          <a:noFill/>
          <a:ln cap="flat" cmpd="sng" w="9525">
            <a:solidFill>
              <a:srgbClr val="D8DEE8"/>
            </a:solidFill>
            <a:prstDash val="solid"/>
            <a:round/>
            <a:headEnd len="sm" w="sm" type="none"/>
            <a:tailEnd len="sm" w="sm" type="none"/>
          </a:ln>
        </p:spPr>
      </p:cxnSp>
      <p:graphicFrame>
        <p:nvGraphicFramePr>
          <p:cNvPr id="94" name="Google Shape;94;p4"/>
          <p:cNvGraphicFramePr/>
          <p:nvPr/>
        </p:nvGraphicFramePr>
        <p:xfrm>
          <a:off x="822960" y="1902460"/>
          <a:ext cx="3000000" cy="3000000"/>
        </p:xfrm>
        <a:graphic>
          <a:graphicData uri="http://schemas.openxmlformats.org/drawingml/2006/table">
            <a:tbl>
              <a:tblPr>
                <a:noFill/>
                <a:tableStyleId>{B1428F95-D982-4F4E-99CC-6B386F8E9489}</a:tableStyleId>
              </a:tblPr>
              <a:tblGrid>
                <a:gridCol w="4748025"/>
                <a:gridCol w="5803150"/>
              </a:tblGrid>
              <a:tr h="356875">
                <a:tc>
                  <a:txBody>
                    <a:bodyPr/>
                    <a:lstStyle/>
                    <a:p>
                      <a:pPr indent="0" lvl="0" marL="0" marR="0" rtl="0" algn="l">
                        <a:lnSpc>
                          <a:spcPct val="140000"/>
                        </a:lnSpc>
                        <a:spcBef>
                          <a:spcPts val="0"/>
                        </a:spcBef>
                        <a:spcAft>
                          <a:spcPts val="0"/>
                        </a:spcAft>
                        <a:buClr>
                          <a:srgbClr val="FFFFFF"/>
                        </a:buClr>
                        <a:buSzPts val="1300"/>
                        <a:buFont typeface="Carlito"/>
                        <a:buNone/>
                      </a:pPr>
                      <a:r>
                        <a:rPr b="1" lang="en-US" sz="1300" u="none" cap="none" strike="noStrike">
                          <a:solidFill>
                            <a:srgbClr val="FFFFFF"/>
                          </a:solidFill>
                          <a:latin typeface="Carlito"/>
                          <a:ea typeface="Carlito"/>
                          <a:cs typeface="Carlito"/>
                          <a:sym typeface="Carlito"/>
                        </a:rPr>
                        <a:t>Debasmita’s guidance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300"/>
                        <a:buFont typeface="Carlito"/>
                        <a:buNone/>
                      </a:pPr>
                      <a:r>
                        <a:rPr b="1" lang="en-US" sz="1300" u="none" cap="none" strike="noStrike">
                          <a:solidFill>
                            <a:srgbClr val="FFFFFF"/>
                          </a:solidFill>
                          <a:latin typeface="Carlito"/>
                          <a:ea typeface="Carlito"/>
                          <a:cs typeface="Carlito"/>
                          <a:sym typeface="Carlito"/>
                        </a:rPr>
                        <a:t>How we handled it</a:t>
                      </a:r>
                      <a:endParaRPr sz="1300" u="none" cap="none" strike="noStrike">
                        <a:latin typeface="Carlito"/>
                        <a:ea typeface="Carlito"/>
                        <a:cs typeface="Carlito"/>
                        <a:sym typeface="Carlito"/>
                      </a:endParaRPr>
                    </a:p>
                  </a:txBody>
                  <a:tcPr marT="57775" marB="57775" marR="57775" marL="57775">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Avoid one-hot for columns with many categories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Frequency encoding for the 14 many-category columns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Mean encoding works only if fraud rates stay stable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Jennifer’s out-of-time target encoding for stable columns</a:t>
                      </a:r>
                      <a:r>
                        <a:rPr lang="en-US" sz="1300">
                          <a:solidFill>
                            <a:srgbClr val="1F2937"/>
                          </a:solidFill>
                          <a:latin typeface="Carlito"/>
                          <a:ea typeface="Carlito"/>
                          <a:cs typeface="Carlito"/>
                          <a:sym typeface="Carlito"/>
                        </a:rPr>
                        <a:t> </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Trees need derived features; neural nets need normalization</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Two outputs: a tree table and a normalized neural-net table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Start with all features, reduce within 1 to 2%</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Named feature sets, including a reduced-V set</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Judge models by detection rate and TFPR in a KS table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Reusable KS table, demoed on one feature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Keep a config per run</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Config saved next to every output</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bl>
          </a:graphicData>
        </a:graphic>
      </p:graphicFrame>
      <p:sp>
        <p:nvSpPr>
          <p:cNvPr id="95" name="Google Shape;95;p4"/>
          <p:cNvSpPr/>
          <p:nvPr/>
        </p:nvSpPr>
        <p:spPr>
          <a:xfrm>
            <a:off x="812800" y="6238239"/>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96" name="Google Shape;96;p4"/>
          <p:cNvSpPr/>
          <p:nvPr/>
        </p:nvSpPr>
        <p:spPr>
          <a:xfrm>
            <a:off x="10566400" y="6238239"/>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4</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5"/>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lang="en-US"/>
              <a:t>Some columns were frequency-encoded</a:t>
            </a:r>
            <a:endParaRPr sz="3000"/>
          </a:p>
        </p:txBody>
      </p:sp>
      <p:sp>
        <p:nvSpPr>
          <p:cNvPr id="103" name="Google Shape;103;p5"/>
          <p:cNvSpPr/>
          <p:nvPr/>
        </p:nvSpPr>
        <p:spPr>
          <a:xfrm>
            <a:off x="812800" y="3207532"/>
            <a:ext cx="6756300" cy="1239600"/>
          </a:xfrm>
          <a:prstGeom prst="roundRect">
            <a:avLst>
              <a:gd fmla="val 8197"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1041400" y="3436132"/>
            <a:ext cx="6488100" cy="269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937"/>
              </a:buClr>
              <a:buSzPts val="1600"/>
              <a:buFont typeface="Carlito"/>
              <a:buNone/>
            </a:pPr>
            <a:r>
              <a:rPr b="1" lang="en-US" sz="1600">
                <a:solidFill>
                  <a:srgbClr val="1F2937"/>
                </a:solidFill>
                <a:latin typeface="Carlito"/>
                <a:ea typeface="Carlito"/>
                <a:cs typeface="Carlito"/>
                <a:sym typeface="Carlito"/>
              </a:rPr>
              <a:t>More Than 10 Distinct Values</a:t>
            </a:r>
            <a:r>
              <a:rPr b="1" i="0" lang="en-US" sz="1600" u="none" cap="none" strike="noStrike">
                <a:solidFill>
                  <a:srgbClr val="1F2937"/>
                </a:solidFill>
                <a:latin typeface="Carlito"/>
                <a:ea typeface="Carlito"/>
                <a:cs typeface="Carlito"/>
                <a:sym typeface="Carlito"/>
              </a:rPr>
              <a:t> → </a:t>
            </a:r>
            <a:r>
              <a:rPr b="1" lang="en-US" sz="1600">
                <a:solidFill>
                  <a:srgbClr val="1F2937"/>
                </a:solidFill>
                <a:latin typeface="Carlito"/>
                <a:ea typeface="Carlito"/>
                <a:cs typeface="Carlito"/>
                <a:sym typeface="Carlito"/>
              </a:rPr>
              <a:t>F</a:t>
            </a:r>
            <a:r>
              <a:rPr b="1" i="0" lang="en-US" sz="1600" u="none" cap="none" strike="noStrike">
                <a:solidFill>
                  <a:srgbClr val="1F2937"/>
                </a:solidFill>
                <a:latin typeface="Carlito"/>
                <a:ea typeface="Carlito"/>
                <a:cs typeface="Carlito"/>
                <a:sym typeface="Carlito"/>
              </a:rPr>
              <a:t>requency </a:t>
            </a:r>
            <a:r>
              <a:rPr b="1" lang="en-US" sz="1600">
                <a:solidFill>
                  <a:srgbClr val="1F2937"/>
                </a:solidFill>
                <a:latin typeface="Carlito"/>
                <a:ea typeface="Carlito"/>
                <a:cs typeface="Carlito"/>
                <a:sym typeface="Carlito"/>
              </a:rPr>
              <a:t>E</a:t>
            </a:r>
            <a:r>
              <a:rPr b="1" i="0" lang="en-US" sz="1600" u="none" cap="none" strike="noStrike">
                <a:solidFill>
                  <a:srgbClr val="1F2937"/>
                </a:solidFill>
                <a:latin typeface="Carlito"/>
                <a:ea typeface="Carlito"/>
                <a:cs typeface="Carlito"/>
                <a:sym typeface="Carlito"/>
              </a:rPr>
              <a:t>ncoding</a:t>
            </a:r>
            <a:endParaRPr b="0" i="0" sz="1600" u="none" cap="none" strike="noStrike">
              <a:solidFill>
                <a:schemeClr val="dk1"/>
              </a:solidFill>
              <a:latin typeface="Carlito"/>
              <a:ea typeface="Carlito"/>
              <a:cs typeface="Carlito"/>
              <a:sym typeface="Carlito"/>
            </a:endParaRPr>
          </a:p>
        </p:txBody>
      </p:sp>
      <p:sp>
        <p:nvSpPr>
          <p:cNvPr id="105" name="Google Shape;105;p5"/>
          <p:cNvSpPr/>
          <p:nvPr/>
        </p:nvSpPr>
        <p:spPr>
          <a:xfrm>
            <a:off x="1041400" y="3756171"/>
            <a:ext cx="64881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300"/>
              <a:buFont typeface="Carlito"/>
              <a:buNone/>
            </a:pPr>
            <a:r>
              <a:rPr lang="en-US" sz="1300">
                <a:solidFill>
                  <a:srgbClr val="5B6475"/>
                </a:solidFill>
                <a:latin typeface="Carlito"/>
                <a:ea typeface="Carlito"/>
                <a:cs typeface="Carlito"/>
                <a:sym typeface="Carlito"/>
              </a:rPr>
              <a:t>Each values becomes its share of training transactions: </a:t>
            </a:r>
            <a:r>
              <a:rPr lang="en-US" sz="1300" u="sng">
                <a:solidFill>
                  <a:schemeClr val="hlink"/>
                </a:solidFill>
                <a:latin typeface="Carlito"/>
                <a:ea typeface="Carlito"/>
                <a:cs typeface="Carlito"/>
                <a:sym typeface="Carlito"/>
                <a:hlinkClick r:id="rId3"/>
              </a:rPr>
              <a:t>gmail.com</a:t>
            </a:r>
            <a:r>
              <a:rPr lang="en-US" sz="1300">
                <a:solidFill>
                  <a:srgbClr val="5B6475"/>
                </a:solidFill>
                <a:latin typeface="Carlito"/>
                <a:ea typeface="Carlito"/>
                <a:cs typeface="Carlito"/>
                <a:sym typeface="Carlito"/>
              </a:rPr>
              <a:t> = 0.38. Never-seen values get 0. Uses no fraud labels.</a:t>
            </a:r>
            <a:endParaRPr b="0" i="0" sz="1300" u="none" cap="none" strike="noStrike">
              <a:solidFill>
                <a:schemeClr val="dk1"/>
              </a:solidFill>
              <a:latin typeface="Carlito"/>
              <a:ea typeface="Carlito"/>
              <a:cs typeface="Carlito"/>
              <a:sym typeface="Carlito"/>
            </a:endParaRPr>
          </a:p>
        </p:txBody>
      </p:sp>
      <p:sp>
        <p:nvSpPr>
          <p:cNvPr id="106" name="Google Shape;106;p5"/>
          <p:cNvSpPr/>
          <p:nvPr/>
        </p:nvSpPr>
        <p:spPr>
          <a:xfrm>
            <a:off x="812800" y="4599450"/>
            <a:ext cx="6959100" cy="487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300"/>
              <a:buFont typeface="Carlito"/>
              <a:buNone/>
            </a:pPr>
            <a:r>
              <a:rPr b="1" lang="en-US" sz="1300">
                <a:solidFill>
                  <a:schemeClr val="dk1"/>
                </a:solidFill>
                <a:latin typeface="Carlito"/>
                <a:ea typeface="Carlito"/>
                <a:cs typeface="Carlito"/>
                <a:sym typeface="Carlito"/>
              </a:rPr>
              <a:t>Mean encoding: </a:t>
            </a:r>
            <a:r>
              <a:rPr lang="en-US" sz="1300">
                <a:solidFill>
                  <a:schemeClr val="dk1"/>
                </a:solidFill>
                <a:latin typeface="Carlito"/>
                <a:ea typeface="Carlito"/>
                <a:cs typeface="Carlito"/>
                <a:sym typeface="Carlito"/>
              </a:rPr>
              <a:t>added for stable columns by Jennifer (slide 9). addr1 is left out: Sal’s stability check found its fraud ranking reshuffled over time (0.38).</a:t>
            </a:r>
            <a:endParaRPr b="0" i="0" sz="1300" u="none" cap="none" strike="noStrike">
              <a:solidFill>
                <a:schemeClr val="dk1"/>
              </a:solidFill>
              <a:latin typeface="Carlito"/>
              <a:ea typeface="Carlito"/>
              <a:cs typeface="Carlito"/>
              <a:sym typeface="Carlito"/>
            </a:endParaRPr>
          </a:p>
        </p:txBody>
      </p:sp>
      <p:sp>
        <p:nvSpPr>
          <p:cNvPr id="107" name="Google Shape;107;p5"/>
          <p:cNvSpPr/>
          <p:nvPr/>
        </p:nvSpPr>
        <p:spPr>
          <a:xfrm>
            <a:off x="7823200" y="1892300"/>
            <a:ext cx="3556000" cy="3014980"/>
          </a:xfrm>
          <a:prstGeom prst="roundRect">
            <a:avLst>
              <a:gd fmla="val 3370"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8128000" y="2477771"/>
            <a:ext cx="3034792" cy="52832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F8A8A"/>
              </a:buClr>
              <a:buSzPts val="3600"/>
              <a:buFont typeface="Caladea"/>
              <a:buNone/>
            </a:pPr>
            <a:r>
              <a:rPr b="1" lang="en-US" sz="3600">
                <a:solidFill>
                  <a:srgbClr val="FF8A8A"/>
                </a:solidFill>
                <a:latin typeface="Caladea"/>
                <a:ea typeface="Caladea"/>
                <a:cs typeface="Caladea"/>
                <a:sym typeface="Caladea"/>
              </a:rPr>
              <a:t>14 Columns</a:t>
            </a:r>
            <a:endParaRPr b="0" i="0" sz="3600" u="none" cap="none" strike="noStrike">
              <a:solidFill>
                <a:schemeClr val="dk1"/>
              </a:solidFill>
              <a:latin typeface="Carlito"/>
              <a:ea typeface="Carlito"/>
              <a:cs typeface="Carlito"/>
              <a:sym typeface="Carlito"/>
            </a:endParaRPr>
          </a:p>
        </p:txBody>
      </p:sp>
      <p:sp>
        <p:nvSpPr>
          <p:cNvPr id="109" name="Google Shape;109;p5"/>
          <p:cNvSpPr/>
          <p:nvPr/>
        </p:nvSpPr>
        <p:spPr>
          <a:xfrm>
            <a:off x="8128000" y="3082289"/>
            <a:ext cx="3034792" cy="5232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400"/>
              <a:buFont typeface="Carlito"/>
              <a:buNone/>
            </a:pPr>
            <a:r>
              <a:rPr b="0" i="0" lang="en-US" sz="1400" u="none" cap="none" strike="noStrike">
                <a:solidFill>
                  <a:srgbClr val="FFFFFF"/>
                </a:solidFill>
                <a:latin typeface="Carlito"/>
                <a:ea typeface="Carlito"/>
                <a:cs typeface="Carlito"/>
                <a:sym typeface="Carlito"/>
              </a:rPr>
              <a:t>new columns for the 1</a:t>
            </a:r>
            <a:r>
              <a:rPr lang="en-US">
                <a:solidFill>
                  <a:srgbClr val="FFFFFF"/>
                </a:solidFill>
                <a:latin typeface="Carlito"/>
                <a:ea typeface="Carlito"/>
                <a:cs typeface="Carlito"/>
                <a:sym typeface="Carlito"/>
              </a:rPr>
              <a:t>4</a:t>
            </a:r>
            <a:r>
              <a:rPr b="0" i="0" lang="en-US" sz="1400" u="none" cap="none" strike="noStrike">
                <a:solidFill>
                  <a:srgbClr val="FFFFFF"/>
                </a:solidFill>
                <a:latin typeface="Carlito"/>
                <a:ea typeface="Carlito"/>
                <a:cs typeface="Carlito"/>
                <a:sym typeface="Carlito"/>
              </a:rPr>
              <a:t> many-category columns: one-hot vs frequency encoding</a:t>
            </a:r>
            <a:endParaRPr b="0" i="0" sz="1400" u="none" cap="none" strike="noStrike">
              <a:solidFill>
                <a:schemeClr val="dk1"/>
              </a:solidFill>
              <a:latin typeface="Carlito"/>
              <a:ea typeface="Carlito"/>
              <a:cs typeface="Carlito"/>
              <a:sym typeface="Carlito"/>
            </a:endParaRPr>
          </a:p>
        </p:txBody>
      </p:sp>
      <p:sp>
        <p:nvSpPr>
          <p:cNvPr id="110" name="Google Shape;110;p5"/>
          <p:cNvSpPr/>
          <p:nvPr/>
        </p:nvSpPr>
        <p:spPr>
          <a:xfrm>
            <a:off x="8128000" y="3681732"/>
            <a:ext cx="3034792" cy="6654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200"/>
              <a:buFont typeface="Carlito"/>
              <a:buNone/>
            </a:pPr>
            <a:r>
              <a:rPr b="0" i="0" lang="en-US" sz="1200" u="none" cap="none" strike="noStrike">
                <a:solidFill>
                  <a:srgbClr val="C9D1E0"/>
                </a:solidFill>
                <a:latin typeface="Carlito"/>
                <a:ea typeface="Carlito"/>
                <a:cs typeface="Carlito"/>
                <a:sym typeface="Carlito"/>
              </a:rPr>
              <a:t>Frequency also gives raw codes a meaningful order, from rare to common.</a:t>
            </a:r>
            <a:endParaRPr b="0" i="0" sz="1200" u="none" cap="none" strike="noStrike">
              <a:solidFill>
                <a:schemeClr val="dk1"/>
              </a:solidFill>
              <a:latin typeface="Carlito"/>
              <a:ea typeface="Carlito"/>
              <a:cs typeface="Carlito"/>
              <a:sym typeface="Carlito"/>
            </a:endParaRPr>
          </a:p>
        </p:txBody>
      </p:sp>
      <p:sp>
        <p:nvSpPr>
          <p:cNvPr id="111" name="Google Shape;111;p5"/>
          <p:cNvSpPr/>
          <p:nvPr/>
        </p:nvSpPr>
        <p:spPr>
          <a:xfrm>
            <a:off x="812800" y="6238239"/>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112" name="Google Shape;112;p5"/>
          <p:cNvSpPr/>
          <p:nvPr/>
        </p:nvSpPr>
        <p:spPr>
          <a:xfrm>
            <a:off x="10566400" y="6238239"/>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5</a:t>
            </a:r>
            <a:endParaRPr b="0" i="0" sz="1200" u="none" cap="none" strike="noStrike">
              <a:solidFill>
                <a:schemeClr val="dk1"/>
              </a:solidFill>
              <a:latin typeface="Carlito"/>
              <a:ea typeface="Carlito"/>
              <a:cs typeface="Carlito"/>
              <a:sym typeface="Carlito"/>
            </a:endParaRPr>
          </a:p>
        </p:txBody>
      </p:sp>
      <p:sp>
        <p:nvSpPr>
          <p:cNvPr id="113" name="Google Shape;113;p5"/>
          <p:cNvSpPr/>
          <p:nvPr/>
        </p:nvSpPr>
        <p:spPr>
          <a:xfrm>
            <a:off x="812800" y="1904720"/>
            <a:ext cx="6756300" cy="1239600"/>
          </a:xfrm>
          <a:prstGeom prst="roundRect">
            <a:avLst>
              <a:gd fmla="val 8197"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1041400" y="2133320"/>
            <a:ext cx="64881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937"/>
              </a:buClr>
              <a:buSzPts val="1600"/>
              <a:buFont typeface="Carlito"/>
              <a:buNone/>
            </a:pPr>
            <a:r>
              <a:rPr b="1" lang="en-US" sz="1600">
                <a:solidFill>
                  <a:srgbClr val="1F2937"/>
                </a:solidFill>
                <a:latin typeface="Carlito"/>
                <a:ea typeface="Carlito"/>
                <a:cs typeface="Carlito"/>
                <a:sym typeface="Carlito"/>
              </a:rPr>
              <a:t>10 or Less Distinct Values</a:t>
            </a:r>
            <a:r>
              <a:rPr b="1" i="0" lang="en-US" sz="1600" u="none" cap="none" strike="noStrike">
                <a:solidFill>
                  <a:srgbClr val="1F2937"/>
                </a:solidFill>
                <a:latin typeface="Carlito"/>
                <a:ea typeface="Carlito"/>
                <a:cs typeface="Carlito"/>
                <a:sym typeface="Carlito"/>
              </a:rPr>
              <a:t> → </a:t>
            </a:r>
            <a:r>
              <a:rPr b="1" lang="en-US" sz="1600">
                <a:solidFill>
                  <a:srgbClr val="1F2937"/>
                </a:solidFill>
                <a:latin typeface="Carlito"/>
                <a:ea typeface="Carlito"/>
                <a:cs typeface="Carlito"/>
                <a:sym typeface="Carlito"/>
              </a:rPr>
              <a:t>One-Hot Encoding</a:t>
            </a:r>
            <a:endParaRPr b="0" i="0" sz="1600" u="none" cap="none" strike="noStrike">
              <a:solidFill>
                <a:schemeClr val="dk1"/>
              </a:solidFill>
              <a:latin typeface="Carlito"/>
              <a:ea typeface="Carlito"/>
              <a:cs typeface="Carlito"/>
              <a:sym typeface="Carlito"/>
            </a:endParaRPr>
          </a:p>
        </p:txBody>
      </p:sp>
      <p:sp>
        <p:nvSpPr>
          <p:cNvPr id="115" name="Google Shape;115;p5"/>
          <p:cNvSpPr/>
          <p:nvPr/>
        </p:nvSpPr>
        <p:spPr>
          <a:xfrm>
            <a:off x="1041400" y="2453359"/>
            <a:ext cx="64881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475"/>
              </a:buClr>
              <a:buSzPts val="1300"/>
              <a:buFont typeface="Carlito"/>
              <a:buNone/>
            </a:pPr>
            <a:r>
              <a:rPr lang="en-US" sz="1300">
                <a:solidFill>
                  <a:srgbClr val="5B6475"/>
                </a:solidFill>
                <a:latin typeface="Carlito"/>
                <a:ea typeface="Carlito"/>
                <a:cs typeface="Carlito"/>
                <a:sym typeface="Carlito"/>
              </a:rPr>
              <a:t>Includes columns such as ProductCD, card4, card6, DeviceType, M4.</a:t>
            </a:r>
            <a:endParaRPr b="0" i="0" sz="1300" u="none" cap="none" strike="noStrike">
              <a:solidFill>
                <a:schemeClr val="dk1"/>
              </a:solidFill>
              <a:latin typeface="Carlito"/>
              <a:ea typeface="Carlito"/>
              <a:cs typeface="Carlito"/>
              <a:sym typeface="Carl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6"/>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Amounts are judged against their own product’s typical amount</a:t>
            </a:r>
            <a:endParaRPr sz="3000"/>
          </a:p>
        </p:txBody>
      </p:sp>
      <p:sp>
        <p:nvSpPr>
          <p:cNvPr id="122" name="Google Shape;122;p6"/>
          <p:cNvSpPr/>
          <p:nvPr/>
        </p:nvSpPr>
        <p:spPr>
          <a:xfrm>
            <a:off x="812800" y="1765300"/>
            <a:ext cx="10883392"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The same 150 payment is </a:t>
            </a:r>
            <a:r>
              <a:rPr b="1" i="0" lang="en-US" sz="1200" u="none" cap="none" strike="noStrike">
                <a:solidFill>
                  <a:srgbClr val="D7263D"/>
                </a:solidFill>
                <a:latin typeface="Carlito"/>
                <a:ea typeface="Carlito"/>
                <a:cs typeface="Carlito"/>
                <a:sym typeface="Carlito"/>
              </a:rPr>
              <a:t>3.0×</a:t>
            </a:r>
            <a:r>
              <a:rPr b="0" i="0" lang="en-US" sz="1200" u="none" cap="none" strike="noStrike">
                <a:solidFill>
                  <a:srgbClr val="1F2937"/>
                </a:solidFill>
                <a:latin typeface="Carlito"/>
                <a:ea typeface="Carlito"/>
                <a:cs typeface="Carlito"/>
                <a:sym typeface="Carlito"/>
              </a:rPr>
              <a:t> typical on product H (150 ÷ 50) but only </a:t>
            </a:r>
            <a:r>
              <a:rPr b="1" i="0" lang="en-US" sz="1200" u="none" cap="none" strike="noStrike">
                <a:solidFill>
                  <a:srgbClr val="1F2937"/>
                </a:solidFill>
                <a:latin typeface="Carlito"/>
                <a:ea typeface="Carlito"/>
                <a:cs typeface="Carlito"/>
                <a:sym typeface="Carlito"/>
              </a:rPr>
              <a:t>1.2×</a:t>
            </a:r>
            <a:r>
              <a:rPr b="0" i="0" lang="en-US" sz="1200" u="none" cap="none" strike="noStrike">
                <a:solidFill>
                  <a:srgbClr val="1F2937"/>
                </a:solidFill>
                <a:latin typeface="Carlito"/>
                <a:ea typeface="Carlito"/>
                <a:cs typeface="Carlito"/>
                <a:sym typeface="Carlito"/>
              </a:rPr>
              <a:t> on product R (150 ÷ 125).</a:t>
            </a:r>
            <a:endParaRPr b="0" i="0" sz="1200" u="none" cap="none" strike="noStrike">
              <a:solidFill>
                <a:schemeClr val="dk1"/>
              </a:solidFill>
              <a:latin typeface="Carlito"/>
              <a:ea typeface="Carlito"/>
              <a:cs typeface="Carlito"/>
              <a:sym typeface="Carlito"/>
            </a:endParaRPr>
          </a:p>
        </p:txBody>
      </p:sp>
      <p:cxnSp>
        <p:nvCxnSpPr>
          <p:cNvPr id="123" name="Google Shape;123;p6"/>
          <p:cNvCxnSpPr/>
          <p:nvPr/>
        </p:nvCxnSpPr>
        <p:spPr>
          <a:xfrm>
            <a:off x="11376025" y="2156461"/>
            <a:ext cx="0" cy="2443480"/>
          </a:xfrm>
          <a:prstGeom prst="straightConnector1">
            <a:avLst/>
          </a:prstGeom>
          <a:noFill/>
          <a:ln cap="flat" cmpd="sng" w="9525">
            <a:solidFill>
              <a:srgbClr val="D8DEE8"/>
            </a:solidFill>
            <a:prstDash val="solid"/>
            <a:round/>
            <a:headEnd len="sm" w="sm" type="none"/>
            <a:tailEnd len="sm" w="sm" type="none"/>
          </a:ln>
        </p:spPr>
      </p:cxnSp>
      <p:cxnSp>
        <p:nvCxnSpPr>
          <p:cNvPr id="124" name="Google Shape;124;p6"/>
          <p:cNvCxnSpPr/>
          <p:nvPr/>
        </p:nvCxnSpPr>
        <p:spPr>
          <a:xfrm>
            <a:off x="812800" y="4596766"/>
            <a:ext cx="10566400" cy="0"/>
          </a:xfrm>
          <a:prstGeom prst="straightConnector1">
            <a:avLst/>
          </a:prstGeom>
          <a:noFill/>
          <a:ln cap="flat" cmpd="sng" w="9525">
            <a:solidFill>
              <a:srgbClr val="D8DEE8"/>
            </a:solidFill>
            <a:prstDash val="solid"/>
            <a:round/>
            <a:headEnd len="sm" w="sm" type="none"/>
            <a:tailEnd len="sm" w="sm" type="none"/>
          </a:ln>
        </p:spPr>
      </p:cxnSp>
      <p:graphicFrame>
        <p:nvGraphicFramePr>
          <p:cNvPr id="125" name="Google Shape;125;p6"/>
          <p:cNvGraphicFramePr/>
          <p:nvPr/>
        </p:nvGraphicFramePr>
        <p:xfrm>
          <a:off x="822960" y="2166621"/>
          <a:ext cx="3000000" cy="3000000"/>
        </p:xfrm>
        <a:graphic>
          <a:graphicData uri="http://schemas.openxmlformats.org/drawingml/2006/table">
            <a:tbl>
              <a:tblPr>
                <a:noFill/>
                <a:tableStyleId>{B1428F95-D982-4F4E-99CC-6B386F8E9489}</a:tableStyleId>
              </a:tblPr>
              <a:tblGrid>
                <a:gridCol w="2532275"/>
                <a:gridCol w="4220475"/>
                <a:gridCol w="1688175"/>
                <a:gridCol w="1055125"/>
                <a:gridCol w="1055125"/>
              </a:tblGrid>
              <a:tr h="303525">
                <a:tc>
                  <a:txBody>
                    <a:bodyPr/>
                    <a:lstStyle/>
                    <a:p>
                      <a:pPr indent="0" lvl="0" marL="0" marR="0" rtl="0" algn="l">
                        <a:lnSpc>
                          <a:spcPct val="140000"/>
                        </a:lnSpc>
                        <a:spcBef>
                          <a:spcPts val="0"/>
                        </a:spcBef>
                        <a:spcAft>
                          <a:spcPts val="0"/>
                        </a:spcAft>
                        <a:buClr>
                          <a:srgbClr val="FFFFFF"/>
                        </a:buClr>
                        <a:buSzPts val="1100"/>
                        <a:buFont typeface="Carlito"/>
                        <a:buNone/>
                      </a:pPr>
                      <a:r>
                        <a:rPr b="1" lang="en-US" sz="1100" u="none" cap="none" strike="noStrike">
                          <a:solidFill>
                            <a:srgbClr val="FFFFFF"/>
                          </a:solidFill>
                          <a:latin typeface="Carlito"/>
                          <a:ea typeface="Carlito"/>
                          <a:cs typeface="Carlito"/>
                          <a:sym typeface="Carlito"/>
                        </a:rPr>
                        <a:t>Feature</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100"/>
                        <a:buFont typeface="Carlito"/>
                        <a:buNone/>
                      </a:pPr>
                      <a:r>
                        <a:rPr b="1" lang="en-US" sz="1100" u="none" cap="none" strike="noStrike">
                          <a:solidFill>
                            <a:srgbClr val="FFFFFF"/>
                          </a:solidFill>
                          <a:latin typeface="Carlito"/>
                          <a:ea typeface="Carlito"/>
                          <a:cs typeface="Carlito"/>
                          <a:sym typeface="Carlito"/>
                        </a:rPr>
                        <a:t>Calculation</a:t>
                      </a:r>
                      <a:endParaRPr sz="1100" u="none" cap="none" strike="noStrike">
                        <a:latin typeface="Carlito"/>
                        <a:ea typeface="Carlito"/>
                        <a:cs typeface="Carlito"/>
                        <a:sym typeface="Carlito"/>
                      </a:endParaRPr>
                    </a:p>
                  </a:txBody>
                  <a:tcPr marT="48900" marB="48900" marR="48900" marL="4890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100"/>
                        <a:buFont typeface="Carlito"/>
                        <a:buNone/>
                      </a:pPr>
                      <a:r>
                        <a:rPr b="1" lang="en-US" sz="1100" u="none" cap="none" strike="noStrike">
                          <a:solidFill>
                            <a:srgbClr val="FFFFFF"/>
                          </a:solidFill>
                          <a:latin typeface="Carlito"/>
                          <a:ea typeface="Carlito"/>
                          <a:cs typeface="Carlito"/>
                          <a:sym typeface="Carlito"/>
                        </a:rPr>
                        <a:t>Example</a:t>
                      </a:r>
                      <a:endParaRPr sz="1100" u="none" cap="none" strike="noStrike">
                        <a:latin typeface="Carlito"/>
                        <a:ea typeface="Carlito"/>
                        <a:cs typeface="Carlito"/>
                        <a:sym typeface="Carlito"/>
                      </a:endParaRPr>
                    </a:p>
                  </a:txBody>
                  <a:tcPr marT="48900" marB="48900" marR="48900" marL="4890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100"/>
                        <a:buFont typeface="Carlito"/>
                        <a:buNone/>
                      </a:pPr>
                      <a:r>
                        <a:rPr b="1" lang="en-US" sz="1100" u="none" cap="none" strike="noStrike">
                          <a:solidFill>
                            <a:srgbClr val="FFFFFF"/>
                          </a:solidFill>
                          <a:latin typeface="Carlito"/>
                          <a:ea typeface="Carlito"/>
                          <a:cs typeface="Carlito"/>
                          <a:sym typeface="Carlito"/>
                        </a:rPr>
                        <a:t>Kind</a:t>
                      </a:r>
                      <a:endParaRPr sz="1100" u="none" cap="none" strike="noStrike">
                        <a:latin typeface="Carlito"/>
                        <a:ea typeface="Carlito"/>
                        <a:cs typeface="Carlito"/>
                        <a:sym typeface="Carlito"/>
                      </a:endParaRPr>
                    </a:p>
                  </a:txBody>
                  <a:tcPr marT="48900" marB="48900" marR="48900" marL="4890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100"/>
                        <a:buFont typeface="Carlito"/>
                        <a:buNone/>
                      </a:pPr>
                      <a:r>
                        <a:rPr b="1" lang="en-US" sz="1100" u="none" cap="none" strike="noStrike">
                          <a:solidFill>
                            <a:srgbClr val="FFFFFF"/>
                          </a:solidFill>
                          <a:latin typeface="Carlito"/>
                          <a:ea typeface="Carlito"/>
                          <a:cs typeface="Carlito"/>
                          <a:sym typeface="Carlito"/>
                        </a:rPr>
                        <a:t>From</a:t>
                      </a:r>
                      <a:endParaRPr sz="1100" u="none" cap="none" strike="noStrike">
                        <a:latin typeface="Carlito"/>
                        <a:ea typeface="Carlito"/>
                        <a:cs typeface="Carlito"/>
                        <a:sym typeface="Carlito"/>
                      </a:endParaRPr>
                    </a:p>
                  </a:txBody>
                  <a:tcPr marT="48900" marB="48900" marR="48900" marL="4890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03525">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amount_to_product_median</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amount ÷ max(product’s training median, 1)</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150 on H: 150 ÷ 50 = 3.0</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Interaction</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Eric · EDA</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03525">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amount_train_frequency</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training rows with this exact amount (to the cent) ÷ all training rows</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never-seen amount = 0</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Frequency</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Eric · EDA</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03525">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amount_fractional_unit</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amount − whole-number part</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25.375 → 0.375</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Transform</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Eric</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03525">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amount_has_subcent_precision</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1 if amount × 100 is not a whole number</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25.375 → 1; 25.37 → 0</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Transform</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Eric · Salvador</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03525">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amount_log1p</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log(1 + amount)</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500 → 6.22</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Transform</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Eric</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03525">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hour_sin, hour_cos</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hour = (seconds ÷ 3,600) mod 24; sin and cos of (2π × hour ÷ 24)</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hour 6 → 1.00, 0.00</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Transform</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EDA</a:t>
                      </a:r>
                      <a:endParaRPr sz="1100" u="none" cap="none" strike="noStrike">
                        <a:latin typeface="Carlito"/>
                        <a:ea typeface="Carlito"/>
                        <a:cs typeface="Carlito"/>
                        <a:sym typeface="Carlito"/>
                      </a:endParaRPr>
                    </a:p>
                  </a:txBody>
                  <a:tcPr marT="48900" marB="48900" marR="48900" marL="4890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03525">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weekday_sin, weekday_cos</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day = (seconds ÷ 86,400) mod 7; sin and cos of (2π × day ÷ 7)</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day 0 → 0.00, 1.00</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Transform</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100"/>
                        <a:buFont typeface="Carlito"/>
                        <a:buNone/>
                      </a:pPr>
                      <a:r>
                        <a:rPr lang="en-US" sz="1100" u="none" cap="none" strike="noStrike">
                          <a:solidFill>
                            <a:srgbClr val="1F2937"/>
                          </a:solidFill>
                          <a:latin typeface="Carlito"/>
                          <a:ea typeface="Carlito"/>
                          <a:cs typeface="Carlito"/>
                          <a:sym typeface="Carlito"/>
                        </a:rPr>
                        <a:t>Eric · Salvador</a:t>
                      </a:r>
                      <a:endParaRPr sz="1100" u="none" cap="none" strike="noStrike">
                        <a:latin typeface="Carlito"/>
                        <a:ea typeface="Carlito"/>
                        <a:cs typeface="Carlito"/>
                        <a:sym typeface="Carlito"/>
                      </a:endParaRPr>
                    </a:p>
                  </a:txBody>
                  <a:tcPr marT="48900" marB="48900" marR="48900" marL="4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126" name="Google Shape;126;p6"/>
          <p:cNvSpPr/>
          <p:nvPr/>
        </p:nvSpPr>
        <p:spPr>
          <a:xfrm>
            <a:off x="812800" y="4777739"/>
            <a:ext cx="10883392" cy="4165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100"/>
              <a:buFont typeface="Carlito"/>
              <a:buNone/>
            </a:pPr>
            <a:r>
              <a:rPr b="1" i="0" lang="en-US" sz="1100" u="none" cap="none" strike="noStrike">
                <a:solidFill>
                  <a:srgbClr val="1F2937"/>
                </a:solidFill>
                <a:latin typeface="Carlito"/>
                <a:ea typeface="Carlito"/>
                <a:cs typeface="Carlito"/>
                <a:sym typeface="Carlito"/>
              </a:rPr>
              <a:t>Interaction or latent?</a:t>
            </a:r>
            <a:r>
              <a:rPr b="0" i="0" lang="en-US" sz="1100" u="none" cap="none" strike="noStrike">
                <a:solidFill>
                  <a:srgbClr val="5B6475"/>
                </a:solidFill>
                <a:latin typeface="Carlito"/>
                <a:ea typeface="Carlito"/>
                <a:cs typeface="Carlito"/>
                <a:sym typeface="Carlito"/>
              </a:rPr>
              <a:t> Only amount_to_product_median is an interaction (amount combined with product). The rest transform or look up one column. None are latent variables; the closest are the missingness clusters on slide 11.</a:t>
            </a:r>
            <a:endParaRPr b="0" i="0" sz="1100" u="none" cap="none" strike="noStrike">
              <a:solidFill>
                <a:schemeClr val="dk1"/>
              </a:solidFill>
              <a:latin typeface="Carlito"/>
              <a:ea typeface="Carlito"/>
              <a:cs typeface="Carlito"/>
              <a:sym typeface="Carlito"/>
            </a:endParaRPr>
          </a:p>
        </p:txBody>
      </p:sp>
      <p:sp>
        <p:nvSpPr>
          <p:cNvPr id="127" name="Google Shape;127;p6"/>
          <p:cNvSpPr/>
          <p:nvPr/>
        </p:nvSpPr>
        <p:spPr>
          <a:xfrm>
            <a:off x="812800" y="6238239"/>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128" name="Google Shape;128;p6"/>
          <p:cNvSpPr/>
          <p:nvPr/>
        </p:nvSpPr>
        <p:spPr>
          <a:xfrm>
            <a:off x="10566400" y="6238239"/>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6</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7"/>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Account keys let us compare each payment to its account’s past</a:t>
            </a:r>
            <a:endParaRPr sz="3000"/>
          </a:p>
        </p:txBody>
      </p:sp>
      <p:sp>
        <p:nvSpPr>
          <p:cNvPr id="135" name="Google Shape;135;p7"/>
          <p:cNvSpPr/>
          <p:nvPr/>
        </p:nvSpPr>
        <p:spPr>
          <a:xfrm>
            <a:off x="812800" y="1790700"/>
            <a:ext cx="5207000" cy="441960"/>
          </a:xfrm>
          <a:prstGeom prst="roundRect">
            <a:avLst>
              <a:gd fmla="val 17241" name="adj"/>
            </a:avLst>
          </a:prstGeom>
          <a:solidFill>
            <a:srgbClr val="F3F5F9"/>
          </a:solidFill>
          <a:ln>
            <a:noFill/>
          </a:ln>
        </p:spPr>
        <p:txBody>
          <a:bodyPr anchorCtr="0" anchor="t" bIns="66575" lIns="155475" spcFirstLastPara="1" rIns="9925" wrap="square" tIns="91975">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Key 1:</a:t>
            </a:r>
            <a:r>
              <a:rPr b="0" i="0" lang="en-US" sz="1200" u="none" cap="none" strike="noStrike">
                <a:solidFill>
                  <a:srgbClr val="1F2937"/>
                </a:solidFill>
                <a:latin typeface="Carlito"/>
                <a:ea typeface="Carlito"/>
                <a:cs typeface="Carlito"/>
                <a:sym typeface="Carlito"/>
              </a:rPr>
              <a:t> card1 | addr1 | D1n · the EDA’s key, needs an address</a:t>
            </a:r>
            <a:endParaRPr b="0" i="0" sz="1200" u="none" cap="none" strike="noStrike">
              <a:solidFill>
                <a:schemeClr val="dk1"/>
              </a:solidFill>
              <a:latin typeface="Carlito"/>
              <a:ea typeface="Carlito"/>
              <a:cs typeface="Carlito"/>
              <a:sym typeface="Carlito"/>
            </a:endParaRPr>
          </a:p>
        </p:txBody>
      </p:sp>
      <p:sp>
        <p:nvSpPr>
          <p:cNvPr id="136" name="Google Shape;136;p7"/>
          <p:cNvSpPr/>
          <p:nvPr/>
        </p:nvSpPr>
        <p:spPr>
          <a:xfrm>
            <a:off x="6172200" y="1790700"/>
            <a:ext cx="5207000" cy="441960"/>
          </a:xfrm>
          <a:prstGeom prst="roundRect">
            <a:avLst>
              <a:gd fmla="val 17241" name="adj"/>
            </a:avLst>
          </a:prstGeom>
          <a:solidFill>
            <a:srgbClr val="F3F5F9"/>
          </a:solidFill>
          <a:ln>
            <a:noFill/>
          </a:ln>
        </p:spPr>
        <p:txBody>
          <a:bodyPr anchorCtr="0" anchor="t" bIns="66575" lIns="155475" spcFirstLastPara="1" rIns="9925" wrap="square" tIns="91975">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Key 2:</a:t>
            </a:r>
            <a:r>
              <a:rPr b="0" i="0" lang="en-US" sz="1200" u="none" cap="none" strike="noStrike">
                <a:solidFill>
                  <a:srgbClr val="1F2937"/>
                </a:solidFill>
                <a:latin typeface="Carlito"/>
                <a:ea typeface="Carlito"/>
                <a:cs typeface="Carlito"/>
                <a:sym typeface="Carlito"/>
              </a:rPr>
              <a:t> card1 | email | D1n · new, works without an address</a:t>
            </a:r>
            <a:endParaRPr b="0" i="0" sz="1200" u="none" cap="none" strike="noStrike">
              <a:solidFill>
                <a:schemeClr val="dk1"/>
              </a:solidFill>
              <a:latin typeface="Carlito"/>
              <a:ea typeface="Carlito"/>
              <a:cs typeface="Carlito"/>
              <a:sym typeface="Carlito"/>
            </a:endParaRPr>
          </a:p>
        </p:txBody>
      </p:sp>
      <p:cxnSp>
        <p:nvCxnSpPr>
          <p:cNvPr id="137" name="Google Shape;137;p7"/>
          <p:cNvCxnSpPr/>
          <p:nvPr/>
        </p:nvCxnSpPr>
        <p:spPr>
          <a:xfrm>
            <a:off x="7921625" y="2435861"/>
            <a:ext cx="0" cy="2209800"/>
          </a:xfrm>
          <a:prstGeom prst="straightConnector1">
            <a:avLst/>
          </a:prstGeom>
          <a:noFill/>
          <a:ln cap="flat" cmpd="sng" w="9525">
            <a:solidFill>
              <a:srgbClr val="D8DEE8"/>
            </a:solidFill>
            <a:prstDash val="solid"/>
            <a:round/>
            <a:headEnd len="sm" w="sm" type="none"/>
            <a:tailEnd len="sm" w="sm" type="none"/>
          </a:ln>
        </p:spPr>
      </p:cxnSp>
      <p:cxnSp>
        <p:nvCxnSpPr>
          <p:cNvPr id="138" name="Google Shape;138;p7"/>
          <p:cNvCxnSpPr/>
          <p:nvPr/>
        </p:nvCxnSpPr>
        <p:spPr>
          <a:xfrm>
            <a:off x="812800" y="4642486"/>
            <a:ext cx="7112000" cy="0"/>
          </a:xfrm>
          <a:prstGeom prst="straightConnector1">
            <a:avLst/>
          </a:prstGeom>
          <a:noFill/>
          <a:ln cap="flat" cmpd="sng" w="9525">
            <a:solidFill>
              <a:srgbClr val="D8DEE8"/>
            </a:solidFill>
            <a:prstDash val="solid"/>
            <a:round/>
            <a:headEnd len="sm" w="sm" type="none"/>
            <a:tailEnd len="sm" w="sm" type="none"/>
          </a:ln>
        </p:spPr>
      </p:cxnSp>
      <p:graphicFrame>
        <p:nvGraphicFramePr>
          <p:cNvPr id="139" name="Google Shape;139;p7"/>
          <p:cNvGraphicFramePr/>
          <p:nvPr/>
        </p:nvGraphicFramePr>
        <p:xfrm>
          <a:off x="822960" y="2446021"/>
          <a:ext cx="3000000" cy="3000000"/>
        </p:xfrm>
        <a:graphic>
          <a:graphicData uri="http://schemas.openxmlformats.org/drawingml/2006/table">
            <a:tbl>
              <a:tblPr>
                <a:noFill/>
                <a:tableStyleId>{B1428F95-D982-4F4E-99CC-6B386F8E9489}</a:tableStyleId>
              </a:tblPr>
              <a:tblGrid>
                <a:gridCol w="496775"/>
                <a:gridCol w="780650"/>
                <a:gridCol w="709675"/>
                <a:gridCol w="851600"/>
                <a:gridCol w="709675"/>
                <a:gridCol w="851600"/>
                <a:gridCol w="780650"/>
                <a:gridCol w="993550"/>
                <a:gridCol w="922575"/>
              </a:tblGrid>
              <a:tr h="543550">
                <a:tc>
                  <a:txBody>
                    <a:bodyPr/>
                    <a:lstStyle/>
                    <a:p>
                      <a:pPr indent="0" lvl="0" marL="0" marR="0" rtl="0" algn="l">
                        <a:lnSpc>
                          <a:spcPct val="140000"/>
                        </a:lnSpc>
                        <a:spcBef>
                          <a:spcPts val="0"/>
                        </a:spcBef>
                        <a:spcAft>
                          <a:spcPts val="0"/>
                        </a:spcAft>
                        <a:buClr>
                          <a:schemeClr val="dk1"/>
                        </a:buClr>
                        <a:buSzPts val="1200"/>
                        <a:buFont typeface="Carlito"/>
                        <a:buNone/>
                      </a:pPr>
                      <a:r>
                        <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Time (s)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Amount</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Device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Prior count</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Usual amount</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 usual</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Secs since last</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Devices before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windows</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missing</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missing</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missing</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5,000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windows</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0.80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4,000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T3</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9,000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samsung</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4.44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4,000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9,000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windows</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45</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1.33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4,000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20,000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ios</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87.50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5.71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11,000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140" name="Google Shape;140;p7"/>
          <p:cNvSpPr/>
          <p:nvPr/>
        </p:nvSpPr>
        <p:spPr>
          <a:xfrm>
            <a:off x="812800" y="4747261"/>
            <a:ext cx="7325360" cy="4165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100"/>
              <a:buFont typeface="Carlito"/>
              <a:buNone/>
            </a:pPr>
            <a:r>
              <a:rPr b="0" i="0" lang="en-US" sz="1100" u="none" cap="none" strike="noStrike">
                <a:solidFill>
                  <a:srgbClr val="5B6475"/>
                </a:solidFill>
                <a:latin typeface="Carlito"/>
                <a:ea typeface="Carlito"/>
                <a:cs typeface="Carlito"/>
                <a:sym typeface="Carlito"/>
              </a:rPr>
              <a:t>Only earlier timestamps count, and fraud labels are never used. T3 and T4 share a timestamp, so neither sees the other. T5: almost 6× the usual amount, on a device the account never used.</a:t>
            </a:r>
            <a:endParaRPr b="0" i="0" sz="1100" u="none" cap="none" strike="noStrike">
              <a:solidFill>
                <a:schemeClr val="dk1"/>
              </a:solidFill>
              <a:latin typeface="Carlito"/>
              <a:ea typeface="Carlito"/>
              <a:cs typeface="Carlito"/>
              <a:sym typeface="Carlito"/>
            </a:endParaRPr>
          </a:p>
        </p:txBody>
      </p:sp>
      <p:sp>
        <p:nvSpPr>
          <p:cNvPr id="141" name="Google Shape;141;p7"/>
          <p:cNvSpPr/>
          <p:nvPr/>
        </p:nvSpPr>
        <p:spPr>
          <a:xfrm>
            <a:off x="8178800" y="2435861"/>
            <a:ext cx="3200400" cy="3235960"/>
          </a:xfrm>
          <a:prstGeom prst="roundRect">
            <a:avLst>
              <a:gd fmla="val 3175"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8407400" y="2639061"/>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200"/>
              <a:buFont typeface="Carlito"/>
              <a:buNone/>
            </a:pPr>
            <a:r>
              <a:rPr b="1" i="0" lang="en-US" sz="1200" u="none" cap="none" strike="noStrike">
                <a:solidFill>
                  <a:srgbClr val="FFFFFF"/>
                </a:solidFill>
                <a:latin typeface="Carlito"/>
                <a:ea typeface="Carlito"/>
                <a:cs typeface="Carlito"/>
                <a:sym typeface="Carlito"/>
              </a:rPr>
              <a:t>Formulas, worked for T5</a:t>
            </a:r>
            <a:endParaRPr b="0" i="0" sz="1200" u="none" cap="none" strike="noStrike">
              <a:solidFill>
                <a:schemeClr val="dk1"/>
              </a:solidFill>
              <a:latin typeface="Carlito"/>
              <a:ea typeface="Carlito"/>
              <a:cs typeface="Carlito"/>
              <a:sym typeface="Carlito"/>
            </a:endParaRPr>
          </a:p>
        </p:txBody>
      </p:sp>
      <p:sp>
        <p:nvSpPr>
          <p:cNvPr id="143" name="Google Shape;143;p7"/>
          <p:cNvSpPr/>
          <p:nvPr/>
        </p:nvSpPr>
        <p:spPr>
          <a:xfrm>
            <a:off x="8407400" y="2954021"/>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Prior count = earlier transactions</a:t>
            </a:r>
            <a:endParaRPr b="0" i="0" sz="1200" u="none" cap="none" strike="noStrike">
              <a:solidFill>
                <a:schemeClr val="dk1"/>
              </a:solidFill>
              <a:latin typeface="Carlito"/>
              <a:ea typeface="Carlito"/>
              <a:cs typeface="Carlito"/>
              <a:sym typeface="Carlito"/>
            </a:endParaRPr>
          </a:p>
        </p:txBody>
      </p:sp>
      <p:sp>
        <p:nvSpPr>
          <p:cNvPr id="144" name="Google Shape;144;p7"/>
          <p:cNvSpPr/>
          <p:nvPr/>
        </p:nvSpPr>
        <p:spPr>
          <a:xfrm>
            <a:off x="8407400" y="3180082"/>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T1 to T4 = 4</a:t>
            </a:r>
            <a:endParaRPr b="0" i="0" sz="1100" u="none" cap="none" strike="noStrike">
              <a:solidFill>
                <a:schemeClr val="dk1"/>
              </a:solidFill>
              <a:latin typeface="Carlito"/>
              <a:ea typeface="Carlito"/>
              <a:cs typeface="Carlito"/>
              <a:sym typeface="Carlito"/>
            </a:endParaRPr>
          </a:p>
        </p:txBody>
      </p:sp>
      <p:sp>
        <p:nvSpPr>
          <p:cNvPr id="145" name="Google Shape;145;p7"/>
          <p:cNvSpPr/>
          <p:nvPr/>
        </p:nvSpPr>
        <p:spPr>
          <a:xfrm>
            <a:off x="8407400" y="3477261"/>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Usual = earlier total ÷ prior count</a:t>
            </a:r>
            <a:endParaRPr b="0" i="0" sz="1200" u="none" cap="none" strike="noStrike">
              <a:solidFill>
                <a:schemeClr val="dk1"/>
              </a:solidFill>
              <a:latin typeface="Carlito"/>
              <a:ea typeface="Carlito"/>
              <a:cs typeface="Carlito"/>
              <a:sym typeface="Carlito"/>
            </a:endParaRPr>
          </a:p>
        </p:txBody>
      </p:sp>
      <p:sp>
        <p:nvSpPr>
          <p:cNvPr id="146" name="Google Shape;146;p7"/>
          <p:cNvSpPr/>
          <p:nvPr/>
        </p:nvSpPr>
        <p:spPr>
          <a:xfrm>
            <a:off x="8407400" y="3703321"/>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(50 + 40 + 200 + 60) ÷ 4 = 87.50</a:t>
            </a:r>
            <a:endParaRPr b="0" i="0" sz="1100" u="none" cap="none" strike="noStrike">
              <a:solidFill>
                <a:schemeClr val="dk1"/>
              </a:solidFill>
              <a:latin typeface="Carlito"/>
              <a:ea typeface="Carlito"/>
              <a:cs typeface="Carlito"/>
              <a:sym typeface="Carlito"/>
            </a:endParaRPr>
          </a:p>
        </p:txBody>
      </p:sp>
      <p:sp>
        <p:nvSpPr>
          <p:cNvPr id="147" name="Google Shape;147;p7"/>
          <p:cNvSpPr/>
          <p:nvPr/>
        </p:nvSpPr>
        <p:spPr>
          <a:xfrm>
            <a:off x="8407400" y="4000500"/>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 usual = amount ÷ usual</a:t>
            </a:r>
            <a:endParaRPr b="0" i="0" sz="1200" u="none" cap="none" strike="noStrike">
              <a:solidFill>
                <a:schemeClr val="dk1"/>
              </a:solidFill>
              <a:latin typeface="Carlito"/>
              <a:ea typeface="Carlito"/>
              <a:cs typeface="Carlito"/>
              <a:sym typeface="Carlito"/>
            </a:endParaRPr>
          </a:p>
        </p:txBody>
      </p:sp>
      <p:sp>
        <p:nvSpPr>
          <p:cNvPr id="148" name="Google Shape;148;p7"/>
          <p:cNvSpPr/>
          <p:nvPr/>
        </p:nvSpPr>
        <p:spPr>
          <a:xfrm>
            <a:off x="8407400" y="4226561"/>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500 ÷ 87.50 = 5.71</a:t>
            </a:r>
            <a:endParaRPr b="0" i="0" sz="1100" u="none" cap="none" strike="noStrike">
              <a:solidFill>
                <a:schemeClr val="dk1"/>
              </a:solidFill>
              <a:latin typeface="Carlito"/>
              <a:ea typeface="Carlito"/>
              <a:cs typeface="Carlito"/>
              <a:sym typeface="Carlito"/>
            </a:endParaRPr>
          </a:p>
        </p:txBody>
      </p:sp>
      <p:sp>
        <p:nvSpPr>
          <p:cNvPr id="149" name="Google Shape;149;p7"/>
          <p:cNvSpPr/>
          <p:nvPr/>
        </p:nvSpPr>
        <p:spPr>
          <a:xfrm>
            <a:off x="8407400" y="4523739"/>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Secs since last = time − last earlier time</a:t>
            </a:r>
            <a:endParaRPr b="0" i="0" sz="1200" u="none" cap="none" strike="noStrike">
              <a:solidFill>
                <a:schemeClr val="dk1"/>
              </a:solidFill>
              <a:latin typeface="Carlito"/>
              <a:ea typeface="Carlito"/>
              <a:cs typeface="Carlito"/>
              <a:sym typeface="Carlito"/>
            </a:endParaRPr>
          </a:p>
        </p:txBody>
      </p:sp>
      <p:sp>
        <p:nvSpPr>
          <p:cNvPr id="150" name="Google Shape;150;p7"/>
          <p:cNvSpPr/>
          <p:nvPr/>
        </p:nvSpPr>
        <p:spPr>
          <a:xfrm>
            <a:off x="8407400" y="4749800"/>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20,000 − 9,000 = 11,000</a:t>
            </a:r>
            <a:endParaRPr b="0" i="0" sz="1100" u="none" cap="none" strike="noStrike">
              <a:solidFill>
                <a:schemeClr val="dk1"/>
              </a:solidFill>
              <a:latin typeface="Carlito"/>
              <a:ea typeface="Carlito"/>
              <a:cs typeface="Carlito"/>
              <a:sym typeface="Carlito"/>
            </a:endParaRPr>
          </a:p>
        </p:txBody>
      </p:sp>
      <p:sp>
        <p:nvSpPr>
          <p:cNvPr id="151" name="Google Shape;151;p7"/>
          <p:cNvSpPr/>
          <p:nvPr/>
        </p:nvSpPr>
        <p:spPr>
          <a:xfrm>
            <a:off x="8407400" y="5046982"/>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Devices before = different earlier devices</a:t>
            </a:r>
            <a:endParaRPr b="0" i="0" sz="1200" u="none" cap="none" strike="noStrike">
              <a:solidFill>
                <a:schemeClr val="dk1"/>
              </a:solidFill>
              <a:latin typeface="Carlito"/>
              <a:ea typeface="Carlito"/>
              <a:cs typeface="Carlito"/>
              <a:sym typeface="Carlito"/>
            </a:endParaRPr>
          </a:p>
        </p:txBody>
      </p:sp>
      <p:sp>
        <p:nvSpPr>
          <p:cNvPr id="152" name="Google Shape;152;p7"/>
          <p:cNvSpPr/>
          <p:nvPr/>
        </p:nvSpPr>
        <p:spPr>
          <a:xfrm>
            <a:off x="8407400" y="5273039"/>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windows, samsung = 2</a:t>
            </a:r>
            <a:endParaRPr b="0" i="0" sz="1100" u="none" cap="none" strike="noStrike">
              <a:solidFill>
                <a:schemeClr val="dk1"/>
              </a:solidFill>
              <a:latin typeface="Carlito"/>
              <a:ea typeface="Carlito"/>
              <a:cs typeface="Carlito"/>
              <a:sym typeface="Carlito"/>
            </a:endParaRPr>
          </a:p>
        </p:txBody>
      </p:sp>
      <p:sp>
        <p:nvSpPr>
          <p:cNvPr id="153" name="Google Shape;153;p7"/>
          <p:cNvSpPr/>
          <p:nvPr/>
        </p:nvSpPr>
        <p:spPr>
          <a:xfrm>
            <a:off x="812800" y="6238239"/>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154" name="Google Shape;154;p7"/>
          <p:cNvSpPr/>
          <p:nvPr/>
        </p:nvSpPr>
        <p:spPr>
          <a:xfrm>
            <a:off x="10566400" y="6238239"/>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7</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8"/>
          <p:cNvSpPr txBox="1"/>
          <p:nvPr>
            <p:ph type="title"/>
          </p:nvPr>
        </p:nvSpPr>
        <p:spPr>
          <a:xfrm>
            <a:off x="812800" y="711200"/>
            <a:ext cx="10883392" cy="46355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Key 2 gives history to the group that holds 37% of fraud</a:t>
            </a:r>
            <a:endParaRPr sz="3000"/>
          </a:p>
        </p:txBody>
      </p:sp>
      <p:cxnSp>
        <p:nvCxnSpPr>
          <p:cNvPr id="161" name="Google Shape;161;p8"/>
          <p:cNvCxnSpPr/>
          <p:nvPr/>
        </p:nvCxnSpPr>
        <p:spPr>
          <a:xfrm>
            <a:off x="7921625" y="1454150"/>
            <a:ext cx="0" cy="1549400"/>
          </a:xfrm>
          <a:prstGeom prst="straightConnector1">
            <a:avLst/>
          </a:prstGeom>
          <a:noFill/>
          <a:ln cap="flat" cmpd="sng" w="9525">
            <a:solidFill>
              <a:srgbClr val="D8DEE8"/>
            </a:solidFill>
            <a:prstDash val="solid"/>
            <a:round/>
            <a:headEnd len="sm" w="sm" type="none"/>
            <a:tailEnd len="sm" w="sm" type="none"/>
          </a:ln>
        </p:spPr>
      </p:cxnSp>
      <p:cxnSp>
        <p:nvCxnSpPr>
          <p:cNvPr id="162" name="Google Shape;162;p8"/>
          <p:cNvCxnSpPr/>
          <p:nvPr/>
        </p:nvCxnSpPr>
        <p:spPr>
          <a:xfrm>
            <a:off x="812800" y="3000375"/>
            <a:ext cx="7112000" cy="0"/>
          </a:xfrm>
          <a:prstGeom prst="straightConnector1">
            <a:avLst/>
          </a:prstGeom>
          <a:noFill/>
          <a:ln cap="flat" cmpd="sng" w="9525">
            <a:solidFill>
              <a:srgbClr val="D8DEE8"/>
            </a:solidFill>
            <a:prstDash val="solid"/>
            <a:round/>
            <a:headEnd len="sm" w="sm" type="none"/>
            <a:tailEnd len="sm" w="sm" type="none"/>
          </a:ln>
        </p:spPr>
      </p:cxnSp>
      <p:graphicFrame>
        <p:nvGraphicFramePr>
          <p:cNvPr id="163" name="Google Shape;163;p8"/>
          <p:cNvGraphicFramePr/>
          <p:nvPr/>
        </p:nvGraphicFramePr>
        <p:xfrm>
          <a:off x="822960" y="1464310"/>
          <a:ext cx="3000000" cy="3000000"/>
        </p:xfrm>
        <a:graphic>
          <a:graphicData uri="http://schemas.openxmlformats.org/drawingml/2006/table">
            <a:tbl>
              <a:tblPr>
                <a:noFill/>
                <a:tableStyleId>{B1428F95-D982-4F4E-99CC-6B386F8E9489}</a:tableStyleId>
              </a:tblPr>
              <a:tblGrid>
                <a:gridCol w="1419350"/>
                <a:gridCol w="993550"/>
                <a:gridCol w="780650"/>
                <a:gridCol w="851600"/>
                <a:gridCol w="922575"/>
                <a:gridCol w="1064525"/>
                <a:gridCol w="1064525"/>
              </a:tblGrid>
              <a:tr h="543550">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Training group</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Transactions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Share of 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Key 1 history</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Key 2 history</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Address missing</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53,761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≈6,127</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11.4%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36.9%</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58.3%</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Address present</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418,671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≈10,471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2.5%</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63.1%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59.9%</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49.3%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All training</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472,432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≈16,598</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3.51%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chemeClr val="dk1"/>
                        </a:buClr>
                        <a:buSzPts val="1200"/>
                        <a:buFont typeface="Carlito"/>
                        <a:buNone/>
                      </a:pPr>
                      <a:r>
                        <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chemeClr val="dk1"/>
                        </a:buClr>
                        <a:buSzPts val="1200"/>
                        <a:buFont typeface="Carlito"/>
                        <a:buNone/>
                      </a:pPr>
                      <a:r>
                        <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164" name="Google Shape;164;p8"/>
          <p:cNvSpPr/>
          <p:nvPr/>
        </p:nvSpPr>
        <p:spPr>
          <a:xfrm>
            <a:off x="812800" y="3130550"/>
            <a:ext cx="732536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Address-missing transactions only, by Key 2 history:</a:t>
            </a:r>
            <a:endParaRPr b="0" i="0" sz="1200" u="none" cap="none" strike="noStrike">
              <a:solidFill>
                <a:schemeClr val="dk1"/>
              </a:solidFill>
              <a:latin typeface="Carlito"/>
              <a:ea typeface="Carlito"/>
              <a:cs typeface="Carlito"/>
              <a:sym typeface="Carlito"/>
            </a:endParaRPr>
          </a:p>
        </p:txBody>
      </p:sp>
      <p:cxnSp>
        <p:nvCxnSpPr>
          <p:cNvPr id="165" name="Google Shape;165;p8"/>
          <p:cNvCxnSpPr/>
          <p:nvPr/>
        </p:nvCxnSpPr>
        <p:spPr>
          <a:xfrm>
            <a:off x="7921625" y="3470911"/>
            <a:ext cx="0" cy="1336040"/>
          </a:xfrm>
          <a:prstGeom prst="straightConnector1">
            <a:avLst/>
          </a:prstGeom>
          <a:noFill/>
          <a:ln cap="flat" cmpd="sng" w="9525">
            <a:solidFill>
              <a:srgbClr val="D8DEE8"/>
            </a:solidFill>
            <a:prstDash val="solid"/>
            <a:round/>
            <a:headEnd len="sm" w="sm" type="none"/>
            <a:tailEnd len="sm" w="sm" type="none"/>
          </a:ln>
        </p:spPr>
      </p:cxnSp>
      <p:cxnSp>
        <p:nvCxnSpPr>
          <p:cNvPr id="166" name="Google Shape;166;p8"/>
          <p:cNvCxnSpPr/>
          <p:nvPr/>
        </p:nvCxnSpPr>
        <p:spPr>
          <a:xfrm>
            <a:off x="812800" y="4803776"/>
            <a:ext cx="7112000" cy="0"/>
          </a:xfrm>
          <a:prstGeom prst="straightConnector1">
            <a:avLst/>
          </a:prstGeom>
          <a:noFill/>
          <a:ln cap="flat" cmpd="sng" w="9525">
            <a:solidFill>
              <a:srgbClr val="D8DEE8"/>
            </a:solidFill>
            <a:prstDash val="solid"/>
            <a:round/>
            <a:headEnd len="sm" w="sm" type="none"/>
            <a:tailEnd len="sm" w="sm" type="none"/>
          </a:ln>
        </p:spPr>
      </p:cxnSp>
      <p:graphicFrame>
        <p:nvGraphicFramePr>
          <p:cNvPr id="167" name="Google Shape;167;p8"/>
          <p:cNvGraphicFramePr/>
          <p:nvPr/>
        </p:nvGraphicFramePr>
        <p:xfrm>
          <a:off x="822960" y="3481071"/>
          <a:ext cx="3000000" cy="3000000"/>
        </p:xfrm>
        <a:graphic>
          <a:graphicData uri="http://schemas.openxmlformats.org/drawingml/2006/table">
            <a:tbl>
              <a:tblPr>
                <a:noFill/>
                <a:tableStyleId>{B1428F95-D982-4F4E-99CC-6B386F8E9489}</a:tableStyleId>
              </a:tblPr>
              <a:tblGrid>
                <a:gridCol w="2412900"/>
                <a:gridCol w="1561275"/>
                <a:gridCol w="1561275"/>
                <a:gridCol w="1561275"/>
              </a:tblGrid>
              <a:tr h="330200">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Key 2 history?</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Transactions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No</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22,395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≈2,385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10.65%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Yes</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31,366</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≈3,742</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11.93%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Total (address missing)</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53,761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≈6,127</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11.4%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168" name="Google Shape;168;p8"/>
          <p:cNvSpPr/>
          <p:nvPr/>
        </p:nvSpPr>
        <p:spPr>
          <a:xfrm>
            <a:off x="812800" y="4933950"/>
            <a:ext cx="7325360" cy="4165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100"/>
              <a:buFont typeface="Carlito"/>
              <a:buNone/>
            </a:pPr>
            <a:r>
              <a:rPr b="0" i="0" lang="en-US" sz="1100" u="none" cap="none" strike="noStrike">
                <a:solidFill>
                  <a:srgbClr val="5B6475"/>
                </a:solidFill>
                <a:latin typeface="Carlito"/>
                <a:ea typeface="Carlito"/>
                <a:cs typeface="Carlito"/>
                <a:sym typeface="Carlito"/>
              </a:rPr>
              <a:t>≈: worked back from the printed rates. The yes/no flag is the bluntest feature; amount and device changes should matter more.</a:t>
            </a:r>
            <a:endParaRPr b="0" i="0" sz="1100" u="none" cap="none" strike="noStrike">
              <a:solidFill>
                <a:schemeClr val="dk1"/>
              </a:solidFill>
              <a:latin typeface="Carlito"/>
              <a:ea typeface="Carlito"/>
              <a:cs typeface="Carlito"/>
              <a:sym typeface="Carlito"/>
            </a:endParaRPr>
          </a:p>
        </p:txBody>
      </p:sp>
      <p:sp>
        <p:nvSpPr>
          <p:cNvPr id="169" name="Google Shape;169;p8"/>
          <p:cNvSpPr/>
          <p:nvPr/>
        </p:nvSpPr>
        <p:spPr>
          <a:xfrm>
            <a:off x="8178800" y="1454150"/>
            <a:ext cx="3200400" cy="3012440"/>
          </a:xfrm>
          <a:prstGeom prst="roundRect">
            <a:avLst>
              <a:gd fmla="val 3373"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8407400" y="1682750"/>
            <a:ext cx="2825496"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F8A8A"/>
              </a:buClr>
              <a:buSzPts val="2800"/>
              <a:buFont typeface="Caladea"/>
              <a:buNone/>
            </a:pPr>
            <a:r>
              <a:rPr b="1" i="0" lang="en-US" sz="2800" u="none" cap="none" strike="noStrike">
                <a:solidFill>
                  <a:srgbClr val="FF8A8A"/>
                </a:solidFill>
                <a:latin typeface="Caladea"/>
                <a:ea typeface="Caladea"/>
                <a:cs typeface="Caladea"/>
                <a:sym typeface="Caladea"/>
              </a:rPr>
              <a:t>0% → 58%</a:t>
            </a:r>
            <a:endParaRPr b="0" i="0" sz="2800" u="none" cap="none" strike="noStrike">
              <a:solidFill>
                <a:schemeClr val="dk1"/>
              </a:solidFill>
              <a:latin typeface="Carlito"/>
              <a:ea typeface="Carlito"/>
              <a:cs typeface="Carlito"/>
              <a:sym typeface="Carlito"/>
            </a:endParaRPr>
          </a:p>
        </p:txBody>
      </p:sp>
      <p:sp>
        <p:nvSpPr>
          <p:cNvPr id="171" name="Google Shape;171;p8"/>
          <p:cNvSpPr/>
          <p:nvPr/>
        </p:nvSpPr>
        <p:spPr>
          <a:xfrm>
            <a:off x="8407400" y="2200911"/>
            <a:ext cx="2825496" cy="4165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100"/>
              <a:buFont typeface="Carlito"/>
              <a:buNone/>
            </a:pPr>
            <a:r>
              <a:rPr b="0" i="0" lang="en-US" sz="1100" u="none" cap="none" strike="noStrike">
                <a:solidFill>
                  <a:srgbClr val="FFFFFF"/>
                </a:solidFill>
                <a:latin typeface="Carlito"/>
                <a:ea typeface="Carlito"/>
                <a:cs typeface="Carlito"/>
                <a:sym typeface="Carlito"/>
              </a:rPr>
              <a:t>of address-missing transactions now have account history</a:t>
            </a:r>
            <a:endParaRPr b="0" i="0" sz="1100" u="none" cap="none" strike="noStrike">
              <a:solidFill>
                <a:schemeClr val="dk1"/>
              </a:solidFill>
              <a:latin typeface="Carlito"/>
              <a:ea typeface="Carlito"/>
              <a:cs typeface="Carlito"/>
              <a:sym typeface="Carlito"/>
            </a:endParaRPr>
          </a:p>
        </p:txBody>
      </p:sp>
      <p:sp>
        <p:nvSpPr>
          <p:cNvPr id="172" name="Google Shape;172;p8"/>
          <p:cNvSpPr/>
          <p:nvPr/>
        </p:nvSpPr>
        <p:spPr>
          <a:xfrm>
            <a:off x="8407400" y="2719071"/>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Fraud rate = fraud ÷ transactions</a:t>
            </a:r>
            <a:endParaRPr b="0" i="0" sz="1200" u="none" cap="none" strike="noStrike">
              <a:solidFill>
                <a:schemeClr val="dk1"/>
              </a:solidFill>
              <a:latin typeface="Carlito"/>
              <a:ea typeface="Carlito"/>
              <a:cs typeface="Carlito"/>
              <a:sym typeface="Carlito"/>
            </a:endParaRPr>
          </a:p>
        </p:txBody>
      </p:sp>
      <p:sp>
        <p:nvSpPr>
          <p:cNvPr id="173" name="Google Shape;173;p8"/>
          <p:cNvSpPr/>
          <p:nvPr/>
        </p:nvSpPr>
        <p:spPr>
          <a:xfrm>
            <a:off x="8407400" y="2945132"/>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6,127 ÷ 53,761 = 11.4%</a:t>
            </a:r>
            <a:endParaRPr b="0" i="0" sz="1100" u="none" cap="none" strike="noStrike">
              <a:solidFill>
                <a:schemeClr val="dk1"/>
              </a:solidFill>
              <a:latin typeface="Carlito"/>
              <a:ea typeface="Carlito"/>
              <a:cs typeface="Carlito"/>
              <a:sym typeface="Carlito"/>
            </a:endParaRPr>
          </a:p>
        </p:txBody>
      </p:sp>
      <p:sp>
        <p:nvSpPr>
          <p:cNvPr id="174" name="Google Shape;174;p8"/>
          <p:cNvSpPr/>
          <p:nvPr/>
        </p:nvSpPr>
        <p:spPr>
          <a:xfrm>
            <a:off x="8407400" y="3267711"/>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Share of fraud = group fraud ÷ all fraud</a:t>
            </a:r>
            <a:endParaRPr b="0" i="0" sz="1200" u="none" cap="none" strike="noStrike">
              <a:solidFill>
                <a:schemeClr val="dk1"/>
              </a:solidFill>
              <a:latin typeface="Carlito"/>
              <a:ea typeface="Carlito"/>
              <a:cs typeface="Carlito"/>
              <a:sym typeface="Carlito"/>
            </a:endParaRPr>
          </a:p>
        </p:txBody>
      </p:sp>
      <p:sp>
        <p:nvSpPr>
          <p:cNvPr id="175" name="Google Shape;175;p8"/>
          <p:cNvSpPr/>
          <p:nvPr/>
        </p:nvSpPr>
        <p:spPr>
          <a:xfrm>
            <a:off x="8407400" y="3493771"/>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6,127 ÷ 16,598 = 36.9%</a:t>
            </a:r>
            <a:endParaRPr b="0" i="0" sz="1100" u="none" cap="none" strike="noStrike">
              <a:solidFill>
                <a:schemeClr val="dk1"/>
              </a:solidFill>
              <a:latin typeface="Carlito"/>
              <a:ea typeface="Carlito"/>
              <a:cs typeface="Carlito"/>
              <a:sym typeface="Carlito"/>
            </a:endParaRPr>
          </a:p>
        </p:txBody>
      </p:sp>
      <p:sp>
        <p:nvSpPr>
          <p:cNvPr id="176" name="Google Shape;176;p8"/>
          <p:cNvSpPr/>
          <p:nvPr/>
        </p:nvSpPr>
        <p:spPr>
          <a:xfrm>
            <a:off x="8407400" y="3816350"/>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Key 2 history = with history ÷ group</a:t>
            </a:r>
            <a:endParaRPr b="0" i="0" sz="1200" u="none" cap="none" strike="noStrike">
              <a:solidFill>
                <a:schemeClr val="dk1"/>
              </a:solidFill>
              <a:latin typeface="Carlito"/>
              <a:ea typeface="Carlito"/>
              <a:cs typeface="Carlito"/>
              <a:sym typeface="Carlito"/>
            </a:endParaRPr>
          </a:p>
        </p:txBody>
      </p:sp>
      <p:sp>
        <p:nvSpPr>
          <p:cNvPr id="177" name="Google Shape;177;p8"/>
          <p:cNvSpPr/>
          <p:nvPr/>
        </p:nvSpPr>
        <p:spPr>
          <a:xfrm>
            <a:off x="8407400" y="4042414"/>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31,366 ÷ 53,761 = 58.3%</a:t>
            </a:r>
            <a:endParaRPr b="0" i="0" sz="1100" u="none" cap="none" strike="noStrike">
              <a:solidFill>
                <a:schemeClr val="dk1"/>
              </a:solidFill>
              <a:latin typeface="Carlito"/>
              <a:ea typeface="Carlito"/>
              <a:cs typeface="Carlito"/>
              <a:sym typeface="Carlito"/>
            </a:endParaRPr>
          </a:p>
        </p:txBody>
      </p:sp>
      <p:sp>
        <p:nvSpPr>
          <p:cNvPr id="178" name="Google Shape;178;p8"/>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179" name="Google Shape;179;p8"/>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8</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9"/>
          <p:cNvSpPr txBox="1"/>
          <p:nvPr>
            <p:ph type="title"/>
          </p:nvPr>
        </p:nvSpPr>
        <p:spPr>
          <a:xfrm>
            <a:off x="812800" y="711200"/>
            <a:ext cx="10883392" cy="46355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Target encoding makes card2 the strongest single feature</a:t>
            </a:r>
            <a:endParaRPr sz="3000"/>
          </a:p>
        </p:txBody>
      </p:sp>
      <p:sp>
        <p:nvSpPr>
          <p:cNvPr id="186" name="Google Shape;186;p9"/>
          <p:cNvSpPr/>
          <p:nvPr/>
        </p:nvSpPr>
        <p:spPr>
          <a:xfrm>
            <a:off x="812800" y="1403350"/>
            <a:ext cx="5886450" cy="4521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Jennifer’s </a:t>
            </a:r>
            <a:r>
              <a:rPr b="1" i="0" lang="en-US" sz="1200" u="none" cap="none" strike="noStrike">
                <a:solidFill>
                  <a:srgbClr val="1F2937"/>
                </a:solidFill>
                <a:latin typeface="Carlito"/>
                <a:ea typeface="Carlito"/>
                <a:cs typeface="Carlito"/>
                <a:sym typeface="Carlito"/>
              </a:rPr>
              <a:t>target (mean) encoding</a:t>
            </a:r>
            <a:r>
              <a:rPr b="0" i="0" lang="en-US" sz="1200" u="none" cap="none" strike="noStrike">
                <a:solidFill>
                  <a:srgbClr val="1F2937"/>
                </a:solidFill>
                <a:latin typeface="Carlito"/>
                <a:ea typeface="Carlito"/>
                <a:cs typeface="Carlito"/>
                <a:sym typeface="Carlito"/>
              </a:rPr>
              <a:t> replaces each category with its smoothed training fraud rate, using only earlier time folds for training rows.</a:t>
            </a:r>
            <a:endParaRPr b="0" i="0" sz="1200" u="none" cap="none" strike="noStrike">
              <a:solidFill>
                <a:schemeClr val="dk1"/>
              </a:solidFill>
              <a:latin typeface="Carlito"/>
              <a:ea typeface="Carlito"/>
              <a:cs typeface="Carlito"/>
              <a:sym typeface="Carlito"/>
            </a:endParaRPr>
          </a:p>
        </p:txBody>
      </p:sp>
      <p:cxnSp>
        <p:nvCxnSpPr>
          <p:cNvPr id="187" name="Google Shape;187;p9"/>
          <p:cNvCxnSpPr/>
          <p:nvPr/>
        </p:nvCxnSpPr>
        <p:spPr>
          <a:xfrm>
            <a:off x="6524625" y="1957071"/>
            <a:ext cx="0" cy="1336040"/>
          </a:xfrm>
          <a:prstGeom prst="straightConnector1">
            <a:avLst/>
          </a:prstGeom>
          <a:noFill/>
          <a:ln cap="flat" cmpd="sng" w="9525">
            <a:solidFill>
              <a:srgbClr val="D8DEE8"/>
            </a:solidFill>
            <a:prstDash val="solid"/>
            <a:round/>
            <a:headEnd len="sm" w="sm" type="none"/>
            <a:tailEnd len="sm" w="sm" type="none"/>
          </a:ln>
        </p:spPr>
      </p:cxnSp>
      <p:cxnSp>
        <p:nvCxnSpPr>
          <p:cNvPr id="188" name="Google Shape;188;p9"/>
          <p:cNvCxnSpPr/>
          <p:nvPr/>
        </p:nvCxnSpPr>
        <p:spPr>
          <a:xfrm>
            <a:off x="812800" y="3289936"/>
            <a:ext cx="5715000" cy="0"/>
          </a:xfrm>
          <a:prstGeom prst="straightConnector1">
            <a:avLst/>
          </a:prstGeom>
          <a:noFill/>
          <a:ln cap="flat" cmpd="sng" w="9525">
            <a:solidFill>
              <a:srgbClr val="D8DEE8"/>
            </a:solidFill>
            <a:prstDash val="solid"/>
            <a:round/>
            <a:headEnd len="sm" w="sm" type="none"/>
            <a:tailEnd len="sm" w="sm" type="none"/>
          </a:ln>
        </p:spPr>
      </p:cxnSp>
      <p:graphicFrame>
        <p:nvGraphicFramePr>
          <p:cNvPr id="189" name="Google Shape;189;p9"/>
          <p:cNvGraphicFramePr/>
          <p:nvPr/>
        </p:nvGraphicFramePr>
        <p:xfrm>
          <a:off x="822960" y="1967231"/>
          <a:ext cx="3000000" cy="3000000"/>
        </p:xfrm>
        <a:graphic>
          <a:graphicData uri="http://schemas.openxmlformats.org/drawingml/2006/table">
            <a:tbl>
              <a:tblPr>
                <a:noFill/>
                <a:tableStyleId>{B1428F95-D982-4F4E-99CC-6B386F8E9489}</a:tableStyleId>
              </a:tblPr>
              <a:tblGrid>
                <a:gridCol w="2279900"/>
                <a:gridCol w="1709925"/>
                <a:gridCol w="1709925"/>
              </a:tblGrid>
              <a:tr h="330200">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Encoded column</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Stability</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Validation AUC</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te_card2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0.48</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0.728</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te_R_emaildomain</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0.68</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0.683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te_P_emaildomain</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0.31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0.589</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190" name="Google Shape;190;p9"/>
          <p:cNvSpPr/>
          <p:nvPr/>
        </p:nvSpPr>
        <p:spPr>
          <a:xfrm>
            <a:off x="812800" y="3420114"/>
            <a:ext cx="2794000" cy="1507490"/>
          </a:xfrm>
          <a:prstGeom prst="roundRect">
            <a:avLst>
              <a:gd fmla="val 5055"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990600" y="3572514"/>
            <a:ext cx="2511552"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100"/>
              <a:buFont typeface="Carlito"/>
              <a:buNone/>
            </a:pPr>
            <a:r>
              <a:rPr b="1" i="0" lang="en-US" sz="1100" u="none" cap="none" strike="noStrike">
                <a:solidFill>
                  <a:srgbClr val="FFFFFF"/>
                </a:solidFill>
                <a:latin typeface="Carlito"/>
                <a:ea typeface="Carlito"/>
                <a:cs typeface="Carlito"/>
                <a:sym typeface="Carlito"/>
              </a:rPr>
              <a:t>Stability: Spearman rank correlation</a:t>
            </a:r>
            <a:endParaRPr b="0" i="0" sz="1100" u="none" cap="none" strike="noStrike">
              <a:solidFill>
                <a:schemeClr val="dk1"/>
              </a:solidFill>
              <a:latin typeface="Carlito"/>
              <a:ea typeface="Carlito"/>
              <a:cs typeface="Carlito"/>
              <a:sym typeface="Carlito"/>
            </a:endParaRPr>
          </a:p>
        </p:txBody>
      </p:sp>
      <p:sp>
        <p:nvSpPr>
          <p:cNvPr id="192" name="Google Shape;192;p9"/>
          <p:cNvSpPr/>
          <p:nvPr/>
        </p:nvSpPr>
        <p:spPr>
          <a:xfrm>
            <a:off x="990600" y="3818892"/>
            <a:ext cx="2511552"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100"/>
              <a:buFont typeface="Carlito"/>
              <a:buNone/>
            </a:pPr>
            <a:r>
              <a:rPr b="0" i="0" lang="en-US" sz="1100" u="none" cap="none" strike="noStrike">
                <a:solidFill>
                  <a:srgbClr val="FF8A8A"/>
                </a:solidFill>
                <a:latin typeface="Carlito"/>
                <a:ea typeface="Carlito"/>
                <a:cs typeface="Carlito"/>
                <a:sym typeface="Carlito"/>
              </a:rPr>
              <a:t>1 − (6 × sum of d·d) ÷ (m × (m × m − 1))</a:t>
            </a:r>
            <a:endParaRPr b="0" i="0" sz="1100" u="none" cap="none" strike="noStrike">
              <a:solidFill>
                <a:schemeClr val="dk1"/>
              </a:solidFill>
              <a:latin typeface="Carlito"/>
              <a:ea typeface="Carlito"/>
              <a:cs typeface="Carlito"/>
              <a:sym typeface="Carlito"/>
            </a:endParaRPr>
          </a:p>
        </p:txBody>
      </p:sp>
      <p:sp>
        <p:nvSpPr>
          <p:cNvPr id="193" name="Google Shape;193;p9"/>
          <p:cNvSpPr/>
          <p:nvPr/>
        </p:nvSpPr>
        <p:spPr>
          <a:xfrm>
            <a:off x="990600" y="4065271"/>
            <a:ext cx="2511552" cy="7112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000"/>
              <a:buFont typeface="Carlito"/>
              <a:buNone/>
            </a:pPr>
            <a:r>
              <a:rPr b="0" i="0" lang="en-US" sz="1000" u="none" cap="none" strike="noStrike">
                <a:solidFill>
                  <a:srgbClr val="C9D1E0"/>
                </a:solidFill>
                <a:latin typeface="Carlito"/>
                <a:ea typeface="Carlito"/>
                <a:cs typeface="Carlito"/>
                <a:sym typeface="Carlito"/>
              </a:rPr>
              <a:t>d = a category’s rank in half 1 minus its rank in half 2; m = number of categories. Ranks 1, 2, 3, 4 become 1, 3, 2, 4: d = 0, −1, 1, 0, so sum of d·d = 2 and 1 − (6 × 2) ÷ (4 × 15) = 0.80.</a:t>
            </a:r>
            <a:endParaRPr b="0" i="0" sz="1000" u="none" cap="none" strike="noStrike">
              <a:solidFill>
                <a:schemeClr val="dk1"/>
              </a:solidFill>
              <a:latin typeface="Carlito"/>
              <a:ea typeface="Carlito"/>
              <a:cs typeface="Carlito"/>
              <a:sym typeface="Carlito"/>
            </a:endParaRPr>
          </a:p>
        </p:txBody>
      </p:sp>
      <p:sp>
        <p:nvSpPr>
          <p:cNvPr id="194" name="Google Shape;194;p9"/>
          <p:cNvSpPr/>
          <p:nvPr/>
        </p:nvSpPr>
        <p:spPr>
          <a:xfrm>
            <a:off x="3733800" y="3420114"/>
            <a:ext cx="2794000" cy="1507490"/>
          </a:xfrm>
          <a:prstGeom prst="roundRect">
            <a:avLst>
              <a:gd fmla="val 5055"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3911600" y="3572514"/>
            <a:ext cx="2511552"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100"/>
              <a:buFont typeface="Carlito"/>
              <a:buNone/>
            </a:pPr>
            <a:r>
              <a:rPr b="1" i="0" lang="en-US" sz="1100" u="none" cap="none" strike="noStrike">
                <a:solidFill>
                  <a:srgbClr val="FFFFFF"/>
                </a:solidFill>
                <a:latin typeface="Carlito"/>
                <a:ea typeface="Carlito"/>
                <a:cs typeface="Carlito"/>
                <a:sym typeface="Carlito"/>
              </a:rPr>
              <a:t>AUC: ranking quality</a:t>
            </a:r>
            <a:endParaRPr b="0" i="0" sz="1100" u="none" cap="none" strike="noStrike">
              <a:solidFill>
                <a:schemeClr val="dk1"/>
              </a:solidFill>
              <a:latin typeface="Carlito"/>
              <a:ea typeface="Carlito"/>
              <a:cs typeface="Carlito"/>
              <a:sym typeface="Carlito"/>
            </a:endParaRPr>
          </a:p>
        </p:txBody>
      </p:sp>
      <p:sp>
        <p:nvSpPr>
          <p:cNvPr id="196" name="Google Shape;196;p9"/>
          <p:cNvSpPr/>
          <p:nvPr/>
        </p:nvSpPr>
        <p:spPr>
          <a:xfrm>
            <a:off x="3911600" y="3818892"/>
            <a:ext cx="2511552" cy="4165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100"/>
              <a:buFont typeface="Carlito"/>
              <a:buNone/>
            </a:pPr>
            <a:r>
              <a:rPr b="0" i="0" lang="en-US" sz="1100" u="none" cap="none" strike="noStrike">
                <a:solidFill>
                  <a:srgbClr val="FF8A8A"/>
                </a:solidFill>
                <a:latin typeface="Carlito"/>
                <a:ea typeface="Carlito"/>
                <a:cs typeface="Carlito"/>
                <a:sym typeface="Carlito"/>
              </a:rPr>
              <a:t>pairs where fraud scores higher ÷ all fraud–legit pairs</a:t>
            </a:r>
            <a:endParaRPr b="0" i="0" sz="1100" u="none" cap="none" strike="noStrike">
              <a:solidFill>
                <a:schemeClr val="dk1"/>
              </a:solidFill>
              <a:latin typeface="Carlito"/>
              <a:ea typeface="Carlito"/>
              <a:cs typeface="Carlito"/>
              <a:sym typeface="Carlito"/>
            </a:endParaRPr>
          </a:p>
        </p:txBody>
      </p:sp>
      <p:sp>
        <p:nvSpPr>
          <p:cNvPr id="197" name="Google Shape;197;p9"/>
          <p:cNvSpPr/>
          <p:nvPr/>
        </p:nvSpPr>
        <p:spPr>
          <a:xfrm>
            <a:off x="3911600" y="4260850"/>
            <a:ext cx="2511552" cy="5397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000"/>
              <a:buFont typeface="Carlito"/>
              <a:buNone/>
            </a:pPr>
            <a:r>
              <a:rPr b="0" i="0" lang="en-US" sz="1000" u="none" cap="none" strike="noStrike">
                <a:solidFill>
                  <a:srgbClr val="C9D1E0"/>
                </a:solidFill>
                <a:latin typeface="Carlito"/>
                <a:ea typeface="Carlito"/>
                <a:cs typeface="Carlito"/>
                <a:sym typeface="Carlito"/>
              </a:rPr>
              <a:t>Validation: 1,851 × 57,203 ≈ 105.9M pairs. te_card2 ranks the fraud higher in 72.8%. Ties count half.</a:t>
            </a:r>
            <a:endParaRPr b="0" i="0" sz="1000" u="none" cap="none" strike="noStrike">
              <a:solidFill>
                <a:schemeClr val="dk1"/>
              </a:solidFill>
              <a:latin typeface="Carlito"/>
              <a:ea typeface="Carlito"/>
              <a:cs typeface="Carlito"/>
              <a:sym typeface="Carlito"/>
            </a:endParaRPr>
          </a:p>
        </p:txBody>
      </p:sp>
      <p:sp>
        <p:nvSpPr>
          <p:cNvPr id="198" name="Google Shape;198;p9"/>
          <p:cNvSpPr/>
          <p:nvPr/>
        </p:nvSpPr>
        <p:spPr>
          <a:xfrm>
            <a:off x="812800" y="5054600"/>
            <a:ext cx="5886450" cy="203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000"/>
              <a:buFont typeface="Carlito"/>
              <a:buNone/>
            </a:pPr>
            <a:r>
              <a:rPr b="0" i="0" lang="en-US" sz="1000" u="none" cap="none" strike="noStrike">
                <a:solidFill>
                  <a:srgbClr val="5B6475"/>
                </a:solidFill>
                <a:latin typeface="Carlito"/>
                <a:ea typeface="Carlito"/>
                <a:cs typeface="Carlito"/>
                <a:sym typeface="Carlito"/>
              </a:rPr>
              <a:t>addr1 is left out because its ranking drifts (0.38 across four training periods).</a:t>
            </a:r>
            <a:endParaRPr b="0" i="0" sz="1000" u="none" cap="none" strike="noStrike">
              <a:solidFill>
                <a:schemeClr val="dk1"/>
              </a:solidFill>
              <a:latin typeface="Carlito"/>
              <a:ea typeface="Carlito"/>
              <a:cs typeface="Carlito"/>
              <a:sym typeface="Carlito"/>
            </a:endParaRPr>
          </a:p>
        </p:txBody>
      </p:sp>
      <p:sp>
        <p:nvSpPr>
          <p:cNvPr id="199" name="Google Shape;199;p9"/>
          <p:cNvSpPr/>
          <p:nvPr/>
        </p:nvSpPr>
        <p:spPr>
          <a:xfrm>
            <a:off x="6832600" y="1403350"/>
            <a:ext cx="4682998"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Plus 32 account-behavior features on both keys</a:t>
            </a:r>
            <a:endParaRPr b="0" i="0" sz="1300" u="none" cap="none" strike="noStrike">
              <a:solidFill>
                <a:schemeClr val="dk1"/>
              </a:solidFill>
              <a:latin typeface="Carlito"/>
              <a:ea typeface="Carlito"/>
              <a:cs typeface="Carlito"/>
              <a:sym typeface="Carlito"/>
            </a:endParaRPr>
          </a:p>
        </p:txBody>
      </p:sp>
      <p:sp>
        <p:nvSpPr>
          <p:cNvPr id="200" name="Google Shape;200;p9"/>
          <p:cNvSpPr/>
          <p:nvPr/>
        </p:nvSpPr>
        <p:spPr>
          <a:xfrm>
            <a:off x="6832600" y="1736092"/>
            <a:ext cx="4546600" cy="762000"/>
          </a:xfrm>
          <a:prstGeom prst="roundRect">
            <a:avLst>
              <a:gd fmla="val 10000"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7010400" y="1875792"/>
            <a:ext cx="4316730"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Repeat amount · 0.612</a:t>
            </a:r>
            <a:endParaRPr b="0" i="0" sz="1300" u="none" cap="none" strike="noStrike">
              <a:solidFill>
                <a:schemeClr val="dk1"/>
              </a:solidFill>
              <a:latin typeface="Carlito"/>
              <a:ea typeface="Carlito"/>
              <a:cs typeface="Carlito"/>
              <a:sym typeface="Carlito"/>
            </a:endParaRPr>
          </a:p>
        </p:txBody>
      </p:sp>
      <p:sp>
        <p:nvSpPr>
          <p:cNvPr id="202" name="Google Shape;202;p9"/>
          <p:cNvSpPr/>
          <p:nvPr/>
        </p:nvSpPr>
        <p:spPr>
          <a:xfrm>
            <a:off x="7010400" y="2145029"/>
            <a:ext cx="431673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Same exact amount paid before</a:t>
            </a:r>
            <a:endParaRPr b="0" i="0" sz="1200" u="none" cap="none" strike="noStrike">
              <a:solidFill>
                <a:schemeClr val="dk1"/>
              </a:solidFill>
              <a:latin typeface="Carlito"/>
              <a:ea typeface="Carlito"/>
              <a:cs typeface="Carlito"/>
              <a:sym typeface="Carlito"/>
            </a:endParaRPr>
          </a:p>
        </p:txBody>
      </p:sp>
      <p:sp>
        <p:nvSpPr>
          <p:cNvPr id="203" name="Google Shape;203;p9"/>
          <p:cNvSpPr/>
          <p:nvPr/>
        </p:nvSpPr>
        <p:spPr>
          <a:xfrm>
            <a:off x="6832600" y="2599692"/>
            <a:ext cx="4546600" cy="762000"/>
          </a:xfrm>
          <a:prstGeom prst="roundRect">
            <a:avLst>
              <a:gd fmla="val 10000"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7010400" y="2739392"/>
            <a:ext cx="4316730"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Velocity · 0.601</a:t>
            </a:r>
            <a:endParaRPr b="0" i="0" sz="1300" u="none" cap="none" strike="noStrike">
              <a:solidFill>
                <a:schemeClr val="dk1"/>
              </a:solidFill>
              <a:latin typeface="Carlito"/>
              <a:ea typeface="Carlito"/>
              <a:cs typeface="Carlito"/>
              <a:sym typeface="Carlito"/>
            </a:endParaRPr>
          </a:p>
        </p:txBody>
      </p:sp>
      <p:sp>
        <p:nvSpPr>
          <p:cNvPr id="205" name="Google Shape;205;p9"/>
          <p:cNvSpPr/>
          <p:nvPr/>
        </p:nvSpPr>
        <p:spPr>
          <a:xfrm>
            <a:off x="7010400" y="3008629"/>
            <a:ext cx="431673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Last hour, day, week and month</a:t>
            </a:r>
            <a:endParaRPr b="0" i="0" sz="1200" u="none" cap="none" strike="noStrike">
              <a:solidFill>
                <a:schemeClr val="dk1"/>
              </a:solidFill>
              <a:latin typeface="Carlito"/>
              <a:ea typeface="Carlito"/>
              <a:cs typeface="Carlito"/>
              <a:sym typeface="Carlito"/>
            </a:endParaRPr>
          </a:p>
        </p:txBody>
      </p:sp>
      <p:sp>
        <p:nvSpPr>
          <p:cNvPr id="206" name="Google Shape;206;p9"/>
          <p:cNvSpPr/>
          <p:nvPr/>
        </p:nvSpPr>
        <p:spPr>
          <a:xfrm>
            <a:off x="6832600" y="3463292"/>
            <a:ext cx="4546600" cy="762000"/>
          </a:xfrm>
          <a:prstGeom prst="roundRect">
            <a:avLst>
              <a:gd fmla="val 10000"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7010400" y="3602992"/>
            <a:ext cx="4316730"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Amount deviation · 0.585</a:t>
            </a:r>
            <a:endParaRPr b="0" i="0" sz="1300" u="none" cap="none" strike="noStrike">
              <a:solidFill>
                <a:schemeClr val="dk1"/>
              </a:solidFill>
              <a:latin typeface="Carlito"/>
              <a:ea typeface="Carlito"/>
              <a:cs typeface="Carlito"/>
              <a:sym typeface="Carlito"/>
            </a:endParaRPr>
          </a:p>
        </p:txBody>
      </p:sp>
      <p:sp>
        <p:nvSpPr>
          <p:cNvPr id="208" name="Google Shape;208;p9"/>
          <p:cNvSpPr/>
          <p:nvPr/>
        </p:nvSpPr>
        <p:spPr>
          <a:xfrm>
            <a:off x="7010400" y="3872229"/>
            <a:ext cx="431673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Unusual for this account, new record</a:t>
            </a:r>
            <a:endParaRPr b="0" i="0" sz="1200" u="none" cap="none" strike="noStrike">
              <a:solidFill>
                <a:schemeClr val="dk1"/>
              </a:solidFill>
              <a:latin typeface="Carlito"/>
              <a:ea typeface="Carlito"/>
              <a:cs typeface="Carlito"/>
              <a:sym typeface="Carlito"/>
            </a:endParaRPr>
          </a:p>
        </p:txBody>
      </p:sp>
      <p:sp>
        <p:nvSpPr>
          <p:cNvPr id="209" name="Google Shape;209;p9"/>
          <p:cNvSpPr/>
          <p:nvPr/>
        </p:nvSpPr>
        <p:spPr>
          <a:xfrm>
            <a:off x="6832600" y="4326892"/>
            <a:ext cx="4546600" cy="762000"/>
          </a:xfrm>
          <a:prstGeom prst="roundRect">
            <a:avLst>
              <a:gd fmla="val 10000"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7010400" y="4466592"/>
            <a:ext cx="4316730"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New value · 0.581</a:t>
            </a:r>
            <a:endParaRPr b="0" i="0" sz="1300" u="none" cap="none" strike="noStrike">
              <a:solidFill>
                <a:schemeClr val="dk1"/>
              </a:solidFill>
              <a:latin typeface="Carlito"/>
              <a:ea typeface="Carlito"/>
              <a:cs typeface="Carlito"/>
              <a:sym typeface="Carlito"/>
            </a:endParaRPr>
          </a:p>
        </p:txBody>
      </p:sp>
      <p:sp>
        <p:nvSpPr>
          <p:cNvPr id="211" name="Google Shape;211;p9"/>
          <p:cNvSpPr/>
          <p:nvPr/>
        </p:nvSpPr>
        <p:spPr>
          <a:xfrm>
            <a:off x="7010400" y="4735829"/>
            <a:ext cx="431673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Device, email or address never used</a:t>
            </a:r>
            <a:endParaRPr b="0" i="0" sz="1200" u="none" cap="none" strike="noStrike">
              <a:solidFill>
                <a:schemeClr val="dk1"/>
              </a:solidFill>
              <a:latin typeface="Carlito"/>
              <a:ea typeface="Carlito"/>
              <a:cs typeface="Carlito"/>
              <a:sym typeface="Carlito"/>
            </a:endParaRPr>
          </a:p>
        </p:txBody>
      </p:sp>
      <p:sp>
        <p:nvSpPr>
          <p:cNvPr id="212" name="Google Shape;212;p9"/>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213" name="Google Shape;213;p9"/>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9</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10"/>
          <p:cNvSpPr txBox="1"/>
          <p:nvPr>
            <p:ph type="title"/>
          </p:nvPr>
        </p:nvSpPr>
        <p:spPr>
          <a:xfrm>
            <a:off x="812800" y="711200"/>
            <a:ext cx="10883392" cy="46355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How the fraud rates behind target encoding are calculated</a:t>
            </a:r>
            <a:endParaRPr sz="3000"/>
          </a:p>
        </p:txBody>
      </p:sp>
      <p:sp>
        <p:nvSpPr>
          <p:cNvPr id="220" name="Google Shape;220;p10"/>
          <p:cNvSpPr/>
          <p:nvPr/>
        </p:nvSpPr>
        <p:spPr>
          <a:xfrm>
            <a:off x="812800" y="1377950"/>
            <a:ext cx="6959092"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One column’s categories in the first half of training (illustrative numbers):</a:t>
            </a:r>
            <a:endParaRPr b="0" i="0" sz="1200" u="none" cap="none" strike="noStrike">
              <a:solidFill>
                <a:schemeClr val="dk1"/>
              </a:solidFill>
              <a:latin typeface="Carlito"/>
              <a:ea typeface="Carlito"/>
              <a:cs typeface="Carlito"/>
              <a:sym typeface="Carlito"/>
            </a:endParaRPr>
          </a:p>
        </p:txBody>
      </p:sp>
      <p:cxnSp>
        <p:nvCxnSpPr>
          <p:cNvPr id="221" name="Google Shape;221;p10"/>
          <p:cNvCxnSpPr/>
          <p:nvPr/>
        </p:nvCxnSpPr>
        <p:spPr>
          <a:xfrm>
            <a:off x="7566025" y="1718314"/>
            <a:ext cx="0" cy="2209800"/>
          </a:xfrm>
          <a:prstGeom prst="straightConnector1">
            <a:avLst/>
          </a:prstGeom>
          <a:noFill/>
          <a:ln cap="flat" cmpd="sng" w="9525">
            <a:solidFill>
              <a:srgbClr val="D8DEE8"/>
            </a:solidFill>
            <a:prstDash val="solid"/>
            <a:round/>
            <a:headEnd len="sm" w="sm" type="none"/>
            <a:tailEnd len="sm" w="sm" type="none"/>
          </a:ln>
        </p:spPr>
      </p:cxnSp>
      <p:cxnSp>
        <p:nvCxnSpPr>
          <p:cNvPr id="222" name="Google Shape;222;p10"/>
          <p:cNvCxnSpPr/>
          <p:nvPr/>
        </p:nvCxnSpPr>
        <p:spPr>
          <a:xfrm>
            <a:off x="812800" y="3924939"/>
            <a:ext cx="6756400" cy="0"/>
          </a:xfrm>
          <a:prstGeom prst="straightConnector1">
            <a:avLst/>
          </a:prstGeom>
          <a:noFill/>
          <a:ln cap="flat" cmpd="sng" w="9525">
            <a:solidFill>
              <a:srgbClr val="D8DEE8"/>
            </a:solidFill>
            <a:prstDash val="solid"/>
            <a:round/>
            <a:headEnd len="sm" w="sm" type="none"/>
            <a:tailEnd len="sm" w="sm" type="none"/>
          </a:ln>
        </p:spPr>
      </p:cxnSp>
      <p:graphicFrame>
        <p:nvGraphicFramePr>
          <p:cNvPr id="223" name="Google Shape;223;p10"/>
          <p:cNvGraphicFramePr/>
          <p:nvPr/>
        </p:nvGraphicFramePr>
        <p:xfrm>
          <a:off x="822960" y="1728474"/>
          <a:ext cx="3000000" cy="3000000"/>
        </p:xfrm>
        <a:graphic>
          <a:graphicData uri="http://schemas.openxmlformats.org/drawingml/2006/table">
            <a:tbl>
              <a:tblPr>
                <a:noFill/>
                <a:tableStyleId>{B1428F95-D982-4F4E-99CC-6B386F8E9489}</a:tableStyleId>
              </a:tblPr>
              <a:tblGrid>
                <a:gridCol w="741525"/>
                <a:gridCol w="1011175"/>
                <a:gridCol w="741525"/>
                <a:gridCol w="943750"/>
                <a:gridCol w="1011175"/>
                <a:gridCol w="1146000"/>
                <a:gridCol w="1146000"/>
              </a:tblGrid>
              <a:tr h="543550">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Category</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Transactions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Share of 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Encoding</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Second-half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A</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9.0%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8.8%</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8.1%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B</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84</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4.2%</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37.3%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4.2%</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4.9%</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C</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3,000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26.7%</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2.6%</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D</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4,500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36</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0.8%</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16.0%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0.8%</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Total</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225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2.25%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chemeClr val="dk1"/>
                        </a:buClr>
                        <a:buSzPts val="1200"/>
                        <a:buFont typeface="Carlito"/>
                        <a:buNone/>
                      </a:pPr>
                      <a:r>
                        <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chemeClr val="dk1"/>
                        </a:buClr>
                        <a:buSzPts val="1200"/>
                        <a:buFont typeface="Carlito"/>
                        <a:buNone/>
                      </a:pPr>
                      <a:r>
                        <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224" name="Google Shape;224;p10"/>
          <p:cNvSpPr/>
          <p:nvPr/>
        </p:nvSpPr>
        <p:spPr>
          <a:xfrm>
            <a:off x="812800" y="4055114"/>
            <a:ext cx="6959092" cy="4521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Stability:</a:t>
            </a:r>
            <a:r>
              <a:rPr b="0" i="0" lang="en-US" sz="1200" u="none" cap="none" strike="noStrike">
                <a:solidFill>
                  <a:srgbClr val="5B6475"/>
                </a:solidFill>
                <a:latin typeface="Carlito"/>
                <a:ea typeface="Carlito"/>
                <a:cs typeface="Carlito"/>
                <a:sym typeface="Carlito"/>
              </a:rPr>
              <a:t> A, B, C, D keep the same order in both halves, so the rank correlation is 1.0. Real results: R_emaildomain 0.68, card2 0.48, P_emaildomain 0.31.</a:t>
            </a:r>
            <a:endParaRPr b="0" i="0" sz="1200" u="none" cap="none" strike="noStrike">
              <a:solidFill>
                <a:schemeClr val="dk1"/>
              </a:solidFill>
              <a:latin typeface="Carlito"/>
              <a:ea typeface="Carlito"/>
              <a:cs typeface="Carlito"/>
              <a:sym typeface="Carlito"/>
            </a:endParaRPr>
          </a:p>
        </p:txBody>
      </p:sp>
      <p:sp>
        <p:nvSpPr>
          <p:cNvPr id="225" name="Google Shape;225;p10"/>
          <p:cNvSpPr/>
          <p:nvPr/>
        </p:nvSpPr>
        <p:spPr>
          <a:xfrm>
            <a:off x="7874000" y="1377950"/>
            <a:ext cx="3505200" cy="4340860"/>
          </a:xfrm>
          <a:prstGeom prst="roundRect">
            <a:avLst>
              <a:gd fmla="val 2899"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8102600" y="1581150"/>
            <a:ext cx="3139440"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300"/>
              <a:buFont typeface="Carlito"/>
              <a:buNone/>
            </a:pPr>
            <a:r>
              <a:rPr b="1" i="0" lang="en-US" sz="1300" u="none" cap="none" strike="noStrike">
                <a:solidFill>
                  <a:srgbClr val="FFFFFF"/>
                </a:solidFill>
                <a:latin typeface="Carlito"/>
                <a:ea typeface="Carlito"/>
                <a:cs typeface="Carlito"/>
                <a:sym typeface="Carlito"/>
              </a:rPr>
              <a:t>Fraud rate</a:t>
            </a:r>
            <a:endParaRPr b="0" i="0" sz="1300" u="none" cap="none" strike="noStrike">
              <a:solidFill>
                <a:schemeClr val="dk1"/>
              </a:solidFill>
              <a:latin typeface="Carlito"/>
              <a:ea typeface="Carlito"/>
              <a:cs typeface="Carlito"/>
              <a:sym typeface="Carlito"/>
            </a:endParaRPr>
          </a:p>
        </p:txBody>
      </p:sp>
      <p:sp>
        <p:nvSpPr>
          <p:cNvPr id="227" name="Google Shape;227;p10"/>
          <p:cNvSpPr/>
          <p:nvPr/>
        </p:nvSpPr>
        <p:spPr>
          <a:xfrm>
            <a:off x="8102600" y="1850392"/>
            <a:ext cx="3139440"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400"/>
              <a:buFont typeface="Caladea"/>
              <a:buNone/>
            </a:pPr>
            <a:r>
              <a:rPr b="0" i="0" lang="en-US" sz="1400" u="none" cap="none" strike="noStrike">
                <a:solidFill>
                  <a:srgbClr val="FF8A8A"/>
                </a:solidFill>
                <a:latin typeface="Caladea"/>
                <a:ea typeface="Caladea"/>
                <a:cs typeface="Caladea"/>
                <a:sym typeface="Caladea"/>
              </a:rPr>
              <a:t>fraud ÷ transactions</a:t>
            </a:r>
            <a:endParaRPr b="0" i="0" sz="1400" u="none" cap="none" strike="noStrike">
              <a:solidFill>
                <a:schemeClr val="dk1"/>
              </a:solidFill>
              <a:latin typeface="Carlito"/>
              <a:ea typeface="Carlito"/>
              <a:cs typeface="Carlito"/>
              <a:sym typeface="Carlito"/>
            </a:endParaRPr>
          </a:p>
        </p:txBody>
      </p:sp>
      <p:sp>
        <p:nvSpPr>
          <p:cNvPr id="228" name="Google Shape;228;p10"/>
          <p:cNvSpPr/>
          <p:nvPr/>
        </p:nvSpPr>
        <p:spPr>
          <a:xfrm>
            <a:off x="8102600" y="2137414"/>
            <a:ext cx="3139440"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A: 45 ÷ 500 = 9.0%</a:t>
            </a:r>
            <a:endParaRPr b="0" i="0" sz="1100" u="none" cap="none" strike="noStrike">
              <a:solidFill>
                <a:schemeClr val="dk1"/>
              </a:solidFill>
              <a:latin typeface="Carlito"/>
              <a:ea typeface="Carlito"/>
              <a:cs typeface="Carlito"/>
              <a:sym typeface="Carlito"/>
            </a:endParaRPr>
          </a:p>
        </p:txBody>
      </p:sp>
      <p:sp>
        <p:nvSpPr>
          <p:cNvPr id="229" name="Google Shape;229;p10"/>
          <p:cNvSpPr/>
          <p:nvPr/>
        </p:nvSpPr>
        <p:spPr>
          <a:xfrm>
            <a:off x="8102600" y="2434592"/>
            <a:ext cx="3139440"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300"/>
              <a:buFont typeface="Carlito"/>
              <a:buNone/>
            </a:pPr>
            <a:r>
              <a:rPr b="1" i="0" lang="en-US" sz="1300" u="none" cap="none" strike="noStrike">
                <a:solidFill>
                  <a:srgbClr val="FFFFFF"/>
                </a:solidFill>
                <a:latin typeface="Carlito"/>
                <a:ea typeface="Carlito"/>
                <a:cs typeface="Carlito"/>
                <a:sym typeface="Carlito"/>
              </a:rPr>
              <a:t>Share of fraud</a:t>
            </a:r>
            <a:endParaRPr b="0" i="0" sz="1300" u="none" cap="none" strike="noStrike">
              <a:solidFill>
                <a:schemeClr val="dk1"/>
              </a:solidFill>
              <a:latin typeface="Carlito"/>
              <a:ea typeface="Carlito"/>
              <a:cs typeface="Carlito"/>
              <a:sym typeface="Carlito"/>
            </a:endParaRPr>
          </a:p>
        </p:txBody>
      </p:sp>
      <p:sp>
        <p:nvSpPr>
          <p:cNvPr id="230" name="Google Shape;230;p10"/>
          <p:cNvSpPr/>
          <p:nvPr/>
        </p:nvSpPr>
        <p:spPr>
          <a:xfrm>
            <a:off x="8102600" y="2703829"/>
            <a:ext cx="3139440"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400"/>
              <a:buFont typeface="Caladea"/>
              <a:buNone/>
            </a:pPr>
            <a:r>
              <a:rPr b="0" i="0" lang="en-US" sz="1400" u="none" cap="none" strike="noStrike">
                <a:solidFill>
                  <a:srgbClr val="FF8A8A"/>
                </a:solidFill>
                <a:latin typeface="Caladea"/>
                <a:ea typeface="Caladea"/>
                <a:cs typeface="Caladea"/>
                <a:sym typeface="Caladea"/>
              </a:rPr>
              <a:t>category fraud ÷ all fraud</a:t>
            </a:r>
            <a:endParaRPr b="0" i="0" sz="1400" u="none" cap="none" strike="noStrike">
              <a:solidFill>
                <a:schemeClr val="dk1"/>
              </a:solidFill>
              <a:latin typeface="Carlito"/>
              <a:ea typeface="Carlito"/>
              <a:cs typeface="Carlito"/>
              <a:sym typeface="Carlito"/>
            </a:endParaRPr>
          </a:p>
        </p:txBody>
      </p:sp>
      <p:sp>
        <p:nvSpPr>
          <p:cNvPr id="231" name="Google Shape;231;p10"/>
          <p:cNvSpPr/>
          <p:nvPr/>
        </p:nvSpPr>
        <p:spPr>
          <a:xfrm>
            <a:off x="8102600" y="2990850"/>
            <a:ext cx="3139440"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A: 45 ÷ 225 = 20.0%</a:t>
            </a:r>
            <a:endParaRPr b="0" i="0" sz="1100" u="none" cap="none" strike="noStrike">
              <a:solidFill>
                <a:schemeClr val="dk1"/>
              </a:solidFill>
              <a:latin typeface="Carlito"/>
              <a:ea typeface="Carlito"/>
              <a:cs typeface="Carlito"/>
              <a:sym typeface="Carlito"/>
            </a:endParaRPr>
          </a:p>
        </p:txBody>
      </p:sp>
      <p:sp>
        <p:nvSpPr>
          <p:cNvPr id="232" name="Google Shape;232;p10"/>
          <p:cNvSpPr/>
          <p:nvPr/>
        </p:nvSpPr>
        <p:spPr>
          <a:xfrm>
            <a:off x="8102600" y="3288029"/>
            <a:ext cx="313944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200"/>
              <a:buFont typeface="Carlito"/>
              <a:buNone/>
            </a:pPr>
            <a:r>
              <a:rPr b="1" i="0" lang="en-US" sz="1200" u="none" cap="none" strike="noStrike">
                <a:solidFill>
                  <a:srgbClr val="FFFFFF"/>
                </a:solidFill>
                <a:latin typeface="Carlito"/>
                <a:ea typeface="Carlito"/>
                <a:cs typeface="Carlito"/>
                <a:sym typeface="Carlito"/>
              </a:rPr>
              <a:t>Encoding: the general smoothed rate</a:t>
            </a:r>
            <a:endParaRPr b="0" i="0" sz="1200" u="none" cap="none" strike="noStrike">
              <a:solidFill>
                <a:schemeClr val="dk1"/>
              </a:solidFill>
              <a:latin typeface="Carlito"/>
              <a:ea typeface="Carlito"/>
              <a:cs typeface="Carlito"/>
              <a:sym typeface="Carlito"/>
            </a:endParaRPr>
          </a:p>
        </p:txBody>
      </p:sp>
      <p:sp>
        <p:nvSpPr>
          <p:cNvPr id="233" name="Google Shape;233;p10"/>
          <p:cNvSpPr/>
          <p:nvPr/>
        </p:nvSpPr>
        <p:spPr>
          <a:xfrm>
            <a:off x="8102600" y="3539492"/>
            <a:ext cx="313944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ladea"/>
              <a:buNone/>
            </a:pPr>
            <a:r>
              <a:rPr b="0" i="0" lang="en-US" sz="1200" u="none" cap="none" strike="noStrike">
                <a:solidFill>
                  <a:srgbClr val="FF8A8A"/>
                </a:solidFill>
                <a:latin typeface="Caladea"/>
                <a:ea typeface="Caladea"/>
                <a:cs typeface="Caladea"/>
                <a:sym typeface="Caladea"/>
              </a:rPr>
              <a:t>smoothed = w × observed + (1 − w) × prior</a:t>
            </a:r>
            <a:endParaRPr b="0" i="0" sz="1200" u="none" cap="none" strike="noStrike">
              <a:solidFill>
                <a:schemeClr val="dk1"/>
              </a:solidFill>
              <a:latin typeface="Carlito"/>
              <a:ea typeface="Carlito"/>
              <a:cs typeface="Carlito"/>
              <a:sym typeface="Carlito"/>
            </a:endParaRPr>
          </a:p>
        </p:txBody>
      </p:sp>
      <p:sp>
        <p:nvSpPr>
          <p:cNvPr id="234" name="Google Shape;234;p10"/>
          <p:cNvSpPr/>
          <p:nvPr/>
        </p:nvSpPr>
        <p:spPr>
          <a:xfrm>
            <a:off x="8102600" y="3790950"/>
            <a:ext cx="313944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ladea"/>
              <a:buNone/>
            </a:pPr>
            <a:r>
              <a:rPr b="0" i="0" lang="en-US" sz="1200" u="none" cap="none" strike="noStrike">
                <a:solidFill>
                  <a:srgbClr val="FF8A8A"/>
                </a:solidFill>
                <a:latin typeface="Caladea"/>
                <a:ea typeface="Caladea"/>
                <a:cs typeface="Caladea"/>
                <a:sym typeface="Caladea"/>
              </a:rPr>
              <a:t>w = n ÷ (n + m)</a:t>
            </a:r>
            <a:endParaRPr b="0" i="0" sz="1200" u="none" cap="none" strike="noStrike">
              <a:solidFill>
                <a:schemeClr val="dk1"/>
              </a:solidFill>
              <a:latin typeface="Carlito"/>
              <a:ea typeface="Carlito"/>
              <a:cs typeface="Carlito"/>
              <a:sym typeface="Carlito"/>
            </a:endParaRPr>
          </a:p>
        </p:txBody>
      </p:sp>
      <p:sp>
        <p:nvSpPr>
          <p:cNvPr id="235" name="Google Shape;235;p10"/>
          <p:cNvSpPr/>
          <p:nvPr/>
        </p:nvSpPr>
        <p:spPr>
          <a:xfrm>
            <a:off x="8102600" y="4042414"/>
            <a:ext cx="3139440" cy="5397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000"/>
              <a:buFont typeface="Carlito"/>
              <a:buNone/>
            </a:pPr>
            <a:r>
              <a:rPr b="0" i="0" lang="en-US" sz="1000" u="none" cap="none" strike="noStrike">
                <a:solidFill>
                  <a:srgbClr val="C9D1E0"/>
                </a:solidFill>
                <a:latin typeface="Carlito"/>
                <a:ea typeface="Carlito"/>
                <a:cs typeface="Carlito"/>
                <a:sym typeface="Carlito"/>
              </a:rPr>
              <a:t>n = transactions, m = 20, prior = 3.5%. Same as (fraud + m × prior) ÷ (n + m). A: w = 500 ÷ 520 = 0.96, so 0.96 × 9.0% + 0.04 × 3.5% = 8.8%.</a:t>
            </a:r>
            <a:endParaRPr b="0" i="0" sz="1000" u="none" cap="none" strike="noStrike">
              <a:solidFill>
                <a:schemeClr val="dk1"/>
              </a:solidFill>
              <a:latin typeface="Carlito"/>
              <a:ea typeface="Carlito"/>
              <a:cs typeface="Carlito"/>
              <a:sym typeface="Carlito"/>
            </a:endParaRPr>
          </a:p>
        </p:txBody>
      </p:sp>
      <p:sp>
        <p:nvSpPr>
          <p:cNvPr id="236" name="Google Shape;236;p10"/>
          <p:cNvSpPr/>
          <p:nvPr/>
        </p:nvSpPr>
        <p:spPr>
          <a:xfrm>
            <a:off x="8102600" y="4658364"/>
            <a:ext cx="3139440" cy="8826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FFFFF"/>
              </a:buClr>
              <a:buSzPts val="1000"/>
              <a:buFont typeface="Carlito"/>
              <a:buNone/>
            </a:pPr>
            <a:r>
              <a:rPr b="1" i="0" lang="en-US" sz="1000" u="none" cap="none" strike="noStrike">
                <a:solidFill>
                  <a:srgbClr val="FFFFFF"/>
                </a:solidFill>
                <a:latin typeface="Carlito"/>
                <a:ea typeface="Carlito"/>
                <a:cs typeface="Carlito"/>
                <a:sym typeface="Carlito"/>
              </a:rPr>
              <a:t>Same idea elsewhere:</a:t>
            </a:r>
            <a:r>
              <a:rPr b="0" i="0" lang="en-US" sz="1000" u="none" cap="none" strike="noStrike">
                <a:solidFill>
                  <a:srgbClr val="FFFFFF"/>
                </a:solidFill>
                <a:latin typeface="Carlito"/>
                <a:ea typeface="Carlito"/>
                <a:cs typeface="Carlito"/>
                <a:sym typeface="Carlito"/>
              </a:rPr>
              <a:t> credibility weighting in insurance pricing (Z = n ÷ (n + k)), the Beta-Binomial posterior mean in Bayesian statistics, and Laplace smoothing in machine learning. Trust the data more as it grows; lean on the average when it’s thin.</a:t>
            </a:r>
            <a:endParaRPr b="0" i="0" sz="1000" u="none" cap="none" strike="noStrike">
              <a:solidFill>
                <a:schemeClr val="dk1"/>
              </a:solidFill>
              <a:latin typeface="Carlito"/>
              <a:ea typeface="Carlito"/>
              <a:cs typeface="Carlito"/>
              <a:sym typeface="Carlito"/>
            </a:endParaRPr>
          </a:p>
        </p:txBody>
      </p:sp>
      <p:sp>
        <p:nvSpPr>
          <p:cNvPr id="237" name="Google Shape;237;p10"/>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238" name="Google Shape;238;p10"/>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10</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1"/>
          <p:cNvSpPr txBox="1"/>
          <p:nvPr>
            <p:ph type="title"/>
          </p:nvPr>
        </p:nvSpPr>
        <p:spPr>
          <a:xfrm>
            <a:off x="812800" y="711200"/>
            <a:ext cx="10883392" cy="46355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Missing data is a signal, so we describe it three ways</a:t>
            </a:r>
            <a:endParaRPr sz="3000"/>
          </a:p>
        </p:txBody>
      </p:sp>
      <p:sp>
        <p:nvSpPr>
          <p:cNvPr id="245" name="Google Shape;245;p11"/>
          <p:cNvSpPr/>
          <p:nvPr/>
        </p:nvSpPr>
        <p:spPr>
          <a:xfrm>
            <a:off x="812800" y="1352550"/>
            <a:ext cx="3420507" cy="441960"/>
          </a:xfrm>
          <a:prstGeom prst="roundRect">
            <a:avLst>
              <a:gd fmla="val 17241" name="adj"/>
            </a:avLst>
          </a:prstGeom>
          <a:solidFill>
            <a:srgbClr val="F3F5F9"/>
          </a:solidFill>
          <a:ln>
            <a:noFill/>
          </a:ln>
        </p:spPr>
        <p:txBody>
          <a:bodyPr anchorCtr="0" anchor="t" bIns="66575" lIns="155475" spcFirstLastPara="1" rIns="63525" wrap="square" tIns="91975">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Which:</a:t>
            </a:r>
            <a:r>
              <a:rPr b="0" i="0" lang="en-US" sz="1200" u="none" cap="none" strike="noStrike">
                <a:solidFill>
                  <a:srgbClr val="1F2937"/>
                </a:solidFill>
                <a:latin typeface="Carlito"/>
                <a:ea typeface="Carlito"/>
                <a:cs typeface="Carlito"/>
                <a:sym typeface="Carlito"/>
              </a:rPr>
              <a:t> 24 block flags</a:t>
            </a:r>
            <a:endParaRPr b="0" i="0" sz="1200" u="none" cap="none" strike="noStrike">
              <a:solidFill>
                <a:schemeClr val="dk1"/>
              </a:solidFill>
              <a:latin typeface="Carlito"/>
              <a:ea typeface="Carlito"/>
              <a:cs typeface="Carlito"/>
              <a:sym typeface="Carlito"/>
            </a:endParaRPr>
          </a:p>
        </p:txBody>
      </p:sp>
      <p:sp>
        <p:nvSpPr>
          <p:cNvPr id="246" name="Google Shape;246;p11"/>
          <p:cNvSpPr/>
          <p:nvPr/>
        </p:nvSpPr>
        <p:spPr>
          <a:xfrm>
            <a:off x="4385707" y="1352550"/>
            <a:ext cx="3420586" cy="441960"/>
          </a:xfrm>
          <a:prstGeom prst="roundRect">
            <a:avLst>
              <a:gd fmla="val 17241" name="adj"/>
            </a:avLst>
          </a:prstGeom>
          <a:solidFill>
            <a:srgbClr val="F3F5F9"/>
          </a:solidFill>
          <a:ln>
            <a:noFill/>
          </a:ln>
        </p:spPr>
        <p:txBody>
          <a:bodyPr anchorCtr="0" anchor="t" bIns="66575" lIns="155475" spcFirstLastPara="1" rIns="63525" wrap="square" tIns="91975">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How much:</a:t>
            </a:r>
            <a:r>
              <a:rPr b="0" i="0" lang="en-US" sz="1200" u="none" cap="none" strike="noStrike">
                <a:solidFill>
                  <a:srgbClr val="1F2937"/>
                </a:solidFill>
                <a:latin typeface="Carlito"/>
                <a:ea typeface="Carlito"/>
                <a:cs typeface="Carlito"/>
                <a:sym typeface="Carlito"/>
              </a:rPr>
              <a:t> 4 missing counts</a:t>
            </a:r>
            <a:endParaRPr b="0" i="0" sz="1200" u="none" cap="none" strike="noStrike">
              <a:solidFill>
                <a:schemeClr val="dk1"/>
              </a:solidFill>
              <a:latin typeface="Carlito"/>
              <a:ea typeface="Carlito"/>
              <a:cs typeface="Carlito"/>
              <a:sym typeface="Carlito"/>
            </a:endParaRPr>
          </a:p>
        </p:txBody>
      </p:sp>
      <p:sp>
        <p:nvSpPr>
          <p:cNvPr id="247" name="Google Shape;247;p11"/>
          <p:cNvSpPr/>
          <p:nvPr/>
        </p:nvSpPr>
        <p:spPr>
          <a:xfrm>
            <a:off x="7958693" y="1352550"/>
            <a:ext cx="3420507" cy="441960"/>
          </a:xfrm>
          <a:prstGeom prst="roundRect">
            <a:avLst>
              <a:gd fmla="val 17241" name="adj"/>
            </a:avLst>
          </a:prstGeom>
          <a:solidFill>
            <a:srgbClr val="F3F5F9"/>
          </a:solidFill>
          <a:ln>
            <a:noFill/>
          </a:ln>
        </p:spPr>
        <p:txBody>
          <a:bodyPr anchorCtr="0" anchor="t" bIns="66575" lIns="155475" spcFirstLastPara="1" rIns="63525" wrap="square" tIns="91975">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Pattern:</a:t>
            </a:r>
            <a:r>
              <a:rPr b="0" i="0" lang="en-US" sz="1200" u="none" cap="none" strike="noStrike">
                <a:solidFill>
                  <a:srgbClr val="1F2937"/>
                </a:solidFill>
                <a:latin typeface="Carlito"/>
                <a:ea typeface="Carlito"/>
                <a:cs typeface="Carlito"/>
                <a:sym typeface="Carlito"/>
              </a:rPr>
              <a:t> 3 k-means clusters</a:t>
            </a:r>
            <a:endParaRPr b="0" i="0" sz="1200" u="none" cap="none" strike="noStrike">
              <a:solidFill>
                <a:schemeClr val="dk1"/>
              </a:solidFill>
              <a:latin typeface="Carlito"/>
              <a:ea typeface="Carlito"/>
              <a:cs typeface="Carlito"/>
              <a:sym typeface="Carlito"/>
            </a:endParaRPr>
          </a:p>
        </p:txBody>
      </p:sp>
      <p:cxnSp>
        <p:nvCxnSpPr>
          <p:cNvPr id="248" name="Google Shape;248;p11"/>
          <p:cNvCxnSpPr/>
          <p:nvPr/>
        </p:nvCxnSpPr>
        <p:spPr>
          <a:xfrm>
            <a:off x="7921625" y="1997714"/>
            <a:ext cx="0" cy="1879600"/>
          </a:xfrm>
          <a:prstGeom prst="straightConnector1">
            <a:avLst/>
          </a:prstGeom>
          <a:noFill/>
          <a:ln cap="flat" cmpd="sng" w="9525">
            <a:solidFill>
              <a:srgbClr val="D8DEE8"/>
            </a:solidFill>
            <a:prstDash val="solid"/>
            <a:round/>
            <a:headEnd len="sm" w="sm" type="none"/>
            <a:tailEnd len="sm" w="sm" type="none"/>
          </a:ln>
        </p:spPr>
      </p:cxnSp>
      <p:cxnSp>
        <p:nvCxnSpPr>
          <p:cNvPr id="249" name="Google Shape;249;p11"/>
          <p:cNvCxnSpPr/>
          <p:nvPr/>
        </p:nvCxnSpPr>
        <p:spPr>
          <a:xfrm>
            <a:off x="812800" y="3874139"/>
            <a:ext cx="7112000" cy="0"/>
          </a:xfrm>
          <a:prstGeom prst="straightConnector1">
            <a:avLst/>
          </a:prstGeom>
          <a:noFill/>
          <a:ln cap="flat" cmpd="sng" w="9525">
            <a:solidFill>
              <a:srgbClr val="D8DEE8"/>
            </a:solidFill>
            <a:prstDash val="solid"/>
            <a:round/>
            <a:headEnd len="sm" w="sm" type="none"/>
            <a:tailEnd len="sm" w="sm" type="none"/>
          </a:ln>
        </p:spPr>
      </p:cxnSp>
      <p:graphicFrame>
        <p:nvGraphicFramePr>
          <p:cNvPr id="250" name="Google Shape;250;p11"/>
          <p:cNvGraphicFramePr/>
          <p:nvPr/>
        </p:nvGraphicFramePr>
        <p:xfrm>
          <a:off x="822960" y="2007874"/>
          <a:ext cx="3000000" cy="3000000"/>
        </p:xfrm>
        <a:graphic>
          <a:graphicData uri="http://schemas.openxmlformats.org/drawingml/2006/table">
            <a:tbl>
              <a:tblPr>
                <a:noFill/>
                <a:tableStyleId>{B1428F95-D982-4F4E-99CC-6B386F8E9489}</a:tableStyleId>
              </a:tblPr>
              <a:tblGrid>
                <a:gridCol w="709675"/>
                <a:gridCol w="1064525"/>
                <a:gridCol w="1064525"/>
                <a:gridCol w="851600"/>
                <a:gridCol w="922575"/>
                <a:gridCol w="1064525"/>
                <a:gridCol w="1419350"/>
              </a:tblGrid>
              <a:tr h="543550">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Cluster</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Transactions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Share of data</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Share of fraud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EDA fraud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354,147</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75.0%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≈7,543</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2.13%</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45.5%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68,414</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14.5%</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≈3,038</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4.44%</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18.3%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4.4%</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49,871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10.6%</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≈6,010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12.05%</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36.2%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12.0%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Total</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472,432</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≈16,591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3.51%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chemeClr val="dk1"/>
                        </a:buClr>
                        <a:buSzPts val="1200"/>
                        <a:buFont typeface="Carlito"/>
                        <a:buNone/>
                      </a:pPr>
                      <a:r>
                        <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bl>
          </a:graphicData>
        </a:graphic>
      </p:graphicFrame>
      <p:sp>
        <p:nvSpPr>
          <p:cNvPr id="251" name="Google Shape;251;p11"/>
          <p:cNvSpPr/>
          <p:nvPr/>
        </p:nvSpPr>
        <p:spPr>
          <a:xfrm>
            <a:off x="812800" y="3991614"/>
            <a:ext cx="7325360" cy="4165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100"/>
              <a:buFont typeface="Carlito"/>
              <a:buNone/>
            </a:pPr>
            <a:r>
              <a:rPr b="0" i="0" lang="en-US" sz="1100" u="none" cap="none" strike="noStrike">
                <a:solidFill>
                  <a:srgbClr val="5B6475"/>
                </a:solidFill>
                <a:latin typeface="Carlito"/>
                <a:ea typeface="Carlito"/>
                <a:cs typeface="Carlito"/>
                <a:sym typeface="Carlito"/>
              </a:rPr>
              <a:t>Cluster 2 is 10.6% of training but 36% of its fraud. ≈: fraud counts worked back from the printed rates, so they add to about 16,591 rather than 16,598. Jean’s clusters, fit on training only, match the EDA almost exactly.</a:t>
            </a:r>
            <a:endParaRPr b="0" i="0" sz="1100" u="none" cap="none" strike="noStrike">
              <a:solidFill>
                <a:schemeClr val="dk1"/>
              </a:solidFill>
              <a:latin typeface="Carlito"/>
              <a:ea typeface="Carlito"/>
              <a:cs typeface="Carlito"/>
              <a:sym typeface="Carlito"/>
            </a:endParaRPr>
          </a:p>
        </p:txBody>
      </p:sp>
      <p:sp>
        <p:nvSpPr>
          <p:cNvPr id="252" name="Google Shape;252;p11"/>
          <p:cNvSpPr/>
          <p:nvPr/>
        </p:nvSpPr>
        <p:spPr>
          <a:xfrm>
            <a:off x="8178800" y="1997714"/>
            <a:ext cx="3200400" cy="2316480"/>
          </a:xfrm>
          <a:prstGeom prst="roundRect">
            <a:avLst>
              <a:gd fmla="val 4386"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8407400" y="2226314"/>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200"/>
              <a:buFont typeface="Carlito"/>
              <a:buNone/>
            </a:pPr>
            <a:r>
              <a:rPr b="1" i="0" lang="en-US" sz="1200" u="none" cap="none" strike="noStrike">
                <a:solidFill>
                  <a:srgbClr val="FFFFFF"/>
                </a:solidFill>
                <a:latin typeface="Carlito"/>
                <a:ea typeface="Carlito"/>
                <a:cs typeface="Carlito"/>
                <a:sym typeface="Carlito"/>
              </a:rPr>
              <a:t>Formulas, worked for cluster 2</a:t>
            </a:r>
            <a:endParaRPr b="0" i="0" sz="1200" u="none" cap="none" strike="noStrike">
              <a:solidFill>
                <a:schemeClr val="dk1"/>
              </a:solidFill>
              <a:latin typeface="Carlito"/>
              <a:ea typeface="Carlito"/>
              <a:cs typeface="Carlito"/>
              <a:sym typeface="Carlito"/>
            </a:endParaRPr>
          </a:p>
        </p:txBody>
      </p:sp>
      <p:sp>
        <p:nvSpPr>
          <p:cNvPr id="254" name="Google Shape;254;p11"/>
          <p:cNvSpPr/>
          <p:nvPr/>
        </p:nvSpPr>
        <p:spPr>
          <a:xfrm>
            <a:off x="8407400" y="2566671"/>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Share of data = cluster ÷ all training</a:t>
            </a:r>
            <a:endParaRPr b="0" i="0" sz="1200" u="none" cap="none" strike="noStrike">
              <a:solidFill>
                <a:schemeClr val="dk1"/>
              </a:solidFill>
              <a:latin typeface="Carlito"/>
              <a:ea typeface="Carlito"/>
              <a:cs typeface="Carlito"/>
              <a:sym typeface="Carlito"/>
            </a:endParaRPr>
          </a:p>
        </p:txBody>
      </p:sp>
      <p:sp>
        <p:nvSpPr>
          <p:cNvPr id="255" name="Google Shape;255;p11"/>
          <p:cNvSpPr/>
          <p:nvPr/>
        </p:nvSpPr>
        <p:spPr>
          <a:xfrm>
            <a:off x="8407400" y="2792729"/>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49,871 ÷ 472,432 = 10.6%</a:t>
            </a:r>
            <a:endParaRPr b="0" i="0" sz="1100" u="none" cap="none" strike="noStrike">
              <a:solidFill>
                <a:schemeClr val="dk1"/>
              </a:solidFill>
              <a:latin typeface="Carlito"/>
              <a:ea typeface="Carlito"/>
              <a:cs typeface="Carlito"/>
              <a:sym typeface="Carlito"/>
            </a:endParaRPr>
          </a:p>
        </p:txBody>
      </p:sp>
      <p:sp>
        <p:nvSpPr>
          <p:cNvPr id="256" name="Google Shape;256;p11"/>
          <p:cNvSpPr/>
          <p:nvPr/>
        </p:nvSpPr>
        <p:spPr>
          <a:xfrm>
            <a:off x="8407400" y="3115314"/>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Fraud rate = fraud ÷ transactions</a:t>
            </a:r>
            <a:endParaRPr b="0" i="0" sz="1200" u="none" cap="none" strike="noStrike">
              <a:solidFill>
                <a:schemeClr val="dk1"/>
              </a:solidFill>
              <a:latin typeface="Carlito"/>
              <a:ea typeface="Carlito"/>
              <a:cs typeface="Carlito"/>
              <a:sym typeface="Carlito"/>
            </a:endParaRPr>
          </a:p>
        </p:txBody>
      </p:sp>
      <p:sp>
        <p:nvSpPr>
          <p:cNvPr id="257" name="Google Shape;257;p11"/>
          <p:cNvSpPr/>
          <p:nvPr/>
        </p:nvSpPr>
        <p:spPr>
          <a:xfrm>
            <a:off x="8407400" y="3341371"/>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6,010 ÷ 49,871 = 12.05%</a:t>
            </a:r>
            <a:endParaRPr b="0" i="0" sz="1100" u="none" cap="none" strike="noStrike">
              <a:solidFill>
                <a:schemeClr val="dk1"/>
              </a:solidFill>
              <a:latin typeface="Carlito"/>
              <a:ea typeface="Carlito"/>
              <a:cs typeface="Carlito"/>
              <a:sym typeface="Carlito"/>
            </a:endParaRPr>
          </a:p>
        </p:txBody>
      </p:sp>
      <p:sp>
        <p:nvSpPr>
          <p:cNvPr id="258" name="Google Shape;258;p11"/>
          <p:cNvSpPr/>
          <p:nvPr/>
        </p:nvSpPr>
        <p:spPr>
          <a:xfrm>
            <a:off x="8407400" y="3663950"/>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Share of fraud = cluster fraud ÷ all fraud</a:t>
            </a:r>
            <a:endParaRPr b="0" i="0" sz="1200" u="none" cap="none" strike="noStrike">
              <a:solidFill>
                <a:schemeClr val="dk1"/>
              </a:solidFill>
              <a:latin typeface="Carlito"/>
              <a:ea typeface="Carlito"/>
              <a:cs typeface="Carlito"/>
              <a:sym typeface="Carlito"/>
            </a:endParaRPr>
          </a:p>
        </p:txBody>
      </p:sp>
      <p:sp>
        <p:nvSpPr>
          <p:cNvPr id="259" name="Google Shape;259;p11"/>
          <p:cNvSpPr/>
          <p:nvPr/>
        </p:nvSpPr>
        <p:spPr>
          <a:xfrm>
            <a:off x="8407400" y="3890014"/>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6,010 ÷ 16,591 = 36.2%</a:t>
            </a:r>
            <a:endParaRPr b="0" i="0" sz="1100" u="none" cap="none" strike="noStrike">
              <a:solidFill>
                <a:schemeClr val="dk1"/>
              </a:solidFill>
              <a:latin typeface="Carlito"/>
              <a:ea typeface="Carlito"/>
              <a:cs typeface="Carlito"/>
              <a:sym typeface="Carlito"/>
            </a:endParaRPr>
          </a:p>
        </p:txBody>
      </p:sp>
      <p:sp>
        <p:nvSpPr>
          <p:cNvPr id="260" name="Google Shape;260;p11"/>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261" name="Google Shape;261;p11"/>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11</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12"/>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Two output tables, because trees and neural nets need different inputs</a:t>
            </a:r>
            <a:endParaRPr sz="3000"/>
          </a:p>
        </p:txBody>
      </p:sp>
      <p:cxnSp>
        <p:nvCxnSpPr>
          <p:cNvPr id="268" name="Google Shape;268;p12"/>
          <p:cNvCxnSpPr/>
          <p:nvPr/>
        </p:nvCxnSpPr>
        <p:spPr>
          <a:xfrm>
            <a:off x="11376025" y="1892300"/>
            <a:ext cx="0" cy="2156460"/>
          </a:xfrm>
          <a:prstGeom prst="straightConnector1">
            <a:avLst/>
          </a:prstGeom>
          <a:noFill/>
          <a:ln cap="flat" cmpd="sng" w="9525">
            <a:solidFill>
              <a:srgbClr val="D8DEE8"/>
            </a:solidFill>
            <a:prstDash val="solid"/>
            <a:round/>
            <a:headEnd len="sm" w="sm" type="none"/>
            <a:tailEnd len="sm" w="sm" type="none"/>
          </a:ln>
        </p:spPr>
      </p:cxnSp>
      <p:cxnSp>
        <p:nvCxnSpPr>
          <p:cNvPr id="269" name="Google Shape;269;p12"/>
          <p:cNvCxnSpPr/>
          <p:nvPr/>
        </p:nvCxnSpPr>
        <p:spPr>
          <a:xfrm>
            <a:off x="812800" y="4045585"/>
            <a:ext cx="10566400" cy="0"/>
          </a:xfrm>
          <a:prstGeom prst="straightConnector1">
            <a:avLst/>
          </a:prstGeom>
          <a:noFill/>
          <a:ln cap="flat" cmpd="sng" w="9525">
            <a:solidFill>
              <a:srgbClr val="D8DEE8"/>
            </a:solidFill>
            <a:prstDash val="solid"/>
            <a:round/>
            <a:headEnd len="sm" w="sm" type="none"/>
            <a:tailEnd len="sm" w="sm" type="none"/>
          </a:ln>
        </p:spPr>
      </p:cxnSp>
      <p:graphicFrame>
        <p:nvGraphicFramePr>
          <p:cNvPr id="270" name="Google Shape;270;p12"/>
          <p:cNvGraphicFramePr/>
          <p:nvPr/>
        </p:nvGraphicFramePr>
        <p:xfrm>
          <a:off x="822960" y="1902460"/>
          <a:ext cx="3000000" cy="3000000"/>
        </p:xfrm>
        <a:graphic>
          <a:graphicData uri="http://schemas.openxmlformats.org/drawingml/2006/table">
            <a:tbl>
              <a:tblPr>
                <a:noFill/>
                <a:tableStyleId>{B1428F95-D982-4F4E-99CC-6B386F8E9489}</a:tableStyleId>
              </a:tblPr>
              <a:tblGrid>
                <a:gridCol w="2532275"/>
                <a:gridCol w="3587400"/>
                <a:gridCol w="4431475"/>
              </a:tblGrid>
              <a:tr h="356875">
                <a:tc>
                  <a:txBody>
                    <a:bodyPr/>
                    <a:lstStyle/>
                    <a:p>
                      <a:pPr indent="0" lvl="0" marL="0" marR="0" rtl="0" algn="l">
                        <a:lnSpc>
                          <a:spcPct val="140000"/>
                        </a:lnSpc>
                        <a:spcBef>
                          <a:spcPts val="0"/>
                        </a:spcBef>
                        <a:spcAft>
                          <a:spcPts val="0"/>
                        </a:spcAft>
                        <a:buClr>
                          <a:schemeClr val="dk1"/>
                        </a:buClr>
                        <a:buSzPts val="1300"/>
                        <a:buFont typeface="Carlito"/>
                        <a:buNone/>
                      </a:pPr>
                      <a:r>
                        <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300"/>
                        <a:buFont typeface="Carlito"/>
                        <a:buNone/>
                      </a:pPr>
                      <a:r>
                        <a:rPr b="1" lang="en-US" sz="1300" u="none" cap="none" strike="noStrike">
                          <a:solidFill>
                            <a:srgbClr val="FFFFFF"/>
                          </a:solidFill>
                          <a:latin typeface="Carlito"/>
                          <a:ea typeface="Carlito"/>
                          <a:cs typeface="Carlito"/>
                          <a:sym typeface="Carlito"/>
                        </a:rPr>
                        <a:t>Tree table (537 columns)</a:t>
                      </a:r>
                      <a:endParaRPr sz="1300" u="none" cap="none" strike="noStrike">
                        <a:latin typeface="Carlito"/>
                        <a:ea typeface="Carlito"/>
                        <a:cs typeface="Carlito"/>
                        <a:sym typeface="Carlito"/>
                      </a:endParaRPr>
                    </a:p>
                  </a:txBody>
                  <a:tcPr marT="57775" marB="57775" marR="57775" marL="57775">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300"/>
                        <a:buFont typeface="Carlito"/>
                        <a:buNone/>
                      </a:pPr>
                      <a:r>
                        <a:rPr b="1" lang="en-US" sz="1300" u="none" cap="none" strike="noStrike">
                          <a:solidFill>
                            <a:srgbClr val="FFFFFF"/>
                          </a:solidFill>
                          <a:latin typeface="Carlito"/>
                          <a:ea typeface="Carlito"/>
                          <a:cs typeface="Carlito"/>
                          <a:sym typeface="Carlito"/>
                        </a:rPr>
                        <a:t>Neural-net table (515 columns)</a:t>
                      </a:r>
                      <a:endParaRPr sz="1300" u="none" cap="none" strike="noStrike">
                        <a:latin typeface="Carlito"/>
                        <a:ea typeface="Carlito"/>
                        <a:cs typeface="Carlito"/>
                        <a:sym typeface="Carlito"/>
                      </a:endParaRPr>
                    </a:p>
                  </a:txBody>
                  <a:tcPr marT="57775" marB="57775" marR="57775" marL="57775">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Numbers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Kept as they are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log for skewed columns, clipped, standardized</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Missing values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Left missing</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Filled with the median, plus missing flags</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Few categories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Categories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One-hot</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Many categories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Raw column plus frequency</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Frequency only</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V columns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All 339</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210 after removing near-copies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sp>
        <p:nvSpPr>
          <p:cNvPr id="271" name="Google Shape;271;p12"/>
          <p:cNvSpPr/>
          <p:nvPr/>
        </p:nvSpPr>
        <p:spPr>
          <a:xfrm>
            <a:off x="812800" y="4353564"/>
            <a:ext cx="2527300" cy="485140"/>
          </a:xfrm>
          <a:prstGeom prst="roundRect">
            <a:avLst>
              <a:gd fmla="val 15707" name="adj"/>
            </a:avLst>
          </a:prstGeom>
          <a:solidFill>
            <a:srgbClr val="F3F5F9"/>
          </a:solidFill>
          <a:ln>
            <a:noFill/>
          </a:ln>
        </p:spPr>
        <p:txBody>
          <a:bodyPr anchorCtr="0" anchor="t" bIns="79275" lIns="155475" spcFirstLastPara="1" rIns="90325" wrap="square" tIns="104675">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raw</a:t>
            </a:r>
            <a:r>
              <a:rPr b="0" i="0" lang="en-US" sz="1300" u="none" cap="none" strike="noStrike">
                <a:solidFill>
                  <a:srgbClr val="1F2937"/>
                </a:solidFill>
                <a:latin typeface="Carlito"/>
                <a:ea typeface="Carlito"/>
                <a:cs typeface="Carlito"/>
                <a:sym typeface="Carlito"/>
              </a:rPr>
              <a:t> · 430 · original</a:t>
            </a:r>
            <a:endParaRPr b="0" i="0" sz="1300" u="none" cap="none" strike="noStrike">
              <a:solidFill>
                <a:schemeClr val="dk1"/>
              </a:solidFill>
              <a:latin typeface="Carlito"/>
              <a:ea typeface="Carlito"/>
              <a:cs typeface="Carlito"/>
              <a:sym typeface="Carlito"/>
            </a:endParaRPr>
          </a:p>
        </p:txBody>
      </p:sp>
      <p:sp>
        <p:nvSpPr>
          <p:cNvPr id="272" name="Google Shape;272;p12"/>
          <p:cNvSpPr/>
          <p:nvPr/>
        </p:nvSpPr>
        <p:spPr>
          <a:xfrm>
            <a:off x="3492500" y="4353564"/>
            <a:ext cx="2527300" cy="485140"/>
          </a:xfrm>
          <a:prstGeom prst="roundRect">
            <a:avLst>
              <a:gd fmla="val 15707" name="adj"/>
            </a:avLst>
          </a:prstGeom>
          <a:solidFill>
            <a:srgbClr val="F3F5F9"/>
          </a:solidFill>
          <a:ln>
            <a:noFill/>
          </a:ln>
        </p:spPr>
        <p:txBody>
          <a:bodyPr anchorCtr="0" anchor="t" bIns="79275" lIns="155475" spcFirstLastPara="1" rIns="90325" wrap="square" tIns="104675">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all_no_history</a:t>
            </a:r>
            <a:r>
              <a:rPr b="0" i="0" lang="en-US" sz="1300" u="none" cap="none" strike="noStrike">
                <a:solidFill>
                  <a:srgbClr val="1F2937"/>
                </a:solidFill>
                <a:latin typeface="Carlito"/>
                <a:ea typeface="Carlito"/>
                <a:cs typeface="Carlito"/>
                <a:sym typeface="Carlito"/>
              </a:rPr>
              <a:t> · 489 · clean</a:t>
            </a:r>
            <a:endParaRPr b="0" i="0" sz="1300" u="none" cap="none" strike="noStrike">
              <a:solidFill>
                <a:schemeClr val="dk1"/>
              </a:solidFill>
              <a:latin typeface="Carlito"/>
              <a:ea typeface="Carlito"/>
              <a:cs typeface="Carlito"/>
              <a:sym typeface="Carlito"/>
            </a:endParaRPr>
          </a:p>
        </p:txBody>
      </p:sp>
      <p:sp>
        <p:nvSpPr>
          <p:cNvPr id="273" name="Google Shape;273;p12"/>
          <p:cNvSpPr/>
          <p:nvPr/>
        </p:nvSpPr>
        <p:spPr>
          <a:xfrm>
            <a:off x="6172200" y="4353564"/>
            <a:ext cx="2527300" cy="485140"/>
          </a:xfrm>
          <a:prstGeom prst="roundRect">
            <a:avLst>
              <a:gd fmla="val 15707" name="adj"/>
            </a:avLst>
          </a:prstGeom>
          <a:solidFill>
            <a:srgbClr val="F3F5F9"/>
          </a:solidFill>
          <a:ln>
            <a:noFill/>
          </a:ln>
        </p:spPr>
        <p:txBody>
          <a:bodyPr anchorCtr="0" anchor="t" bIns="79275" lIns="155475" spcFirstLastPara="1" rIns="90325" wrap="square" tIns="104675">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all</a:t>
            </a:r>
            <a:r>
              <a:rPr b="0" i="0" lang="en-US" sz="1300" u="none" cap="none" strike="noStrike">
                <a:solidFill>
                  <a:srgbClr val="1F2937"/>
                </a:solidFill>
                <a:latin typeface="Carlito"/>
                <a:ea typeface="Carlito"/>
                <a:cs typeface="Carlito"/>
                <a:sym typeface="Carlito"/>
              </a:rPr>
              <a:t> · 537 · with history</a:t>
            </a:r>
            <a:endParaRPr b="0" i="0" sz="1300" u="none" cap="none" strike="noStrike">
              <a:solidFill>
                <a:schemeClr val="dk1"/>
              </a:solidFill>
              <a:latin typeface="Carlito"/>
              <a:ea typeface="Carlito"/>
              <a:cs typeface="Carlito"/>
              <a:sym typeface="Carlito"/>
            </a:endParaRPr>
          </a:p>
        </p:txBody>
      </p:sp>
      <p:sp>
        <p:nvSpPr>
          <p:cNvPr id="274" name="Google Shape;274;p12"/>
          <p:cNvSpPr/>
          <p:nvPr/>
        </p:nvSpPr>
        <p:spPr>
          <a:xfrm>
            <a:off x="8851900" y="4353564"/>
            <a:ext cx="2527300" cy="485140"/>
          </a:xfrm>
          <a:prstGeom prst="roundRect">
            <a:avLst>
              <a:gd fmla="val 15707" name="adj"/>
            </a:avLst>
          </a:prstGeom>
          <a:solidFill>
            <a:srgbClr val="F3F5F9"/>
          </a:solidFill>
          <a:ln>
            <a:noFill/>
          </a:ln>
        </p:spPr>
        <p:txBody>
          <a:bodyPr anchorCtr="0" anchor="t" bIns="79275" lIns="155475" spcFirstLastPara="1" rIns="90325" wrap="square" tIns="104675">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all_reduced_v</a:t>
            </a:r>
            <a:r>
              <a:rPr b="0" i="0" lang="en-US" sz="1300" u="none" cap="none" strike="noStrike">
                <a:solidFill>
                  <a:srgbClr val="1F2937"/>
                </a:solidFill>
                <a:latin typeface="Carlito"/>
                <a:ea typeface="Carlito"/>
                <a:cs typeface="Carlito"/>
                <a:sym typeface="Carlito"/>
              </a:rPr>
              <a:t> · 408 · 1–2% test</a:t>
            </a:r>
            <a:endParaRPr b="0" i="0" sz="1300" u="none" cap="none" strike="noStrike">
              <a:solidFill>
                <a:schemeClr val="dk1"/>
              </a:solidFill>
              <a:latin typeface="Carlito"/>
              <a:ea typeface="Carlito"/>
              <a:cs typeface="Carlito"/>
              <a:sym typeface="Carlito"/>
            </a:endParaRPr>
          </a:p>
        </p:txBody>
      </p:sp>
      <p:sp>
        <p:nvSpPr>
          <p:cNvPr id="275" name="Google Shape;275;p12"/>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276" name="Google Shape;276;p12"/>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12</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3"/>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On their own, target encoding and identity features carry the most signal</a:t>
            </a:r>
            <a:endParaRPr sz="3000"/>
          </a:p>
        </p:txBody>
      </p:sp>
      <p:sp>
        <p:nvSpPr>
          <p:cNvPr id="283" name="Google Shape;283;p13"/>
          <p:cNvSpPr/>
          <p:nvPr/>
        </p:nvSpPr>
        <p:spPr>
          <a:xfrm>
            <a:off x="812800" y="1841500"/>
            <a:ext cx="8568055"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Validation ROC-AUC with each feature alone as the score. Bars start at 0.5, a coin flip.</a:t>
            </a:r>
            <a:endParaRPr b="0" i="0" sz="1200" u="none" cap="none" strike="noStrike">
              <a:solidFill>
                <a:schemeClr val="dk1"/>
              </a:solidFill>
              <a:latin typeface="Carlito"/>
              <a:ea typeface="Carlito"/>
              <a:cs typeface="Carlito"/>
              <a:sym typeface="Carlito"/>
            </a:endParaRPr>
          </a:p>
        </p:txBody>
      </p:sp>
      <p:sp>
        <p:nvSpPr>
          <p:cNvPr id="284" name="Google Shape;284;p13"/>
          <p:cNvSpPr/>
          <p:nvPr/>
        </p:nvSpPr>
        <p:spPr>
          <a:xfrm>
            <a:off x="736600" y="2143764"/>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te_card2</a:t>
            </a:r>
            <a:endParaRPr b="0" i="0" sz="1200" u="none" cap="none" strike="noStrike">
              <a:solidFill>
                <a:schemeClr val="dk1"/>
              </a:solidFill>
              <a:latin typeface="Carlito"/>
              <a:ea typeface="Carlito"/>
              <a:cs typeface="Carlito"/>
              <a:sym typeface="Carlito"/>
            </a:endParaRPr>
          </a:p>
        </p:txBody>
      </p:sp>
      <p:sp>
        <p:nvSpPr>
          <p:cNvPr id="285" name="Google Shape;285;p13"/>
          <p:cNvSpPr/>
          <p:nvPr/>
        </p:nvSpPr>
        <p:spPr>
          <a:xfrm>
            <a:off x="3479800" y="2155192"/>
            <a:ext cx="4400550" cy="190500"/>
          </a:xfrm>
          <a:custGeom>
            <a:rect b="b" l="l" r="r" t="t"/>
            <a:pathLst>
              <a:path extrusionOk="0" h="190500" w="4400550">
                <a:moveTo>
                  <a:pt x="0" y="0"/>
                </a:moveTo>
                <a:lnTo>
                  <a:pt x="4362450" y="0"/>
                </a:lnTo>
                <a:cubicBezTo>
                  <a:pt x="4372555" y="0"/>
                  <a:pt x="4382246" y="4014"/>
                  <a:pt x="4389391" y="11159"/>
                </a:cubicBezTo>
                <a:cubicBezTo>
                  <a:pt x="4396536" y="18304"/>
                  <a:pt x="4400550" y="27995"/>
                  <a:pt x="4400550" y="38100"/>
                </a:cubicBezTo>
                <a:lnTo>
                  <a:pt x="4400550" y="152400"/>
                </a:lnTo>
                <a:cubicBezTo>
                  <a:pt x="4400550" y="173442"/>
                  <a:pt x="4383492" y="190500"/>
                  <a:pt x="4362450" y="190500"/>
                </a:cubicBezTo>
                <a:lnTo>
                  <a:pt x="0" y="190500"/>
                </a:lnTo>
                <a:lnTo>
                  <a:pt x="0" y="0"/>
                </a:lnTo>
                <a:close/>
              </a:path>
            </a:pathLst>
          </a:custGeom>
          <a:solidFill>
            <a:srgbClr val="D72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8432800" y="2143764"/>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0.728</a:t>
            </a:r>
            <a:endParaRPr b="0" i="0" sz="1200" u="none" cap="none" strike="noStrike">
              <a:solidFill>
                <a:schemeClr val="dk1"/>
              </a:solidFill>
              <a:latin typeface="Carlito"/>
              <a:ea typeface="Carlito"/>
              <a:cs typeface="Carlito"/>
              <a:sym typeface="Carlito"/>
            </a:endParaRPr>
          </a:p>
        </p:txBody>
      </p:sp>
      <p:sp>
        <p:nvSpPr>
          <p:cNvPr id="287" name="Google Shape;287;p13"/>
          <p:cNvSpPr/>
          <p:nvPr/>
        </p:nvSpPr>
        <p:spPr>
          <a:xfrm>
            <a:off x="736600" y="2446021"/>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te_R_emaildomain</a:t>
            </a:r>
            <a:endParaRPr b="0" i="0" sz="1200" u="none" cap="none" strike="noStrike">
              <a:solidFill>
                <a:schemeClr val="dk1"/>
              </a:solidFill>
              <a:latin typeface="Carlito"/>
              <a:ea typeface="Carlito"/>
              <a:cs typeface="Carlito"/>
              <a:sym typeface="Carlito"/>
            </a:endParaRPr>
          </a:p>
        </p:txBody>
      </p:sp>
      <p:sp>
        <p:nvSpPr>
          <p:cNvPr id="288" name="Google Shape;288;p13"/>
          <p:cNvSpPr/>
          <p:nvPr/>
        </p:nvSpPr>
        <p:spPr>
          <a:xfrm>
            <a:off x="3479800" y="2457450"/>
            <a:ext cx="3530600" cy="190500"/>
          </a:xfrm>
          <a:custGeom>
            <a:rect b="b" l="l" r="r" t="t"/>
            <a:pathLst>
              <a:path extrusionOk="0" h="190500" w="3530600">
                <a:moveTo>
                  <a:pt x="0" y="0"/>
                </a:moveTo>
                <a:lnTo>
                  <a:pt x="3492500" y="0"/>
                </a:lnTo>
                <a:cubicBezTo>
                  <a:pt x="3502605" y="0"/>
                  <a:pt x="3512296" y="4014"/>
                  <a:pt x="3519441" y="11159"/>
                </a:cubicBezTo>
                <a:cubicBezTo>
                  <a:pt x="3526586" y="18304"/>
                  <a:pt x="3530600" y="27995"/>
                  <a:pt x="3530600" y="38100"/>
                </a:cubicBezTo>
                <a:lnTo>
                  <a:pt x="3530600" y="152400"/>
                </a:lnTo>
                <a:cubicBezTo>
                  <a:pt x="3530600" y="173442"/>
                  <a:pt x="3513542" y="190500"/>
                  <a:pt x="349250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8432800" y="2446021"/>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0.683</a:t>
            </a:r>
            <a:endParaRPr b="0" i="0" sz="1200" u="none" cap="none" strike="noStrike">
              <a:solidFill>
                <a:schemeClr val="dk1"/>
              </a:solidFill>
              <a:latin typeface="Carlito"/>
              <a:ea typeface="Carlito"/>
              <a:cs typeface="Carlito"/>
              <a:sym typeface="Carlito"/>
            </a:endParaRPr>
          </a:p>
        </p:txBody>
      </p:sp>
      <p:sp>
        <p:nvSpPr>
          <p:cNvPr id="290" name="Google Shape;290;p13"/>
          <p:cNvSpPr/>
          <p:nvPr/>
        </p:nvSpPr>
        <p:spPr>
          <a:xfrm>
            <a:off x="736600" y="2748279"/>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raw_missing_count</a:t>
            </a:r>
            <a:endParaRPr b="0" i="0" sz="1200" u="none" cap="none" strike="noStrike">
              <a:solidFill>
                <a:schemeClr val="dk1"/>
              </a:solidFill>
              <a:latin typeface="Carlito"/>
              <a:ea typeface="Carlito"/>
              <a:cs typeface="Carlito"/>
              <a:sym typeface="Carlito"/>
            </a:endParaRPr>
          </a:p>
        </p:txBody>
      </p:sp>
      <p:sp>
        <p:nvSpPr>
          <p:cNvPr id="291" name="Google Shape;291;p13"/>
          <p:cNvSpPr/>
          <p:nvPr/>
        </p:nvSpPr>
        <p:spPr>
          <a:xfrm>
            <a:off x="3479800" y="2759714"/>
            <a:ext cx="3435350" cy="190500"/>
          </a:xfrm>
          <a:custGeom>
            <a:rect b="b" l="l" r="r" t="t"/>
            <a:pathLst>
              <a:path extrusionOk="0" h="190500" w="3435350">
                <a:moveTo>
                  <a:pt x="0" y="0"/>
                </a:moveTo>
                <a:lnTo>
                  <a:pt x="3397250" y="0"/>
                </a:lnTo>
                <a:cubicBezTo>
                  <a:pt x="3407355" y="0"/>
                  <a:pt x="3417046" y="4014"/>
                  <a:pt x="3424191" y="11159"/>
                </a:cubicBezTo>
                <a:cubicBezTo>
                  <a:pt x="3431336" y="18304"/>
                  <a:pt x="3435350" y="27995"/>
                  <a:pt x="3435350" y="38100"/>
                </a:cubicBezTo>
                <a:lnTo>
                  <a:pt x="3435350" y="152400"/>
                </a:lnTo>
                <a:cubicBezTo>
                  <a:pt x="3435350" y="173442"/>
                  <a:pt x="3418292" y="190500"/>
                  <a:pt x="339725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8432800" y="2748279"/>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0.678</a:t>
            </a:r>
            <a:endParaRPr b="0" i="0" sz="1200" u="none" cap="none" strike="noStrike">
              <a:solidFill>
                <a:schemeClr val="dk1"/>
              </a:solidFill>
              <a:latin typeface="Carlito"/>
              <a:ea typeface="Carlito"/>
              <a:cs typeface="Carlito"/>
              <a:sym typeface="Carlito"/>
            </a:endParaRPr>
          </a:p>
        </p:txBody>
      </p:sp>
      <p:sp>
        <p:nvSpPr>
          <p:cNvPr id="293" name="Google Shape;293;p13"/>
          <p:cNvSpPr/>
          <p:nvPr/>
        </p:nvSpPr>
        <p:spPr>
          <a:xfrm>
            <a:off x="736600" y="3050542"/>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freq_id_31</a:t>
            </a:r>
            <a:endParaRPr b="0" i="0" sz="1200" u="none" cap="none" strike="noStrike">
              <a:solidFill>
                <a:schemeClr val="dk1"/>
              </a:solidFill>
              <a:latin typeface="Carlito"/>
              <a:ea typeface="Carlito"/>
              <a:cs typeface="Carlito"/>
              <a:sym typeface="Carlito"/>
            </a:endParaRPr>
          </a:p>
        </p:txBody>
      </p:sp>
      <p:sp>
        <p:nvSpPr>
          <p:cNvPr id="294" name="Google Shape;294;p13"/>
          <p:cNvSpPr/>
          <p:nvPr/>
        </p:nvSpPr>
        <p:spPr>
          <a:xfrm>
            <a:off x="3479800" y="3061971"/>
            <a:ext cx="3244850" cy="190500"/>
          </a:xfrm>
          <a:custGeom>
            <a:rect b="b" l="l" r="r" t="t"/>
            <a:pathLst>
              <a:path extrusionOk="0" h="190500" w="3244850">
                <a:moveTo>
                  <a:pt x="0" y="0"/>
                </a:moveTo>
                <a:lnTo>
                  <a:pt x="3206750" y="0"/>
                </a:lnTo>
                <a:cubicBezTo>
                  <a:pt x="3216855" y="0"/>
                  <a:pt x="3226546" y="4014"/>
                  <a:pt x="3233691" y="11159"/>
                </a:cubicBezTo>
                <a:cubicBezTo>
                  <a:pt x="3240836" y="18304"/>
                  <a:pt x="3244850" y="27995"/>
                  <a:pt x="3244850" y="38100"/>
                </a:cubicBezTo>
                <a:lnTo>
                  <a:pt x="3244850" y="152400"/>
                </a:lnTo>
                <a:cubicBezTo>
                  <a:pt x="3244850" y="173442"/>
                  <a:pt x="3227792" y="190500"/>
                  <a:pt x="320675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8432800" y="3050542"/>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0.668</a:t>
            </a:r>
            <a:endParaRPr b="0" i="0" sz="1200" u="none" cap="none" strike="noStrike">
              <a:solidFill>
                <a:schemeClr val="dk1"/>
              </a:solidFill>
              <a:latin typeface="Carlito"/>
              <a:ea typeface="Carlito"/>
              <a:cs typeface="Carlito"/>
              <a:sym typeface="Carlito"/>
            </a:endParaRPr>
          </a:p>
        </p:txBody>
      </p:sp>
      <p:sp>
        <p:nvSpPr>
          <p:cNvPr id="296" name="Google Shape;296;p13"/>
          <p:cNvSpPr/>
          <p:nvPr/>
        </p:nvSpPr>
        <p:spPr>
          <a:xfrm>
            <a:off x="736600" y="3352800"/>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has_identity</a:t>
            </a:r>
            <a:endParaRPr b="0" i="0" sz="1200" u="none" cap="none" strike="noStrike">
              <a:solidFill>
                <a:schemeClr val="dk1"/>
              </a:solidFill>
              <a:latin typeface="Carlito"/>
              <a:ea typeface="Carlito"/>
              <a:cs typeface="Carlito"/>
              <a:sym typeface="Carlito"/>
            </a:endParaRPr>
          </a:p>
        </p:txBody>
      </p:sp>
      <p:sp>
        <p:nvSpPr>
          <p:cNvPr id="297" name="Google Shape;297;p13"/>
          <p:cNvSpPr/>
          <p:nvPr/>
        </p:nvSpPr>
        <p:spPr>
          <a:xfrm>
            <a:off x="3479800" y="3364229"/>
            <a:ext cx="3225800" cy="190500"/>
          </a:xfrm>
          <a:custGeom>
            <a:rect b="b" l="l" r="r" t="t"/>
            <a:pathLst>
              <a:path extrusionOk="0" h="190500" w="3225800">
                <a:moveTo>
                  <a:pt x="0" y="0"/>
                </a:moveTo>
                <a:lnTo>
                  <a:pt x="3187700" y="0"/>
                </a:lnTo>
                <a:cubicBezTo>
                  <a:pt x="3197805" y="0"/>
                  <a:pt x="3207496" y="4014"/>
                  <a:pt x="3214641" y="11159"/>
                </a:cubicBezTo>
                <a:cubicBezTo>
                  <a:pt x="3221786" y="18304"/>
                  <a:pt x="3225800" y="27995"/>
                  <a:pt x="3225800" y="38100"/>
                </a:cubicBezTo>
                <a:lnTo>
                  <a:pt x="3225800" y="152400"/>
                </a:lnTo>
                <a:cubicBezTo>
                  <a:pt x="3225800" y="173442"/>
                  <a:pt x="3208742" y="190500"/>
                  <a:pt x="318770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8432800" y="3352800"/>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0.667</a:t>
            </a:r>
            <a:endParaRPr b="0" i="0" sz="1200" u="none" cap="none" strike="noStrike">
              <a:solidFill>
                <a:schemeClr val="dk1"/>
              </a:solidFill>
              <a:latin typeface="Carlito"/>
              <a:ea typeface="Carlito"/>
              <a:cs typeface="Carlito"/>
              <a:sym typeface="Carlito"/>
            </a:endParaRPr>
          </a:p>
        </p:txBody>
      </p:sp>
      <p:sp>
        <p:nvSpPr>
          <p:cNvPr id="299" name="Google Shape;299;p13"/>
          <p:cNvSpPr/>
          <p:nvPr/>
        </p:nvSpPr>
        <p:spPr>
          <a:xfrm>
            <a:off x="736600" y="3655064"/>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freq_addr1</a:t>
            </a:r>
            <a:endParaRPr b="0" i="0" sz="1200" u="none" cap="none" strike="noStrike">
              <a:solidFill>
                <a:schemeClr val="dk1"/>
              </a:solidFill>
              <a:latin typeface="Carlito"/>
              <a:ea typeface="Carlito"/>
              <a:cs typeface="Carlito"/>
              <a:sym typeface="Carlito"/>
            </a:endParaRPr>
          </a:p>
        </p:txBody>
      </p:sp>
      <p:sp>
        <p:nvSpPr>
          <p:cNvPr id="300" name="Google Shape;300;p13"/>
          <p:cNvSpPr/>
          <p:nvPr/>
        </p:nvSpPr>
        <p:spPr>
          <a:xfrm>
            <a:off x="3479800" y="3666492"/>
            <a:ext cx="2933700" cy="190500"/>
          </a:xfrm>
          <a:custGeom>
            <a:rect b="b" l="l" r="r" t="t"/>
            <a:pathLst>
              <a:path extrusionOk="0" h="190500" w="2933700">
                <a:moveTo>
                  <a:pt x="0" y="0"/>
                </a:moveTo>
                <a:lnTo>
                  <a:pt x="2895600" y="0"/>
                </a:lnTo>
                <a:cubicBezTo>
                  <a:pt x="2905705" y="0"/>
                  <a:pt x="2915396" y="4014"/>
                  <a:pt x="2922541" y="11159"/>
                </a:cubicBezTo>
                <a:cubicBezTo>
                  <a:pt x="2929686" y="18304"/>
                  <a:pt x="2933700" y="27995"/>
                  <a:pt x="2933700" y="38100"/>
                </a:cubicBezTo>
                <a:lnTo>
                  <a:pt x="2933700" y="152400"/>
                </a:lnTo>
                <a:cubicBezTo>
                  <a:pt x="2933700" y="173442"/>
                  <a:pt x="2916642" y="190500"/>
                  <a:pt x="289560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8432800" y="3655064"/>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0.652</a:t>
            </a:r>
            <a:endParaRPr b="0" i="0" sz="1200" u="none" cap="none" strike="noStrike">
              <a:solidFill>
                <a:schemeClr val="dk1"/>
              </a:solidFill>
              <a:latin typeface="Carlito"/>
              <a:ea typeface="Carlito"/>
              <a:cs typeface="Carlito"/>
              <a:sym typeface="Carlito"/>
            </a:endParaRPr>
          </a:p>
        </p:txBody>
      </p:sp>
      <p:sp>
        <p:nvSpPr>
          <p:cNvPr id="302" name="Google Shape;302;p13"/>
          <p:cNvSpPr/>
          <p:nvPr/>
        </p:nvSpPr>
        <p:spPr>
          <a:xfrm>
            <a:off x="736600" y="3957321"/>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k1_secs_since_prev</a:t>
            </a:r>
            <a:endParaRPr b="0" i="0" sz="1200" u="none" cap="none" strike="noStrike">
              <a:solidFill>
                <a:schemeClr val="dk1"/>
              </a:solidFill>
              <a:latin typeface="Carlito"/>
              <a:ea typeface="Carlito"/>
              <a:cs typeface="Carlito"/>
              <a:sym typeface="Carlito"/>
            </a:endParaRPr>
          </a:p>
        </p:txBody>
      </p:sp>
      <p:sp>
        <p:nvSpPr>
          <p:cNvPr id="303" name="Google Shape;303;p13"/>
          <p:cNvSpPr/>
          <p:nvPr/>
        </p:nvSpPr>
        <p:spPr>
          <a:xfrm>
            <a:off x="3479800" y="3968750"/>
            <a:ext cx="2762250" cy="190500"/>
          </a:xfrm>
          <a:custGeom>
            <a:rect b="b" l="l" r="r" t="t"/>
            <a:pathLst>
              <a:path extrusionOk="0" h="190500" w="2762250">
                <a:moveTo>
                  <a:pt x="0" y="0"/>
                </a:moveTo>
                <a:lnTo>
                  <a:pt x="2724150" y="0"/>
                </a:lnTo>
                <a:cubicBezTo>
                  <a:pt x="2734255" y="0"/>
                  <a:pt x="2743946" y="4014"/>
                  <a:pt x="2751091" y="11159"/>
                </a:cubicBezTo>
                <a:cubicBezTo>
                  <a:pt x="2758236" y="18304"/>
                  <a:pt x="2762250" y="27995"/>
                  <a:pt x="2762250" y="38100"/>
                </a:cubicBezTo>
                <a:lnTo>
                  <a:pt x="2762250" y="152400"/>
                </a:lnTo>
                <a:cubicBezTo>
                  <a:pt x="2762250" y="173442"/>
                  <a:pt x="2745192" y="190500"/>
                  <a:pt x="272415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p:nvPr/>
        </p:nvSpPr>
        <p:spPr>
          <a:xfrm>
            <a:off x="8432800" y="3957321"/>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0.643</a:t>
            </a:r>
            <a:endParaRPr b="0" i="0" sz="1200" u="none" cap="none" strike="noStrike">
              <a:solidFill>
                <a:schemeClr val="dk1"/>
              </a:solidFill>
              <a:latin typeface="Carlito"/>
              <a:ea typeface="Carlito"/>
              <a:cs typeface="Carlito"/>
              <a:sym typeface="Carlito"/>
            </a:endParaRPr>
          </a:p>
        </p:txBody>
      </p:sp>
      <p:sp>
        <p:nvSpPr>
          <p:cNvPr id="305" name="Google Shape;305;p13"/>
          <p:cNvSpPr/>
          <p:nvPr/>
        </p:nvSpPr>
        <p:spPr>
          <a:xfrm>
            <a:off x="736600" y="4259579"/>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beh_k1_prior_same_amt_count</a:t>
            </a:r>
            <a:endParaRPr b="0" i="0" sz="1200" u="none" cap="none" strike="noStrike">
              <a:solidFill>
                <a:schemeClr val="dk1"/>
              </a:solidFill>
              <a:latin typeface="Carlito"/>
              <a:ea typeface="Carlito"/>
              <a:cs typeface="Carlito"/>
              <a:sym typeface="Carlito"/>
            </a:endParaRPr>
          </a:p>
        </p:txBody>
      </p:sp>
      <p:sp>
        <p:nvSpPr>
          <p:cNvPr id="306" name="Google Shape;306;p13"/>
          <p:cNvSpPr/>
          <p:nvPr/>
        </p:nvSpPr>
        <p:spPr>
          <a:xfrm>
            <a:off x="3479800" y="4271014"/>
            <a:ext cx="2159000" cy="190500"/>
          </a:xfrm>
          <a:custGeom>
            <a:rect b="b" l="l" r="r" t="t"/>
            <a:pathLst>
              <a:path extrusionOk="0" h="190500" w="2159000">
                <a:moveTo>
                  <a:pt x="0" y="0"/>
                </a:moveTo>
                <a:lnTo>
                  <a:pt x="2120900" y="0"/>
                </a:lnTo>
                <a:cubicBezTo>
                  <a:pt x="2131005" y="0"/>
                  <a:pt x="2140696" y="4014"/>
                  <a:pt x="2147841" y="11159"/>
                </a:cubicBezTo>
                <a:cubicBezTo>
                  <a:pt x="2154986" y="18304"/>
                  <a:pt x="2159000" y="27995"/>
                  <a:pt x="2159000" y="38100"/>
                </a:cubicBezTo>
                <a:lnTo>
                  <a:pt x="2159000" y="152400"/>
                </a:lnTo>
                <a:cubicBezTo>
                  <a:pt x="2159000" y="173442"/>
                  <a:pt x="2141942" y="190500"/>
                  <a:pt x="212090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8432800" y="4259579"/>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0.612</a:t>
            </a:r>
            <a:endParaRPr b="0" i="0" sz="1200" u="none" cap="none" strike="noStrike">
              <a:solidFill>
                <a:schemeClr val="dk1"/>
              </a:solidFill>
              <a:latin typeface="Carlito"/>
              <a:ea typeface="Carlito"/>
              <a:cs typeface="Carlito"/>
              <a:sym typeface="Carlito"/>
            </a:endParaRPr>
          </a:p>
        </p:txBody>
      </p:sp>
      <p:sp>
        <p:nvSpPr>
          <p:cNvPr id="308" name="Google Shape;308;p13"/>
          <p:cNvSpPr/>
          <p:nvPr/>
        </p:nvSpPr>
        <p:spPr>
          <a:xfrm>
            <a:off x="736600" y="4561842"/>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vel_k1_txn_1h</a:t>
            </a:r>
            <a:endParaRPr b="0" i="0" sz="1200" u="none" cap="none" strike="noStrike">
              <a:solidFill>
                <a:schemeClr val="dk1"/>
              </a:solidFill>
              <a:latin typeface="Carlito"/>
              <a:ea typeface="Carlito"/>
              <a:cs typeface="Carlito"/>
              <a:sym typeface="Carlito"/>
            </a:endParaRPr>
          </a:p>
        </p:txBody>
      </p:sp>
      <p:sp>
        <p:nvSpPr>
          <p:cNvPr id="309" name="Google Shape;309;p13"/>
          <p:cNvSpPr/>
          <p:nvPr/>
        </p:nvSpPr>
        <p:spPr>
          <a:xfrm>
            <a:off x="3479800" y="4573271"/>
            <a:ext cx="1949450" cy="190500"/>
          </a:xfrm>
          <a:custGeom>
            <a:rect b="b" l="l" r="r" t="t"/>
            <a:pathLst>
              <a:path extrusionOk="0" h="190500" w="1949450">
                <a:moveTo>
                  <a:pt x="0" y="0"/>
                </a:moveTo>
                <a:lnTo>
                  <a:pt x="1911350" y="0"/>
                </a:lnTo>
                <a:cubicBezTo>
                  <a:pt x="1921455" y="0"/>
                  <a:pt x="1931146" y="4014"/>
                  <a:pt x="1938291" y="11159"/>
                </a:cubicBezTo>
                <a:cubicBezTo>
                  <a:pt x="1945436" y="18304"/>
                  <a:pt x="1949450" y="27995"/>
                  <a:pt x="1949450" y="38100"/>
                </a:cubicBezTo>
                <a:lnTo>
                  <a:pt x="1949450" y="152400"/>
                </a:lnTo>
                <a:cubicBezTo>
                  <a:pt x="1949450" y="173442"/>
                  <a:pt x="1932392" y="190500"/>
                  <a:pt x="191135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p:nvPr/>
        </p:nvSpPr>
        <p:spPr>
          <a:xfrm>
            <a:off x="8432800" y="4561842"/>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0.601</a:t>
            </a:r>
            <a:endParaRPr b="0" i="0" sz="1200" u="none" cap="none" strike="noStrike">
              <a:solidFill>
                <a:schemeClr val="dk1"/>
              </a:solidFill>
              <a:latin typeface="Carlito"/>
              <a:ea typeface="Carlito"/>
              <a:cs typeface="Carlito"/>
              <a:sym typeface="Carlito"/>
            </a:endParaRPr>
          </a:p>
        </p:txBody>
      </p:sp>
      <p:sp>
        <p:nvSpPr>
          <p:cNvPr id="311" name="Google Shape;311;p13"/>
          <p:cNvSpPr/>
          <p:nvPr/>
        </p:nvSpPr>
        <p:spPr>
          <a:xfrm>
            <a:off x="736600" y="4864100"/>
            <a:ext cx="26162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1F2937"/>
              </a:buClr>
              <a:buSzPts val="1200"/>
              <a:buFont typeface="Carlito"/>
              <a:buNone/>
            </a:pPr>
            <a:r>
              <a:rPr b="0" i="0" lang="en-US" sz="1200" u="none" cap="none" strike="noStrike">
                <a:solidFill>
                  <a:srgbClr val="1F2937"/>
                </a:solidFill>
                <a:latin typeface="Carlito"/>
                <a:ea typeface="Carlito"/>
                <a:cs typeface="Carlito"/>
                <a:sym typeface="Carlito"/>
              </a:rPr>
              <a:t>hour_sin</a:t>
            </a:r>
            <a:endParaRPr b="0" i="0" sz="1200" u="none" cap="none" strike="noStrike">
              <a:solidFill>
                <a:schemeClr val="dk1"/>
              </a:solidFill>
              <a:latin typeface="Carlito"/>
              <a:ea typeface="Carlito"/>
              <a:cs typeface="Carlito"/>
              <a:sym typeface="Carlito"/>
            </a:endParaRPr>
          </a:p>
        </p:txBody>
      </p:sp>
      <p:sp>
        <p:nvSpPr>
          <p:cNvPr id="312" name="Google Shape;312;p13"/>
          <p:cNvSpPr/>
          <p:nvPr/>
        </p:nvSpPr>
        <p:spPr>
          <a:xfrm>
            <a:off x="3479800" y="4875529"/>
            <a:ext cx="850900" cy="190500"/>
          </a:xfrm>
          <a:custGeom>
            <a:rect b="b" l="l" r="r" t="t"/>
            <a:pathLst>
              <a:path extrusionOk="0" h="190500" w="850900">
                <a:moveTo>
                  <a:pt x="0" y="0"/>
                </a:moveTo>
                <a:lnTo>
                  <a:pt x="812800" y="0"/>
                </a:lnTo>
                <a:cubicBezTo>
                  <a:pt x="822905" y="0"/>
                  <a:pt x="832596" y="4014"/>
                  <a:pt x="839741" y="11159"/>
                </a:cubicBezTo>
                <a:cubicBezTo>
                  <a:pt x="846886" y="18304"/>
                  <a:pt x="850900" y="27995"/>
                  <a:pt x="850900" y="38100"/>
                </a:cubicBezTo>
                <a:lnTo>
                  <a:pt x="850900" y="152400"/>
                </a:lnTo>
                <a:cubicBezTo>
                  <a:pt x="850900" y="173442"/>
                  <a:pt x="833842" y="190500"/>
                  <a:pt x="812800" y="190500"/>
                </a:cubicBezTo>
                <a:lnTo>
                  <a:pt x="0" y="190500"/>
                </a:lnTo>
                <a:lnTo>
                  <a:pt x="0" y="0"/>
                </a:lnTo>
                <a:close/>
              </a:path>
            </a:pathLst>
          </a:custGeom>
          <a:solidFill>
            <a:srgbClr val="AEB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8432800" y="4864100"/>
            <a:ext cx="749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0.544</a:t>
            </a:r>
            <a:endParaRPr b="0" i="0" sz="1200" u="none" cap="none" strike="noStrike">
              <a:solidFill>
                <a:schemeClr val="dk1"/>
              </a:solidFill>
              <a:latin typeface="Carlito"/>
              <a:ea typeface="Carlito"/>
              <a:cs typeface="Carlito"/>
              <a:sym typeface="Carlito"/>
            </a:endParaRPr>
          </a:p>
        </p:txBody>
      </p:sp>
      <p:sp>
        <p:nvSpPr>
          <p:cNvPr id="314" name="Google Shape;314;p13"/>
          <p:cNvSpPr/>
          <p:nvPr/>
        </p:nvSpPr>
        <p:spPr>
          <a:xfrm>
            <a:off x="9436100" y="1841500"/>
            <a:ext cx="1943100" cy="3037840"/>
          </a:xfrm>
          <a:prstGeom prst="roundRect">
            <a:avLst>
              <a:gd fmla="val 5229" name="adj"/>
            </a:avLst>
          </a:prstGeom>
          <a:solidFill>
            <a:srgbClr val="F3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3"/>
          <p:cNvSpPr/>
          <p:nvPr/>
        </p:nvSpPr>
        <p:spPr>
          <a:xfrm>
            <a:off x="9664700" y="2070100"/>
            <a:ext cx="1536700" cy="14122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937"/>
              </a:buClr>
              <a:buSzPts val="1300"/>
              <a:buFont typeface="Carlito"/>
              <a:buNone/>
            </a:pPr>
            <a:r>
              <a:rPr b="1" i="0" lang="en-US" sz="1300" u="none" cap="none" strike="noStrike">
                <a:solidFill>
                  <a:srgbClr val="1F2937"/>
                </a:solidFill>
                <a:latin typeface="Carlito"/>
                <a:ea typeface="Carlito"/>
                <a:cs typeface="Carlito"/>
                <a:sym typeface="Carlito"/>
              </a:rPr>
              <a:t>Encoded card2</a:t>
            </a:r>
            <a:r>
              <a:rPr b="0" i="0" lang="en-US" sz="1300" u="none" cap="none" strike="noStrike">
                <a:solidFill>
                  <a:srgbClr val="1F2937"/>
                </a:solidFill>
                <a:latin typeface="Carlito"/>
                <a:ea typeface="Carlito"/>
                <a:cs typeface="Carlito"/>
                <a:sym typeface="Carlito"/>
              </a:rPr>
              <a:t> leads. Most of the rest repeat one signal: </a:t>
            </a:r>
            <a:r>
              <a:rPr b="1" i="0" lang="en-US" sz="1300" u="none" cap="none" strike="noStrike">
                <a:solidFill>
                  <a:srgbClr val="1F2937"/>
                </a:solidFill>
                <a:latin typeface="Carlito"/>
                <a:ea typeface="Carlito"/>
                <a:cs typeface="Carlito"/>
                <a:sym typeface="Carlito"/>
              </a:rPr>
              <a:t>whether a transaction has identity data</a:t>
            </a:r>
            <a:r>
              <a:rPr b="0" i="0" lang="en-US" sz="1300" u="none" cap="none" strike="noStrike">
                <a:solidFill>
                  <a:srgbClr val="1F2937"/>
                </a:solidFill>
                <a:latin typeface="Carlito"/>
                <a:ea typeface="Carlito"/>
                <a:cs typeface="Carlito"/>
                <a:sym typeface="Carlito"/>
              </a:rPr>
              <a:t>.</a:t>
            </a:r>
            <a:endParaRPr b="0" i="0" sz="1300" u="none" cap="none" strike="noStrike">
              <a:solidFill>
                <a:schemeClr val="dk1"/>
              </a:solidFill>
              <a:latin typeface="Carlito"/>
              <a:ea typeface="Carlito"/>
              <a:cs typeface="Carlito"/>
              <a:sym typeface="Carlito"/>
            </a:endParaRPr>
          </a:p>
        </p:txBody>
      </p:sp>
      <p:sp>
        <p:nvSpPr>
          <p:cNvPr id="316" name="Google Shape;316;p13"/>
          <p:cNvSpPr/>
          <p:nvPr/>
        </p:nvSpPr>
        <p:spPr>
          <a:xfrm>
            <a:off x="9664700" y="3583942"/>
            <a:ext cx="1536700" cy="10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Low scores aren’t useless: AUC misses bumps like the fraud peak in hours 5 to 10, and features combine.</a:t>
            </a:r>
            <a:endParaRPr b="0" i="0" sz="1200" u="none" cap="none" strike="noStrike">
              <a:solidFill>
                <a:schemeClr val="dk1"/>
              </a:solidFill>
              <a:latin typeface="Carlito"/>
              <a:ea typeface="Carlito"/>
              <a:cs typeface="Carlito"/>
              <a:sym typeface="Carlito"/>
            </a:endParaRPr>
          </a:p>
        </p:txBody>
      </p:sp>
      <p:sp>
        <p:nvSpPr>
          <p:cNvPr id="317" name="Google Shape;317;p13"/>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318" name="Google Shape;318;p13"/>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13</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14"/>
          <p:cNvSpPr txBox="1"/>
          <p:nvPr>
            <p:ph type="title"/>
          </p:nvPr>
        </p:nvSpPr>
        <p:spPr>
          <a:xfrm>
            <a:off x="812800" y="711200"/>
            <a:ext cx="10883392" cy="9017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Encoded card2 alone catches half the fraud at 11.3 flags per fraud</a:t>
            </a:r>
            <a:endParaRPr sz="3000"/>
          </a:p>
        </p:txBody>
      </p:sp>
      <p:sp>
        <p:nvSpPr>
          <p:cNvPr id="325" name="Google Shape;325;p14"/>
          <p:cNvSpPr/>
          <p:nvPr/>
        </p:nvSpPr>
        <p:spPr>
          <a:xfrm>
            <a:off x="812800" y="1841500"/>
            <a:ext cx="732536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KS table for te_card2 on validation (1,851 fraud, 57,203 legitimate), the advisor’s format:</a:t>
            </a:r>
            <a:endParaRPr b="0" i="0" sz="1200" u="none" cap="none" strike="noStrike">
              <a:solidFill>
                <a:schemeClr val="dk1"/>
              </a:solidFill>
              <a:latin typeface="Carlito"/>
              <a:ea typeface="Carlito"/>
              <a:cs typeface="Carlito"/>
              <a:sym typeface="Carlito"/>
            </a:endParaRPr>
          </a:p>
        </p:txBody>
      </p:sp>
      <p:cxnSp>
        <p:nvCxnSpPr>
          <p:cNvPr id="326" name="Google Shape;326;p14"/>
          <p:cNvCxnSpPr/>
          <p:nvPr/>
        </p:nvCxnSpPr>
        <p:spPr>
          <a:xfrm>
            <a:off x="7921625" y="2181864"/>
            <a:ext cx="0" cy="1879600"/>
          </a:xfrm>
          <a:prstGeom prst="straightConnector1">
            <a:avLst/>
          </a:prstGeom>
          <a:noFill/>
          <a:ln cap="flat" cmpd="sng" w="9525">
            <a:solidFill>
              <a:srgbClr val="D8DEE8"/>
            </a:solidFill>
            <a:prstDash val="solid"/>
            <a:round/>
            <a:headEnd len="sm" w="sm" type="none"/>
            <a:tailEnd len="sm" w="sm" type="none"/>
          </a:ln>
        </p:spPr>
      </p:cxnSp>
      <p:cxnSp>
        <p:nvCxnSpPr>
          <p:cNvPr id="327" name="Google Shape;327;p14"/>
          <p:cNvCxnSpPr/>
          <p:nvPr/>
        </p:nvCxnSpPr>
        <p:spPr>
          <a:xfrm>
            <a:off x="812800" y="4058289"/>
            <a:ext cx="7112000" cy="0"/>
          </a:xfrm>
          <a:prstGeom prst="straightConnector1">
            <a:avLst/>
          </a:prstGeom>
          <a:noFill/>
          <a:ln cap="flat" cmpd="sng" w="9525">
            <a:solidFill>
              <a:srgbClr val="D8DEE8"/>
            </a:solidFill>
            <a:prstDash val="solid"/>
            <a:round/>
            <a:headEnd len="sm" w="sm" type="none"/>
            <a:tailEnd len="sm" w="sm" type="none"/>
          </a:ln>
        </p:spPr>
      </p:cxnSp>
      <p:graphicFrame>
        <p:nvGraphicFramePr>
          <p:cNvPr id="328" name="Google Shape;328;p14"/>
          <p:cNvGraphicFramePr/>
          <p:nvPr/>
        </p:nvGraphicFramePr>
        <p:xfrm>
          <a:off x="822960" y="2192024"/>
          <a:ext cx="3000000" cy="3000000"/>
        </p:xfrm>
        <a:graphic>
          <a:graphicData uri="http://schemas.openxmlformats.org/drawingml/2006/table">
            <a:tbl>
              <a:tblPr>
                <a:noFill/>
                <a:tableStyleId>{B1428F95-D982-4F4E-99CC-6B386F8E9489}</a:tableStyleId>
              </a:tblPr>
              <a:tblGrid>
                <a:gridCol w="922575"/>
                <a:gridCol w="922575"/>
                <a:gridCol w="1064525"/>
                <a:gridCol w="1064525"/>
                <a:gridCol w="1135475"/>
                <a:gridCol w="993550"/>
                <a:gridCol w="993550"/>
              </a:tblGrid>
              <a:tr h="543550">
                <a:tc>
                  <a:txBody>
                    <a:bodyPr/>
                    <a:lstStyle/>
                    <a:p>
                      <a:pPr indent="0" lvl="0" marL="0" marR="0" rtl="0" algn="l">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Flag the top</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Fraud caught</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Detection rate</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Legit flagged</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Share of legit</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TFPR</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r">
                        <a:lnSpc>
                          <a:spcPct val="140000"/>
                        </a:lnSpc>
                        <a:spcBef>
                          <a:spcPts val="0"/>
                        </a:spcBef>
                        <a:spcAft>
                          <a:spcPts val="0"/>
                        </a:spcAft>
                        <a:buClr>
                          <a:srgbClr val="FFFFFF"/>
                        </a:buClr>
                        <a:buSzPts val="1200"/>
                        <a:buFont typeface="Carlito"/>
                        <a:buNone/>
                      </a:pPr>
                      <a:r>
                        <a:rPr b="1" lang="en-US" sz="1200" u="none" cap="none" strike="noStrike">
                          <a:solidFill>
                            <a:srgbClr val="FFFFFF"/>
                          </a:solidFill>
                          <a:latin typeface="Carlito"/>
                          <a:ea typeface="Carlito"/>
                          <a:cs typeface="Carlito"/>
                          <a:sym typeface="Carlito"/>
                        </a:rPr>
                        <a:t>KS</a:t>
                      </a:r>
                      <a:endParaRPr sz="1200" u="none" cap="none" strike="noStrike">
                        <a:latin typeface="Carlito"/>
                        <a:ea typeface="Carlito"/>
                        <a:cs typeface="Carlito"/>
                        <a:sym typeface="Carlito"/>
                      </a:endParaRPr>
                    </a:p>
                  </a:txBody>
                  <a:tcPr marT="53350" marB="53350" marR="53350" marL="53350">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742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40.1%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5,164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9.0%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7.0:1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0.311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958</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51.8%</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10,853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19.0%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D7263D"/>
                        </a:buClr>
                        <a:buSzPts val="1200"/>
                        <a:buFont typeface="Carlito"/>
                        <a:buNone/>
                      </a:pPr>
                      <a:r>
                        <a:rPr lang="en-US" sz="1200" u="none" cap="none" strike="noStrike">
                          <a:solidFill>
                            <a:srgbClr val="D7263D"/>
                          </a:solidFill>
                          <a:latin typeface="Carlito"/>
                          <a:ea typeface="Carlito"/>
                          <a:cs typeface="Carlito"/>
                          <a:sym typeface="Carlito"/>
                        </a:rPr>
                        <a:t>11.3:1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0.328</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1,112</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60.1%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16,604</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29.0%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14.9:1</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0.310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30200">
                <a:tc>
                  <a:txBody>
                    <a:bodyPr/>
                    <a:lstStyle/>
                    <a:p>
                      <a:pPr indent="0" lvl="0" marL="0" marR="0" rtl="0" algn="l">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All (100%)</a:t>
                      </a:r>
                      <a:endParaRPr sz="1200" u="none" cap="none" strike="noStrike">
                        <a:latin typeface="Carlito"/>
                        <a:ea typeface="Carlito"/>
                        <a:cs typeface="Carlito"/>
                        <a:sym typeface="Carlito"/>
                      </a:endParaRPr>
                    </a:p>
                  </a:txBody>
                  <a:tcPr marT="53350" marB="53350" marR="53350" marL="53350">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1,851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57,203</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100%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30.9:1</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r">
                        <a:lnSpc>
                          <a:spcPct val="140000"/>
                        </a:lnSpc>
                        <a:spcBef>
                          <a:spcPts val="0"/>
                        </a:spcBef>
                        <a:spcAft>
                          <a:spcPts val="0"/>
                        </a:spcAft>
                        <a:buClr>
                          <a:srgbClr val="1F2937"/>
                        </a:buClr>
                        <a:buSzPts val="1200"/>
                        <a:buFont typeface="Carlito"/>
                        <a:buNone/>
                      </a:pPr>
                      <a:r>
                        <a:rPr lang="en-US" sz="1200" u="none" cap="none" strike="noStrike">
                          <a:solidFill>
                            <a:srgbClr val="1F2937"/>
                          </a:solidFill>
                          <a:latin typeface="Carlito"/>
                          <a:ea typeface="Carlito"/>
                          <a:cs typeface="Carlito"/>
                          <a:sym typeface="Carlito"/>
                        </a:rPr>
                        <a:t>0</a:t>
                      </a:r>
                      <a:endParaRPr sz="1200" u="none" cap="none" strike="noStrike">
                        <a:latin typeface="Carlito"/>
                        <a:ea typeface="Carlito"/>
                        <a:cs typeface="Carlito"/>
                        <a:sym typeface="Carlito"/>
                      </a:endParaRPr>
                    </a:p>
                  </a:txBody>
                  <a:tcPr marT="53350" marB="53350" marR="53350" marL="53350">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bl>
          </a:graphicData>
        </a:graphic>
      </p:graphicFrame>
      <p:sp>
        <p:nvSpPr>
          <p:cNvPr id="329" name="Google Shape;329;p14"/>
          <p:cNvSpPr/>
          <p:nvPr/>
        </p:nvSpPr>
        <p:spPr>
          <a:xfrm>
            <a:off x="812800" y="4188464"/>
            <a:ext cx="7325360"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100"/>
              <a:buFont typeface="Carlito"/>
              <a:buNone/>
            </a:pPr>
            <a:r>
              <a:rPr b="0" i="0" lang="en-US" sz="1100" u="none" cap="none" strike="noStrike">
                <a:solidFill>
                  <a:srgbClr val="5B6475"/>
                </a:solidFill>
                <a:latin typeface="Carlito"/>
                <a:ea typeface="Carlito"/>
                <a:cs typeface="Carlito"/>
                <a:sym typeface="Carlito"/>
              </a:rPr>
              <a:t>Sharper than raw_missing_count at the top 10% (35% of fraud at 8.1:1), about equal by 20%.</a:t>
            </a:r>
            <a:endParaRPr b="0" i="0" sz="1100" u="none" cap="none" strike="noStrike">
              <a:solidFill>
                <a:schemeClr val="dk1"/>
              </a:solidFill>
              <a:latin typeface="Carlito"/>
              <a:ea typeface="Carlito"/>
              <a:cs typeface="Carlito"/>
              <a:sym typeface="Carlito"/>
            </a:endParaRPr>
          </a:p>
        </p:txBody>
      </p:sp>
      <p:sp>
        <p:nvSpPr>
          <p:cNvPr id="330" name="Google Shape;330;p14"/>
          <p:cNvSpPr/>
          <p:nvPr/>
        </p:nvSpPr>
        <p:spPr>
          <a:xfrm>
            <a:off x="812800" y="4511042"/>
            <a:ext cx="7112000" cy="680720"/>
          </a:xfrm>
          <a:prstGeom prst="roundRect">
            <a:avLst>
              <a:gd fmla="val 11194" name="adj"/>
            </a:avLst>
          </a:prstGeom>
          <a:solidFill>
            <a:srgbClr val="F3F5F9"/>
          </a:solidFill>
          <a:ln>
            <a:noFill/>
          </a:ln>
        </p:spPr>
        <p:txBody>
          <a:bodyPr anchorCtr="0" anchor="t" bIns="79275" lIns="155475" spcFirstLastPara="1" rIns="0" wrap="square" tIns="104675">
            <a:normAutofit/>
          </a:bodyPr>
          <a:lstStyle/>
          <a:p>
            <a:pPr indent="0" lvl="0" marL="0" marR="0" rtl="0" algn="l">
              <a:lnSpc>
                <a:spcPct val="140000"/>
              </a:lnSpc>
              <a:spcBef>
                <a:spcPts val="0"/>
              </a:spcBef>
              <a:spcAft>
                <a:spcPts val="0"/>
              </a:spcAft>
              <a:buClr>
                <a:srgbClr val="1F2937"/>
              </a:buClr>
              <a:buSzPts val="1200"/>
              <a:buFont typeface="Carlito"/>
              <a:buNone/>
            </a:pPr>
            <a:r>
              <a:rPr b="1" i="0" lang="en-US" sz="1200" u="none" cap="none" strike="noStrike">
                <a:solidFill>
                  <a:srgbClr val="1F2937"/>
                </a:solidFill>
                <a:latin typeface="Carlito"/>
                <a:ea typeface="Carlito"/>
                <a:cs typeface="Carlito"/>
                <a:sym typeface="Carlito"/>
              </a:rPr>
              <a:t>Target: about 10:1 TFPR at 50 to 60% detection.</a:t>
            </a:r>
            <a:r>
              <a:rPr b="0" i="0" lang="en-US" sz="1200" u="none" cap="none" strike="noStrike">
                <a:solidFill>
                  <a:srgbClr val="1F2937"/>
                </a:solidFill>
                <a:latin typeface="Carlito"/>
                <a:ea typeface="Carlito"/>
                <a:cs typeface="Carlito"/>
                <a:sym typeface="Carlito"/>
              </a:rPr>
              <a:t> TFPR is legitimate transactions flagged per fraud caught, a fraud-industry ratio. The notes say “10%”; to confirm with Debasmita.</a:t>
            </a:r>
            <a:endParaRPr b="0" i="0" sz="1200" u="none" cap="none" strike="noStrike">
              <a:solidFill>
                <a:schemeClr val="dk1"/>
              </a:solidFill>
              <a:latin typeface="Carlito"/>
              <a:ea typeface="Carlito"/>
              <a:cs typeface="Carlito"/>
              <a:sym typeface="Carlito"/>
            </a:endParaRPr>
          </a:p>
        </p:txBody>
      </p:sp>
      <p:sp>
        <p:nvSpPr>
          <p:cNvPr id="331" name="Google Shape;331;p14"/>
          <p:cNvSpPr/>
          <p:nvPr/>
        </p:nvSpPr>
        <p:spPr>
          <a:xfrm>
            <a:off x="8178800" y="1841500"/>
            <a:ext cx="3200400" cy="2814320"/>
          </a:xfrm>
          <a:prstGeom prst="roundRect">
            <a:avLst>
              <a:gd fmla="val 3610" name="adj"/>
            </a:avLst>
          </a:prstGeom>
          <a:solidFill>
            <a:srgbClr val="16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4"/>
          <p:cNvSpPr/>
          <p:nvPr/>
        </p:nvSpPr>
        <p:spPr>
          <a:xfrm>
            <a:off x="8407400" y="2070100"/>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200"/>
              <a:buFont typeface="Carlito"/>
              <a:buNone/>
            </a:pPr>
            <a:r>
              <a:rPr b="1" i="0" lang="en-US" sz="1200" u="none" cap="none" strike="noStrike">
                <a:solidFill>
                  <a:srgbClr val="FFFFFF"/>
                </a:solidFill>
                <a:latin typeface="Carlito"/>
                <a:ea typeface="Carlito"/>
                <a:cs typeface="Carlito"/>
                <a:sym typeface="Carlito"/>
              </a:rPr>
              <a:t>Formulas, worked for the top 20%</a:t>
            </a:r>
            <a:endParaRPr b="0" i="0" sz="1200" u="none" cap="none" strike="noStrike">
              <a:solidFill>
                <a:schemeClr val="dk1"/>
              </a:solidFill>
              <a:latin typeface="Carlito"/>
              <a:ea typeface="Carlito"/>
              <a:cs typeface="Carlito"/>
              <a:sym typeface="Carlito"/>
            </a:endParaRPr>
          </a:p>
        </p:txBody>
      </p:sp>
      <p:sp>
        <p:nvSpPr>
          <p:cNvPr id="333" name="Google Shape;333;p14"/>
          <p:cNvSpPr/>
          <p:nvPr/>
        </p:nvSpPr>
        <p:spPr>
          <a:xfrm>
            <a:off x="8407400" y="2397764"/>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Detection = fraud caught ÷ all fraud</a:t>
            </a:r>
            <a:endParaRPr b="0" i="0" sz="1200" u="none" cap="none" strike="noStrike">
              <a:solidFill>
                <a:schemeClr val="dk1"/>
              </a:solidFill>
              <a:latin typeface="Carlito"/>
              <a:ea typeface="Carlito"/>
              <a:cs typeface="Carlito"/>
              <a:sym typeface="Carlito"/>
            </a:endParaRPr>
          </a:p>
        </p:txBody>
      </p:sp>
      <p:sp>
        <p:nvSpPr>
          <p:cNvPr id="334" name="Google Shape;334;p14"/>
          <p:cNvSpPr/>
          <p:nvPr/>
        </p:nvSpPr>
        <p:spPr>
          <a:xfrm>
            <a:off x="8407400" y="2623821"/>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958 ÷ 1,851 = 51.8%</a:t>
            </a:r>
            <a:endParaRPr b="0" i="0" sz="1100" u="none" cap="none" strike="noStrike">
              <a:solidFill>
                <a:schemeClr val="dk1"/>
              </a:solidFill>
              <a:latin typeface="Carlito"/>
              <a:ea typeface="Carlito"/>
              <a:cs typeface="Carlito"/>
              <a:sym typeface="Carlito"/>
            </a:endParaRPr>
          </a:p>
        </p:txBody>
      </p:sp>
      <p:sp>
        <p:nvSpPr>
          <p:cNvPr id="335" name="Google Shape;335;p14"/>
          <p:cNvSpPr/>
          <p:nvPr/>
        </p:nvSpPr>
        <p:spPr>
          <a:xfrm>
            <a:off x="8407400" y="2933700"/>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Share of legit = legit flagged ÷ all legit</a:t>
            </a:r>
            <a:endParaRPr b="0" i="0" sz="1200" u="none" cap="none" strike="noStrike">
              <a:solidFill>
                <a:schemeClr val="dk1"/>
              </a:solidFill>
              <a:latin typeface="Carlito"/>
              <a:ea typeface="Carlito"/>
              <a:cs typeface="Carlito"/>
              <a:sym typeface="Carlito"/>
            </a:endParaRPr>
          </a:p>
        </p:txBody>
      </p:sp>
      <p:sp>
        <p:nvSpPr>
          <p:cNvPr id="336" name="Google Shape;336;p14"/>
          <p:cNvSpPr/>
          <p:nvPr/>
        </p:nvSpPr>
        <p:spPr>
          <a:xfrm>
            <a:off x="8407400" y="3159764"/>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10,853 ÷ 57,203 = 19.0%</a:t>
            </a:r>
            <a:endParaRPr b="0" i="0" sz="1100" u="none" cap="none" strike="noStrike">
              <a:solidFill>
                <a:schemeClr val="dk1"/>
              </a:solidFill>
              <a:latin typeface="Carlito"/>
              <a:ea typeface="Carlito"/>
              <a:cs typeface="Carlito"/>
              <a:sym typeface="Carlito"/>
            </a:endParaRPr>
          </a:p>
        </p:txBody>
      </p:sp>
      <p:sp>
        <p:nvSpPr>
          <p:cNvPr id="337" name="Google Shape;337;p14"/>
          <p:cNvSpPr/>
          <p:nvPr/>
        </p:nvSpPr>
        <p:spPr>
          <a:xfrm>
            <a:off x="8407400" y="3469642"/>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TFPR = legit flagged ÷ fraud caught</a:t>
            </a:r>
            <a:endParaRPr b="0" i="0" sz="1200" u="none" cap="none" strike="noStrike">
              <a:solidFill>
                <a:schemeClr val="dk1"/>
              </a:solidFill>
              <a:latin typeface="Carlito"/>
              <a:ea typeface="Carlito"/>
              <a:cs typeface="Carlito"/>
              <a:sym typeface="Carlito"/>
            </a:endParaRPr>
          </a:p>
        </p:txBody>
      </p:sp>
      <p:sp>
        <p:nvSpPr>
          <p:cNvPr id="338" name="Google Shape;338;p14"/>
          <p:cNvSpPr/>
          <p:nvPr/>
        </p:nvSpPr>
        <p:spPr>
          <a:xfrm>
            <a:off x="8407400" y="3695700"/>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10,853 ÷ 958 = 11.3:1</a:t>
            </a:r>
            <a:endParaRPr b="0" i="0" sz="1100" u="none" cap="none" strike="noStrike">
              <a:solidFill>
                <a:schemeClr val="dk1"/>
              </a:solidFill>
              <a:latin typeface="Carlito"/>
              <a:ea typeface="Carlito"/>
              <a:cs typeface="Carlito"/>
              <a:sym typeface="Carlito"/>
            </a:endParaRPr>
          </a:p>
        </p:txBody>
      </p:sp>
      <p:sp>
        <p:nvSpPr>
          <p:cNvPr id="339" name="Google Shape;339;p14"/>
          <p:cNvSpPr/>
          <p:nvPr/>
        </p:nvSpPr>
        <p:spPr>
          <a:xfrm>
            <a:off x="8407400" y="4005579"/>
            <a:ext cx="282549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8A8A"/>
              </a:buClr>
              <a:buSzPts val="1200"/>
              <a:buFont typeface="Carlito"/>
              <a:buNone/>
            </a:pPr>
            <a:r>
              <a:rPr b="0" i="0" lang="en-US" sz="1200" u="none" cap="none" strike="noStrike">
                <a:solidFill>
                  <a:srgbClr val="FF8A8A"/>
                </a:solidFill>
                <a:latin typeface="Carlito"/>
                <a:ea typeface="Carlito"/>
                <a:cs typeface="Carlito"/>
                <a:sym typeface="Carlito"/>
              </a:rPr>
              <a:t>KS = detection − share of legit</a:t>
            </a:r>
            <a:endParaRPr b="0" i="0" sz="1200" u="none" cap="none" strike="noStrike">
              <a:solidFill>
                <a:schemeClr val="dk1"/>
              </a:solidFill>
              <a:latin typeface="Carlito"/>
              <a:ea typeface="Carlito"/>
              <a:cs typeface="Carlito"/>
              <a:sym typeface="Carlito"/>
            </a:endParaRPr>
          </a:p>
        </p:txBody>
      </p:sp>
      <p:sp>
        <p:nvSpPr>
          <p:cNvPr id="340" name="Google Shape;340;p14"/>
          <p:cNvSpPr/>
          <p:nvPr/>
        </p:nvSpPr>
        <p:spPr>
          <a:xfrm>
            <a:off x="8407400" y="4231642"/>
            <a:ext cx="2825496" cy="2209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1E0"/>
              </a:buClr>
              <a:buSzPts val="1100"/>
              <a:buFont typeface="Carlito"/>
              <a:buNone/>
            </a:pPr>
            <a:r>
              <a:rPr b="0" i="0" lang="en-US" sz="1100" u="none" cap="none" strike="noStrike">
                <a:solidFill>
                  <a:srgbClr val="C9D1E0"/>
                </a:solidFill>
                <a:latin typeface="Carlito"/>
                <a:ea typeface="Carlito"/>
                <a:cs typeface="Carlito"/>
                <a:sym typeface="Carlito"/>
              </a:rPr>
              <a:t>0.518 − 0.190 = 0.328</a:t>
            </a:r>
            <a:endParaRPr b="0" i="0" sz="1100" u="none" cap="none" strike="noStrike">
              <a:solidFill>
                <a:schemeClr val="dk1"/>
              </a:solidFill>
              <a:latin typeface="Carlito"/>
              <a:ea typeface="Carlito"/>
              <a:cs typeface="Carlito"/>
              <a:sym typeface="Carlito"/>
            </a:endParaRPr>
          </a:p>
        </p:txBody>
      </p:sp>
      <p:sp>
        <p:nvSpPr>
          <p:cNvPr id="341" name="Google Shape;341;p14"/>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342" name="Google Shape;342;p14"/>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14</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15"/>
          <p:cNvSpPr txBox="1"/>
          <p:nvPr>
            <p:ph type="title"/>
          </p:nvPr>
        </p:nvSpPr>
        <p:spPr>
          <a:xfrm>
            <a:off x="812800" y="711200"/>
            <a:ext cx="10883392" cy="46355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6213E"/>
              </a:buClr>
              <a:buSzPts val="3000"/>
              <a:buFont typeface="Caladea"/>
              <a:buNone/>
            </a:pPr>
            <a:r>
              <a:rPr b="1" i="0" lang="en-US" sz="3000">
                <a:solidFill>
                  <a:srgbClr val="16213E"/>
                </a:solidFill>
                <a:latin typeface="Caladea"/>
                <a:ea typeface="Caladea"/>
                <a:cs typeface="Caladea"/>
                <a:sym typeface="Caladea"/>
              </a:rPr>
              <a:t>The final notebook combines all six teammates’ work</a:t>
            </a:r>
            <a:endParaRPr sz="3000"/>
          </a:p>
        </p:txBody>
      </p:sp>
      <p:cxnSp>
        <p:nvCxnSpPr>
          <p:cNvPr id="349" name="Google Shape;349;p15"/>
          <p:cNvCxnSpPr/>
          <p:nvPr/>
        </p:nvCxnSpPr>
        <p:spPr>
          <a:xfrm>
            <a:off x="11376025" y="1403350"/>
            <a:ext cx="0" cy="2975610"/>
          </a:xfrm>
          <a:prstGeom prst="straightConnector1">
            <a:avLst/>
          </a:prstGeom>
          <a:noFill/>
          <a:ln cap="flat" cmpd="sng" w="9525">
            <a:solidFill>
              <a:srgbClr val="D8DEE8"/>
            </a:solidFill>
            <a:prstDash val="solid"/>
            <a:round/>
            <a:headEnd len="sm" w="sm" type="none"/>
            <a:tailEnd len="sm" w="sm" type="none"/>
          </a:ln>
        </p:spPr>
      </p:cxnSp>
      <p:cxnSp>
        <p:nvCxnSpPr>
          <p:cNvPr id="350" name="Google Shape;350;p15"/>
          <p:cNvCxnSpPr/>
          <p:nvPr/>
        </p:nvCxnSpPr>
        <p:spPr>
          <a:xfrm>
            <a:off x="812800" y="4375785"/>
            <a:ext cx="10566400" cy="0"/>
          </a:xfrm>
          <a:prstGeom prst="straightConnector1">
            <a:avLst/>
          </a:prstGeom>
          <a:noFill/>
          <a:ln cap="flat" cmpd="sng" w="9525">
            <a:solidFill>
              <a:srgbClr val="D8DEE8"/>
            </a:solidFill>
            <a:prstDash val="solid"/>
            <a:round/>
            <a:headEnd len="sm" w="sm" type="none"/>
            <a:tailEnd len="sm" w="sm" type="none"/>
          </a:ln>
        </p:spPr>
      </p:cxnSp>
      <p:graphicFrame>
        <p:nvGraphicFramePr>
          <p:cNvPr id="351" name="Google Shape;351;p15"/>
          <p:cNvGraphicFramePr/>
          <p:nvPr/>
        </p:nvGraphicFramePr>
        <p:xfrm>
          <a:off x="822960" y="1413510"/>
          <a:ext cx="3000000" cy="3000000"/>
        </p:xfrm>
        <a:graphic>
          <a:graphicData uri="http://schemas.openxmlformats.org/drawingml/2006/table">
            <a:tbl>
              <a:tblPr>
                <a:noFill/>
                <a:tableStyleId>{B1428F95-D982-4F4E-99CC-6B386F8E9489}</a:tableStyleId>
              </a:tblPr>
              <a:tblGrid>
                <a:gridCol w="1688175"/>
                <a:gridCol w="8862975"/>
              </a:tblGrid>
              <a:tr h="356875">
                <a:tc>
                  <a:txBody>
                    <a:bodyPr/>
                    <a:lstStyle/>
                    <a:p>
                      <a:pPr indent="0" lvl="0" marL="0" marR="0" rtl="0" algn="l">
                        <a:lnSpc>
                          <a:spcPct val="140000"/>
                        </a:lnSpc>
                        <a:spcBef>
                          <a:spcPts val="0"/>
                        </a:spcBef>
                        <a:spcAft>
                          <a:spcPts val="0"/>
                        </a:spcAft>
                        <a:buClr>
                          <a:srgbClr val="FFFFFF"/>
                        </a:buClr>
                        <a:buSzPts val="1300"/>
                        <a:buFont typeface="Carlito"/>
                        <a:buNone/>
                      </a:pPr>
                      <a:r>
                        <a:rPr b="1" lang="en-US" sz="1300" u="none" cap="none" strike="noStrike">
                          <a:solidFill>
                            <a:srgbClr val="FFFFFF"/>
                          </a:solidFill>
                          <a:latin typeface="Carlito"/>
                          <a:ea typeface="Carlito"/>
                          <a:cs typeface="Carlito"/>
                          <a:sym typeface="Carlito"/>
                        </a:rPr>
                        <a:t>Teammate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c>
                  <a:txBody>
                    <a:bodyPr/>
                    <a:lstStyle/>
                    <a:p>
                      <a:pPr indent="0" lvl="0" marL="0" marR="0" rtl="0" algn="l">
                        <a:lnSpc>
                          <a:spcPct val="140000"/>
                        </a:lnSpc>
                        <a:spcBef>
                          <a:spcPts val="0"/>
                        </a:spcBef>
                        <a:spcAft>
                          <a:spcPts val="0"/>
                        </a:spcAft>
                        <a:buClr>
                          <a:srgbClr val="FFFFFF"/>
                        </a:buClr>
                        <a:buSzPts val="1300"/>
                        <a:buFont typeface="Carlito"/>
                        <a:buNone/>
                      </a:pPr>
                      <a:r>
                        <a:rPr b="1" lang="en-US" sz="1300" u="none" cap="none" strike="noStrike">
                          <a:solidFill>
                            <a:srgbClr val="FFFFFF"/>
                          </a:solidFill>
                          <a:latin typeface="Carlito"/>
                          <a:ea typeface="Carlito"/>
                          <a:cs typeface="Carlito"/>
                          <a:sym typeface="Carlito"/>
                        </a:rPr>
                        <a:t>In the final notebook</a:t>
                      </a:r>
                      <a:endParaRPr sz="1300" u="none" cap="none" strike="noStrike">
                        <a:latin typeface="Carlito"/>
                        <a:ea typeface="Carlito"/>
                        <a:cs typeface="Carlito"/>
                        <a:sym typeface="Carlito"/>
                      </a:endParaRPr>
                    </a:p>
                  </a:txBody>
                  <a:tcPr marT="57775" marB="57775" marR="57775" marL="57775">
                    <a:lnL cap="flat" cmpd="sng" w="12700">
                      <a:solidFill>
                        <a:srgbClr val="161E35"/>
                      </a:solidFill>
                      <a:prstDash val="solid"/>
                      <a:round/>
                      <a:headEnd len="sm" w="sm" type="none"/>
                      <a:tailEnd len="sm" w="sm" type="none"/>
                    </a:lnL>
                    <a:lnR cap="flat" cmpd="sng" w="12700">
                      <a:solidFill>
                        <a:srgbClr val="161E35"/>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161E35"/>
                      </a:solidFill>
                      <a:prstDash val="solid"/>
                      <a:round/>
                      <a:headEnd len="sm" w="sm" type="none"/>
                      <a:tailEnd len="sm" w="sm" type="none"/>
                    </a:lnB>
                    <a:solidFill>
                      <a:srgbClr val="16213E"/>
                    </a:solidFill>
                  </a:tcPr>
                </a:tc>
              </a:tr>
              <a:tr h="588000">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Eric</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Time split, email and device groups, frequency encoding, amount and weekday features, Key 1 history, missingness counts, leakage checks, saved outputs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61E35"/>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Jean</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a:solidFill>
                            <a:srgbClr val="1F2937"/>
                          </a:solidFill>
                          <a:latin typeface="Carlito"/>
                          <a:ea typeface="Carlito"/>
                          <a:cs typeface="Carlito"/>
                          <a:sym typeface="Carlito"/>
                        </a:rPr>
                        <a:t>Frequency Encoding</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588000">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Jennifer</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Target (mean) encoding with a stability check, new device, email and address flags, velocity, account amount statistics, repeated amounts</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Salvador</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id_14 timezone as a category, three-decimal amount flag, Kaggle-discussion ideas</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Susie</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7-day and 30-day velocity windows; her other features match ones already in</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2C4C6"/>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Sal</a:t>
                      </a:r>
                      <a:endParaRPr sz="1300" u="none" cap="none" strike="noStrike">
                        <a:latin typeface="Carlito"/>
                        <a:ea typeface="Carlito"/>
                        <a:cs typeface="Carlito"/>
                        <a:sym typeface="Carlito"/>
                      </a:endParaRPr>
                    </a:p>
                  </a:txBody>
                  <a:tcPr marT="57775" marB="57775" marR="57775" marL="57775">
                    <a:lnL cap="flat" cmpd="sng" w="12700">
                      <a:solidFill>
                        <a:srgbClr val="CBCBCB"/>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c>
                  <a:txBody>
                    <a:bodyPr/>
                    <a:lstStyle/>
                    <a:p>
                      <a:pPr indent="0" lvl="0" marL="0" marR="0" rtl="0" algn="l">
                        <a:lnSpc>
                          <a:spcPct val="140000"/>
                        </a:lnSpc>
                        <a:spcBef>
                          <a:spcPts val="0"/>
                        </a:spcBef>
                        <a:spcAft>
                          <a:spcPts val="0"/>
                        </a:spcAft>
                        <a:buClr>
                          <a:srgbClr val="1F2937"/>
                        </a:buClr>
                        <a:buSzPts val="1300"/>
                        <a:buFont typeface="Carlito"/>
                        <a:buNone/>
                      </a:pPr>
                      <a:r>
                        <a:rPr lang="en-US" sz="1300" u="none" cap="none" strike="noStrike">
                          <a:solidFill>
                            <a:srgbClr val="1F2937"/>
                          </a:solidFill>
                          <a:latin typeface="Carlito"/>
                          <a:ea typeface="Carlito"/>
                          <a:cs typeface="Carlito"/>
                          <a:sym typeface="Carlito"/>
                        </a:rPr>
                        <a:t>Key 2, distinct-value history, block flags, reduced-V set, neural-net table, signal check, KS table, combining the notebooks</a:t>
                      </a:r>
                      <a:endParaRPr sz="1300" u="none" cap="none" strike="noStrike">
                        <a:latin typeface="Carlito"/>
                        <a:ea typeface="Carlito"/>
                        <a:cs typeface="Carlito"/>
                        <a:sym typeface="Carlito"/>
                      </a:endParaRPr>
                    </a:p>
                  </a:txBody>
                  <a:tcPr marT="57775" marB="57775" marR="57775" marL="57775">
                    <a:lnL cap="flat" cmpd="sng" w="12700">
                      <a:solidFill>
                        <a:srgbClr val="C2C4C6"/>
                      </a:solidFill>
                      <a:prstDash val="solid"/>
                      <a:round/>
                      <a:headEnd len="sm" w="sm" type="none"/>
                      <a:tailEnd len="sm" w="sm" type="none"/>
                    </a:lnL>
                    <a:lnR cap="flat" cmpd="sng" w="12700">
                      <a:solidFill>
                        <a:srgbClr val="C2C4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2C4C6"/>
                      </a:solidFill>
                      <a:prstDash val="solid"/>
                      <a:round/>
                      <a:headEnd len="sm" w="sm" type="none"/>
                      <a:tailEnd len="sm" w="sm" type="none"/>
                    </a:lnB>
                    <a:solidFill>
                      <a:srgbClr val="F3F5F9"/>
                    </a:solidFill>
                  </a:tcPr>
                </a:tc>
              </a:tr>
            </a:tbl>
          </a:graphicData>
        </a:graphic>
      </p:graphicFrame>
      <p:sp>
        <p:nvSpPr>
          <p:cNvPr id="352" name="Google Shape;352;p15"/>
          <p:cNvSpPr/>
          <p:nvPr/>
        </p:nvSpPr>
        <p:spPr>
          <a:xfrm>
            <a:off x="812800" y="4632964"/>
            <a:ext cx="10883392" cy="2565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300"/>
              <a:buFont typeface="Carlito"/>
              <a:buNone/>
            </a:pPr>
            <a:r>
              <a:rPr b="0" i="1" lang="en-US" sz="1300" u="none" cap="none" strike="noStrike">
                <a:solidFill>
                  <a:srgbClr val="5B6475"/>
                </a:solidFill>
                <a:latin typeface="Carlito"/>
                <a:ea typeface="Carlito"/>
                <a:cs typeface="Carlito"/>
                <a:sym typeface="Carlito"/>
              </a:rPr>
              <a:t>Every section of the notebook names whose work it builds on.</a:t>
            </a:r>
            <a:endParaRPr b="0" i="0" sz="1300" u="none" cap="none" strike="noStrike">
              <a:solidFill>
                <a:schemeClr val="dk1"/>
              </a:solidFill>
              <a:latin typeface="Carlito"/>
              <a:ea typeface="Carlito"/>
              <a:cs typeface="Carlito"/>
              <a:sym typeface="Carlito"/>
            </a:endParaRPr>
          </a:p>
        </p:txBody>
      </p:sp>
      <p:sp>
        <p:nvSpPr>
          <p:cNvPr id="353" name="Google Shape;353;p15"/>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354" name="Google Shape;354;p15"/>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B6475"/>
              </a:buClr>
              <a:buSzPts val="1200"/>
              <a:buFont typeface="Carlito"/>
              <a:buNone/>
            </a:pPr>
            <a:r>
              <a:rPr b="0" i="0" lang="en-US" sz="1200" u="none" cap="none" strike="noStrike">
                <a:solidFill>
                  <a:srgbClr val="5B6475"/>
                </a:solidFill>
                <a:latin typeface="Carlito"/>
                <a:ea typeface="Carlito"/>
                <a:cs typeface="Carlito"/>
                <a:sym typeface="Carlito"/>
              </a:rPr>
              <a:t>15</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13E"/>
        </a:solidFill>
      </p:bgPr>
    </p:bg>
    <p:spTree>
      <p:nvGrpSpPr>
        <p:cNvPr id="359" name="Shape 359"/>
        <p:cNvGrpSpPr/>
        <p:nvPr/>
      </p:nvGrpSpPr>
      <p:grpSpPr>
        <a:xfrm>
          <a:off x="0" y="0"/>
          <a:ext cx="0" cy="0"/>
          <a:chOff x="0" y="0"/>
          <a:chExt cx="0" cy="0"/>
        </a:xfrm>
      </p:grpSpPr>
      <p:sp>
        <p:nvSpPr>
          <p:cNvPr id="360" name="Google Shape;360;p16"/>
          <p:cNvSpPr txBox="1"/>
          <p:nvPr>
            <p:ph type="title"/>
          </p:nvPr>
        </p:nvSpPr>
        <p:spPr>
          <a:xfrm>
            <a:off x="812800" y="711200"/>
            <a:ext cx="10883392" cy="46355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FFFFFF"/>
              </a:buClr>
              <a:buSzPts val="3000"/>
              <a:buFont typeface="Caladea"/>
              <a:buNone/>
            </a:pPr>
            <a:r>
              <a:rPr b="1" i="0" lang="en-US" sz="3000">
                <a:solidFill>
                  <a:srgbClr val="FFFFFF"/>
                </a:solidFill>
                <a:latin typeface="Caladea"/>
                <a:ea typeface="Caladea"/>
                <a:cs typeface="Caladea"/>
                <a:sym typeface="Caladea"/>
              </a:rPr>
              <a:t>What we’ll do next</a:t>
            </a:r>
            <a:endParaRPr sz="3000"/>
          </a:p>
        </p:txBody>
      </p:sp>
      <p:sp>
        <p:nvSpPr>
          <p:cNvPr id="361" name="Google Shape;361;p16"/>
          <p:cNvSpPr/>
          <p:nvPr/>
        </p:nvSpPr>
        <p:spPr>
          <a:xfrm>
            <a:off x="812800" y="1377950"/>
            <a:ext cx="457200" cy="457200"/>
          </a:xfrm>
          <a:prstGeom prst="roundRect">
            <a:avLst>
              <a:gd fmla="val 50000" name="adj"/>
            </a:avLst>
          </a:prstGeom>
          <a:solidFill>
            <a:srgbClr val="D72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362" name="Google Shape;362;p16"/>
          <p:cNvPicPr preferRelativeResize="0"/>
          <p:nvPr/>
        </p:nvPicPr>
        <p:blipFill rotWithShape="1">
          <a:blip r:embed="rId3">
            <a:alphaModFix/>
          </a:blip>
          <a:srcRect b="0" l="0" r="0" t="0"/>
          <a:stretch/>
        </p:blipFill>
        <p:spPr>
          <a:xfrm>
            <a:off x="927100" y="1492250"/>
            <a:ext cx="228600" cy="228600"/>
          </a:xfrm>
          <a:prstGeom prst="rect">
            <a:avLst/>
          </a:prstGeom>
          <a:noFill/>
          <a:ln>
            <a:noFill/>
          </a:ln>
        </p:spPr>
      </p:pic>
      <p:sp>
        <p:nvSpPr>
          <p:cNvPr id="363" name="Google Shape;363;p16"/>
          <p:cNvSpPr/>
          <p:nvPr/>
        </p:nvSpPr>
        <p:spPr>
          <a:xfrm>
            <a:off x="1473200" y="1473200"/>
            <a:ext cx="366268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500"/>
              <a:buFont typeface="Carlito"/>
              <a:buNone/>
            </a:pPr>
            <a:r>
              <a:rPr b="1" i="0" lang="en-US" sz="1500" u="none" cap="none" strike="noStrike">
                <a:solidFill>
                  <a:srgbClr val="FFFFFF"/>
                </a:solidFill>
                <a:latin typeface="Carlito"/>
                <a:ea typeface="Carlito"/>
                <a:cs typeface="Carlito"/>
                <a:sym typeface="Carlito"/>
              </a:rPr>
              <a:t>Build the modeling pipeline</a:t>
            </a:r>
            <a:endParaRPr b="0" i="0" sz="1500" u="none" cap="none" strike="noStrike">
              <a:solidFill>
                <a:schemeClr val="dk1"/>
              </a:solidFill>
              <a:latin typeface="Carlito"/>
              <a:ea typeface="Carlito"/>
              <a:cs typeface="Carlito"/>
              <a:sym typeface="Carlito"/>
            </a:endParaRPr>
          </a:p>
        </p:txBody>
      </p:sp>
      <p:sp>
        <p:nvSpPr>
          <p:cNvPr id="364" name="Google Shape;364;p16"/>
          <p:cNvSpPr/>
          <p:nvPr/>
        </p:nvSpPr>
        <p:spPr>
          <a:xfrm>
            <a:off x="5232400" y="1495115"/>
            <a:ext cx="6331204"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300"/>
              <a:buFont typeface="Carlito"/>
              <a:buNone/>
            </a:pPr>
            <a:r>
              <a:rPr b="0" i="0" lang="en-US" sz="1300" u="none" cap="none" strike="noStrike">
                <a:solidFill>
                  <a:srgbClr val="C9D1E0"/>
                </a:solidFill>
                <a:latin typeface="Carlito"/>
                <a:ea typeface="Carlito"/>
                <a:cs typeface="Carlito"/>
                <a:sym typeface="Carlito"/>
              </a:rPr>
              <a:t>One owner, end to end; it loads the saved tables directly</a:t>
            </a:r>
            <a:endParaRPr b="0" i="0" sz="1300" u="none" cap="none" strike="noStrike">
              <a:solidFill>
                <a:schemeClr val="dk1"/>
              </a:solidFill>
              <a:latin typeface="Carlito"/>
              <a:ea typeface="Carlito"/>
              <a:cs typeface="Carlito"/>
              <a:sym typeface="Carlito"/>
            </a:endParaRPr>
          </a:p>
        </p:txBody>
      </p:sp>
      <p:sp>
        <p:nvSpPr>
          <p:cNvPr id="365" name="Google Shape;365;p16"/>
          <p:cNvSpPr/>
          <p:nvPr/>
        </p:nvSpPr>
        <p:spPr>
          <a:xfrm>
            <a:off x="812800" y="2012950"/>
            <a:ext cx="457200" cy="457200"/>
          </a:xfrm>
          <a:prstGeom prst="roundRect">
            <a:avLst>
              <a:gd fmla="val 50000" name="adj"/>
            </a:avLst>
          </a:prstGeom>
          <a:solidFill>
            <a:srgbClr val="D72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366" name="Google Shape;366;p16"/>
          <p:cNvPicPr preferRelativeResize="0"/>
          <p:nvPr/>
        </p:nvPicPr>
        <p:blipFill rotWithShape="1">
          <a:blip r:embed="rId4">
            <a:alphaModFix/>
          </a:blip>
          <a:srcRect b="0" l="0" r="0" t="0"/>
          <a:stretch/>
        </p:blipFill>
        <p:spPr>
          <a:xfrm>
            <a:off x="927100" y="2127250"/>
            <a:ext cx="228600" cy="228600"/>
          </a:xfrm>
          <a:prstGeom prst="rect">
            <a:avLst/>
          </a:prstGeom>
          <a:noFill/>
          <a:ln>
            <a:noFill/>
          </a:ln>
        </p:spPr>
      </p:pic>
      <p:sp>
        <p:nvSpPr>
          <p:cNvPr id="367" name="Google Shape;367;p16"/>
          <p:cNvSpPr/>
          <p:nvPr/>
        </p:nvSpPr>
        <p:spPr>
          <a:xfrm>
            <a:off x="1473200" y="2108200"/>
            <a:ext cx="366268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500"/>
              <a:buFont typeface="Carlito"/>
              <a:buNone/>
            </a:pPr>
            <a:r>
              <a:rPr b="1" i="0" lang="en-US" sz="1500" u="none" cap="none" strike="noStrike">
                <a:solidFill>
                  <a:srgbClr val="FFFFFF"/>
                </a:solidFill>
                <a:latin typeface="Carlito"/>
                <a:ea typeface="Carlito"/>
                <a:cs typeface="Carlito"/>
                <a:sym typeface="Carlito"/>
              </a:rPr>
              <a:t>Compare the feature sets</a:t>
            </a:r>
            <a:endParaRPr b="0" i="0" sz="1500" u="none" cap="none" strike="noStrike">
              <a:solidFill>
                <a:schemeClr val="dk1"/>
              </a:solidFill>
              <a:latin typeface="Carlito"/>
              <a:ea typeface="Carlito"/>
              <a:cs typeface="Carlito"/>
              <a:sym typeface="Carlito"/>
            </a:endParaRPr>
          </a:p>
        </p:txBody>
      </p:sp>
      <p:sp>
        <p:nvSpPr>
          <p:cNvPr id="368" name="Google Shape;368;p16"/>
          <p:cNvSpPr/>
          <p:nvPr/>
        </p:nvSpPr>
        <p:spPr>
          <a:xfrm>
            <a:off x="5232400" y="2130115"/>
            <a:ext cx="6331204"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300"/>
              <a:buFont typeface="Carlito"/>
              <a:buNone/>
            </a:pPr>
            <a:r>
              <a:rPr b="0" i="0" lang="en-US" sz="1300" u="none" cap="none" strike="noStrike">
                <a:solidFill>
                  <a:srgbClr val="C9D1E0"/>
                </a:solidFill>
                <a:latin typeface="Carlito"/>
                <a:ea typeface="Carlito"/>
                <a:cs typeface="Carlito"/>
                <a:sym typeface="Carlito"/>
              </a:rPr>
              <a:t>Raw, clean, history-enriched and reduced-V on validation</a:t>
            </a:r>
            <a:endParaRPr b="0" i="0" sz="1300" u="none" cap="none" strike="noStrike">
              <a:solidFill>
                <a:schemeClr val="dk1"/>
              </a:solidFill>
              <a:latin typeface="Carlito"/>
              <a:ea typeface="Carlito"/>
              <a:cs typeface="Carlito"/>
              <a:sym typeface="Carlito"/>
            </a:endParaRPr>
          </a:p>
        </p:txBody>
      </p:sp>
      <p:sp>
        <p:nvSpPr>
          <p:cNvPr id="369" name="Google Shape;369;p16"/>
          <p:cNvSpPr/>
          <p:nvPr/>
        </p:nvSpPr>
        <p:spPr>
          <a:xfrm>
            <a:off x="812800" y="2647950"/>
            <a:ext cx="457200" cy="457200"/>
          </a:xfrm>
          <a:prstGeom prst="roundRect">
            <a:avLst>
              <a:gd fmla="val 50000" name="adj"/>
            </a:avLst>
          </a:prstGeom>
          <a:solidFill>
            <a:srgbClr val="D72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370" name="Google Shape;370;p16"/>
          <p:cNvPicPr preferRelativeResize="0"/>
          <p:nvPr/>
        </p:nvPicPr>
        <p:blipFill rotWithShape="1">
          <a:blip r:embed="rId5">
            <a:alphaModFix/>
          </a:blip>
          <a:srcRect b="0" l="0" r="0" t="0"/>
          <a:stretch/>
        </p:blipFill>
        <p:spPr>
          <a:xfrm>
            <a:off x="927100" y="2762250"/>
            <a:ext cx="228600" cy="228600"/>
          </a:xfrm>
          <a:prstGeom prst="rect">
            <a:avLst/>
          </a:prstGeom>
          <a:noFill/>
          <a:ln>
            <a:noFill/>
          </a:ln>
        </p:spPr>
      </p:pic>
      <p:sp>
        <p:nvSpPr>
          <p:cNvPr id="371" name="Google Shape;371;p16"/>
          <p:cNvSpPr/>
          <p:nvPr/>
        </p:nvSpPr>
        <p:spPr>
          <a:xfrm>
            <a:off x="1473200" y="2743200"/>
            <a:ext cx="366268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500"/>
              <a:buFont typeface="Carlito"/>
              <a:buNone/>
            </a:pPr>
            <a:r>
              <a:rPr b="1" i="0" lang="en-US" sz="1500" u="none" cap="none" strike="noStrike">
                <a:solidFill>
                  <a:srgbClr val="FFFFFF"/>
                </a:solidFill>
                <a:latin typeface="Carlito"/>
                <a:ea typeface="Carlito"/>
                <a:cs typeface="Carlito"/>
                <a:sym typeface="Carlito"/>
              </a:rPr>
              <a:t>Report the advisor’s metrics</a:t>
            </a:r>
            <a:endParaRPr b="0" i="0" sz="1500" u="none" cap="none" strike="noStrike">
              <a:solidFill>
                <a:schemeClr val="dk1"/>
              </a:solidFill>
              <a:latin typeface="Carlito"/>
              <a:ea typeface="Carlito"/>
              <a:cs typeface="Carlito"/>
              <a:sym typeface="Carlito"/>
            </a:endParaRPr>
          </a:p>
        </p:txBody>
      </p:sp>
      <p:sp>
        <p:nvSpPr>
          <p:cNvPr id="372" name="Google Shape;372;p16"/>
          <p:cNvSpPr/>
          <p:nvPr/>
        </p:nvSpPr>
        <p:spPr>
          <a:xfrm>
            <a:off x="5232400" y="2765115"/>
            <a:ext cx="6331204"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300"/>
              <a:buFont typeface="Carlito"/>
              <a:buNone/>
            </a:pPr>
            <a:r>
              <a:rPr b="0" i="0" lang="en-US" sz="1300" u="none" cap="none" strike="noStrike">
                <a:solidFill>
                  <a:srgbClr val="C9D1E0"/>
                </a:solidFill>
                <a:latin typeface="Carlito"/>
                <a:ea typeface="Carlito"/>
                <a:cs typeface="Carlito"/>
                <a:sym typeface="Carlito"/>
              </a:rPr>
              <a:t>AUC, PR-AUC and a KS table with detection rate and TFPR</a:t>
            </a:r>
            <a:endParaRPr b="0" i="0" sz="1300" u="none" cap="none" strike="noStrike">
              <a:solidFill>
                <a:schemeClr val="dk1"/>
              </a:solidFill>
              <a:latin typeface="Carlito"/>
              <a:ea typeface="Carlito"/>
              <a:cs typeface="Carlito"/>
              <a:sym typeface="Carlito"/>
            </a:endParaRPr>
          </a:p>
        </p:txBody>
      </p:sp>
      <p:sp>
        <p:nvSpPr>
          <p:cNvPr id="373" name="Google Shape;373;p16"/>
          <p:cNvSpPr/>
          <p:nvPr/>
        </p:nvSpPr>
        <p:spPr>
          <a:xfrm>
            <a:off x="812800" y="3282950"/>
            <a:ext cx="457200" cy="457200"/>
          </a:xfrm>
          <a:prstGeom prst="roundRect">
            <a:avLst>
              <a:gd fmla="val 50000" name="adj"/>
            </a:avLst>
          </a:prstGeom>
          <a:solidFill>
            <a:srgbClr val="D72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374" name="Google Shape;374;p16"/>
          <p:cNvPicPr preferRelativeResize="0"/>
          <p:nvPr/>
        </p:nvPicPr>
        <p:blipFill rotWithShape="1">
          <a:blip r:embed="rId6">
            <a:alphaModFix/>
          </a:blip>
          <a:srcRect b="0" l="0" r="0" t="0"/>
          <a:stretch/>
        </p:blipFill>
        <p:spPr>
          <a:xfrm>
            <a:off x="927100" y="3397250"/>
            <a:ext cx="228600" cy="228600"/>
          </a:xfrm>
          <a:prstGeom prst="rect">
            <a:avLst/>
          </a:prstGeom>
          <a:noFill/>
          <a:ln>
            <a:noFill/>
          </a:ln>
        </p:spPr>
      </p:pic>
      <p:sp>
        <p:nvSpPr>
          <p:cNvPr id="375" name="Google Shape;375;p16"/>
          <p:cNvSpPr/>
          <p:nvPr/>
        </p:nvSpPr>
        <p:spPr>
          <a:xfrm>
            <a:off x="1473200" y="3378200"/>
            <a:ext cx="366268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500"/>
              <a:buFont typeface="Carlito"/>
              <a:buNone/>
            </a:pPr>
            <a:r>
              <a:rPr b="1" i="0" lang="en-US" sz="1500" u="none" cap="none" strike="noStrike">
                <a:solidFill>
                  <a:srgbClr val="FFFFFF"/>
                </a:solidFill>
                <a:latin typeface="Carlito"/>
                <a:ea typeface="Carlito"/>
                <a:cs typeface="Carlito"/>
                <a:sym typeface="Carlito"/>
              </a:rPr>
              <a:t>Test the open choices</a:t>
            </a:r>
            <a:endParaRPr b="0" i="0" sz="1500" u="none" cap="none" strike="noStrike">
              <a:solidFill>
                <a:schemeClr val="dk1"/>
              </a:solidFill>
              <a:latin typeface="Carlito"/>
              <a:ea typeface="Carlito"/>
              <a:cs typeface="Carlito"/>
              <a:sym typeface="Carlito"/>
            </a:endParaRPr>
          </a:p>
        </p:txBody>
      </p:sp>
      <p:sp>
        <p:nvSpPr>
          <p:cNvPr id="376" name="Google Shape;376;p16"/>
          <p:cNvSpPr/>
          <p:nvPr/>
        </p:nvSpPr>
        <p:spPr>
          <a:xfrm>
            <a:off x="5232400" y="3400115"/>
            <a:ext cx="6331204"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300"/>
              <a:buFont typeface="Carlito"/>
              <a:buNone/>
            </a:pPr>
            <a:r>
              <a:rPr b="0" i="0" lang="en-US" sz="1300" u="none" cap="none" strike="noStrike">
                <a:solidFill>
                  <a:srgbClr val="C9D1E0"/>
                </a:solidFill>
                <a:latin typeface="Carlito"/>
                <a:ea typeface="Carlito"/>
                <a:cs typeface="Carlito"/>
                <a:sym typeface="Carlito"/>
              </a:rPr>
              <a:t>With and without Jennifer’s block and Key 2; card codes as numbers or categories</a:t>
            </a:r>
            <a:endParaRPr b="0" i="0" sz="1300" u="none" cap="none" strike="noStrike">
              <a:solidFill>
                <a:schemeClr val="dk1"/>
              </a:solidFill>
              <a:latin typeface="Carlito"/>
              <a:ea typeface="Carlito"/>
              <a:cs typeface="Carlito"/>
              <a:sym typeface="Carlito"/>
            </a:endParaRPr>
          </a:p>
        </p:txBody>
      </p:sp>
      <p:sp>
        <p:nvSpPr>
          <p:cNvPr id="377" name="Google Shape;377;p16"/>
          <p:cNvSpPr/>
          <p:nvPr/>
        </p:nvSpPr>
        <p:spPr>
          <a:xfrm>
            <a:off x="812800" y="3917950"/>
            <a:ext cx="457200" cy="457200"/>
          </a:xfrm>
          <a:prstGeom prst="roundRect">
            <a:avLst>
              <a:gd fmla="val 50000" name="adj"/>
            </a:avLst>
          </a:prstGeom>
          <a:solidFill>
            <a:srgbClr val="D72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378" name="Google Shape;378;p16"/>
          <p:cNvPicPr preferRelativeResize="0"/>
          <p:nvPr/>
        </p:nvPicPr>
        <p:blipFill rotWithShape="1">
          <a:blip r:embed="rId7">
            <a:alphaModFix/>
          </a:blip>
          <a:srcRect b="0" l="0" r="0" t="0"/>
          <a:stretch/>
        </p:blipFill>
        <p:spPr>
          <a:xfrm>
            <a:off x="927100" y="4032250"/>
            <a:ext cx="228600" cy="228600"/>
          </a:xfrm>
          <a:prstGeom prst="rect">
            <a:avLst/>
          </a:prstGeom>
          <a:noFill/>
          <a:ln>
            <a:noFill/>
          </a:ln>
        </p:spPr>
      </p:pic>
      <p:sp>
        <p:nvSpPr>
          <p:cNvPr id="379" name="Google Shape;379;p16"/>
          <p:cNvSpPr/>
          <p:nvPr/>
        </p:nvSpPr>
        <p:spPr>
          <a:xfrm>
            <a:off x="1473200" y="4013200"/>
            <a:ext cx="366268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500"/>
              <a:buFont typeface="Carlito"/>
              <a:buNone/>
            </a:pPr>
            <a:r>
              <a:rPr b="1" i="0" lang="en-US" sz="1500" u="none" cap="none" strike="noStrike">
                <a:solidFill>
                  <a:srgbClr val="FFFFFF"/>
                </a:solidFill>
                <a:latin typeface="Carlito"/>
                <a:ea typeface="Carlito"/>
                <a:cs typeface="Carlito"/>
                <a:sym typeface="Carlito"/>
              </a:rPr>
              <a:t>Confirm with Debasmita</a:t>
            </a:r>
            <a:endParaRPr b="0" i="0" sz="1500" u="none" cap="none" strike="noStrike">
              <a:solidFill>
                <a:schemeClr val="dk1"/>
              </a:solidFill>
              <a:latin typeface="Carlito"/>
              <a:ea typeface="Carlito"/>
              <a:cs typeface="Carlito"/>
              <a:sym typeface="Carlito"/>
            </a:endParaRPr>
          </a:p>
        </p:txBody>
      </p:sp>
      <p:sp>
        <p:nvSpPr>
          <p:cNvPr id="380" name="Google Shape;380;p16"/>
          <p:cNvSpPr/>
          <p:nvPr/>
        </p:nvSpPr>
        <p:spPr>
          <a:xfrm>
            <a:off x="5232400" y="4035115"/>
            <a:ext cx="6331204"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300"/>
              <a:buFont typeface="Carlito"/>
              <a:buNone/>
            </a:pPr>
            <a:r>
              <a:rPr b="0" i="0" lang="en-US" sz="1300" u="none" cap="none" strike="noStrike">
                <a:solidFill>
                  <a:srgbClr val="C9D1E0"/>
                </a:solidFill>
                <a:latin typeface="Carlito"/>
                <a:ea typeface="Carlito"/>
                <a:cs typeface="Carlito"/>
                <a:sym typeface="Carlito"/>
              </a:rPr>
              <a:t>The 10:1 TFPR target and how much fraud teams flag</a:t>
            </a:r>
            <a:endParaRPr b="0" i="0" sz="1300" u="none" cap="none" strike="noStrike">
              <a:solidFill>
                <a:schemeClr val="dk1"/>
              </a:solidFill>
              <a:latin typeface="Carlito"/>
              <a:ea typeface="Carlito"/>
              <a:cs typeface="Carlito"/>
              <a:sym typeface="Carlito"/>
            </a:endParaRPr>
          </a:p>
        </p:txBody>
      </p:sp>
      <p:sp>
        <p:nvSpPr>
          <p:cNvPr id="381" name="Google Shape;381;p16"/>
          <p:cNvSpPr/>
          <p:nvPr/>
        </p:nvSpPr>
        <p:spPr>
          <a:xfrm>
            <a:off x="812800" y="4552950"/>
            <a:ext cx="457200" cy="457200"/>
          </a:xfrm>
          <a:prstGeom prst="roundRect">
            <a:avLst>
              <a:gd fmla="val 50000" name="adj"/>
            </a:avLst>
          </a:prstGeom>
          <a:solidFill>
            <a:srgbClr val="D726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382" name="Google Shape;382;p16"/>
          <p:cNvPicPr preferRelativeResize="0"/>
          <p:nvPr/>
        </p:nvPicPr>
        <p:blipFill rotWithShape="1">
          <a:blip r:embed="rId8">
            <a:alphaModFix/>
          </a:blip>
          <a:srcRect b="0" l="0" r="0" t="0"/>
          <a:stretch/>
        </p:blipFill>
        <p:spPr>
          <a:xfrm>
            <a:off x="927100" y="4667250"/>
            <a:ext cx="228600" cy="228600"/>
          </a:xfrm>
          <a:prstGeom prst="rect">
            <a:avLst/>
          </a:prstGeom>
          <a:noFill/>
          <a:ln>
            <a:noFill/>
          </a:ln>
        </p:spPr>
      </p:pic>
      <p:sp>
        <p:nvSpPr>
          <p:cNvPr id="383" name="Google Shape;383;p16"/>
          <p:cNvSpPr/>
          <p:nvPr/>
        </p:nvSpPr>
        <p:spPr>
          <a:xfrm>
            <a:off x="1473200" y="4648200"/>
            <a:ext cx="366268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500"/>
              <a:buFont typeface="Carlito"/>
              <a:buNone/>
            </a:pPr>
            <a:r>
              <a:rPr b="1" i="0" lang="en-US" sz="1500" u="none" cap="none" strike="noStrike">
                <a:solidFill>
                  <a:srgbClr val="FFFFFF"/>
                </a:solidFill>
                <a:latin typeface="Carlito"/>
                <a:ea typeface="Carlito"/>
                <a:cs typeface="Carlito"/>
                <a:sym typeface="Carlito"/>
              </a:rPr>
              <a:t>Score the holdout once</a:t>
            </a:r>
            <a:endParaRPr b="0" i="0" sz="1500" u="none" cap="none" strike="noStrike">
              <a:solidFill>
                <a:schemeClr val="dk1"/>
              </a:solidFill>
              <a:latin typeface="Carlito"/>
              <a:ea typeface="Carlito"/>
              <a:cs typeface="Carlito"/>
              <a:sym typeface="Carlito"/>
            </a:endParaRPr>
          </a:p>
        </p:txBody>
      </p:sp>
      <p:sp>
        <p:nvSpPr>
          <p:cNvPr id="384" name="Google Shape;384;p16"/>
          <p:cNvSpPr/>
          <p:nvPr/>
        </p:nvSpPr>
        <p:spPr>
          <a:xfrm>
            <a:off x="5232400" y="4670115"/>
            <a:ext cx="6331204"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1E0"/>
              </a:buClr>
              <a:buSzPts val="1300"/>
              <a:buFont typeface="Carlito"/>
              <a:buNone/>
            </a:pPr>
            <a:r>
              <a:rPr b="0" i="0" lang="en-US" sz="1300" u="none" cap="none" strike="noStrike">
                <a:solidFill>
                  <a:srgbClr val="C9D1E0"/>
                </a:solidFill>
                <a:latin typeface="Carlito"/>
                <a:ea typeface="Carlito"/>
                <a:cs typeface="Carlito"/>
                <a:sym typeface="Carlito"/>
              </a:rPr>
              <a:t>The final, honest number for the chosen model</a:t>
            </a:r>
            <a:endParaRPr b="0" i="0" sz="1300" u="none" cap="none" strike="noStrike">
              <a:solidFill>
                <a:schemeClr val="dk1"/>
              </a:solidFill>
              <a:latin typeface="Carlito"/>
              <a:ea typeface="Carlito"/>
              <a:cs typeface="Carlito"/>
              <a:sym typeface="Carlito"/>
            </a:endParaRPr>
          </a:p>
        </p:txBody>
      </p:sp>
      <p:sp>
        <p:nvSpPr>
          <p:cNvPr id="385" name="Google Shape;385;p16"/>
          <p:cNvSpPr/>
          <p:nvPr/>
        </p:nvSpPr>
        <p:spPr>
          <a:xfrm>
            <a:off x="812800" y="6238242"/>
            <a:ext cx="78486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8CC"/>
              </a:buClr>
              <a:buSzPts val="1200"/>
              <a:buFont typeface="Carlito"/>
              <a:buNone/>
            </a:pPr>
            <a:r>
              <a:rPr b="0" i="0" lang="en-US" sz="1200" u="none" cap="none" strike="noStrike">
                <a:solidFill>
                  <a:srgbClr val="AEB8CC"/>
                </a:solidFill>
                <a:latin typeface="Carlito"/>
                <a:ea typeface="Carlito"/>
                <a:cs typeface="Carlito"/>
                <a:sym typeface="Carlito"/>
              </a:rPr>
              <a:t>Banking B · Mastercard fraud feature engineering</a:t>
            </a:r>
            <a:endParaRPr b="0" i="0" sz="1200" u="none" cap="none" strike="noStrike">
              <a:solidFill>
                <a:schemeClr val="dk1"/>
              </a:solidFill>
              <a:latin typeface="Carlito"/>
              <a:ea typeface="Carlito"/>
              <a:cs typeface="Carlito"/>
              <a:sym typeface="Carlito"/>
            </a:endParaRPr>
          </a:p>
        </p:txBody>
      </p:sp>
      <p:sp>
        <p:nvSpPr>
          <p:cNvPr id="386" name="Google Shape;386;p16"/>
          <p:cNvSpPr/>
          <p:nvPr/>
        </p:nvSpPr>
        <p:spPr>
          <a:xfrm>
            <a:off x="10566400" y="6238242"/>
            <a:ext cx="812800" cy="23876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AEB8CC"/>
              </a:buClr>
              <a:buSzPts val="1200"/>
              <a:buFont typeface="Carlito"/>
              <a:buNone/>
            </a:pPr>
            <a:r>
              <a:rPr b="0" i="0" lang="en-US" sz="1200" u="none" cap="none" strike="noStrike">
                <a:solidFill>
                  <a:srgbClr val="AEB8CC"/>
                </a:solidFill>
                <a:latin typeface="Carlito"/>
                <a:ea typeface="Carlito"/>
                <a:cs typeface="Carlito"/>
                <a:sym typeface="Carlito"/>
              </a:rPr>
              <a:t>16</a:t>
            </a:r>
            <a:endParaRPr b="0" i="0" sz="1200" u="none" cap="none" strike="noStrike">
              <a:solidFill>
                <a:schemeClr val="dk1"/>
              </a:solidFill>
              <a:latin typeface="Carlito"/>
              <a:ea typeface="Carlito"/>
              <a:cs typeface="Carlito"/>
              <a:sym typeface="Carlito"/>
            </a:endParaRPr>
          </a:p>
        </p:txBody>
      </p:sp>
    </p:spTree>
  </p:cSld>
  <p:clrMapOvr>
    <a:masterClrMapping/>
  </p:clrMapOvr>
</p:sld>
</file>

<file path=ppt/theme/theme1.xml><?xml version="1.0" encoding="utf-8"?>
<a:theme xmlns:a="http://schemas.openxmlformats.org/drawingml/2006/main" xmlns:r="http://schemas.openxmlformats.org/officeDocument/2006/relationships" name="Feature Engineering: Turning the EDA into Model-Ready Data">
  <a:themeElements>
    <a:clrScheme name="Feature Engineering: Turning the EDA into Model-Ready Data">
      <a:dk1>
        <a:srgbClr val="16213E"/>
      </a:dk1>
      <a:lt1>
        <a:srgbClr val="FFFFFF"/>
      </a:lt1>
      <a:dk2>
        <a:srgbClr val="50596E"/>
      </a:dk2>
      <a:lt2>
        <a:srgbClr val="E8E9EC"/>
      </a:lt2>
      <a:accent1>
        <a:srgbClr val="FF8A8A"/>
      </a:accent1>
      <a:accent2>
        <a:srgbClr val="D7263D"/>
      </a:accent2>
      <a:accent3>
        <a:srgbClr val="22325A"/>
      </a:accent3>
      <a:accent4>
        <a:srgbClr val="5B6475"/>
      </a:accent4>
      <a:accent5>
        <a:srgbClr val="C9D1E0"/>
      </a:accent5>
      <a:accent6>
        <a:srgbClr val="AEB8C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eature Engineering: Turning the EDA into Model-Ready Data">
  <a:themeElements>
    <a:clrScheme name="Feature Engineering: Turning the EDA into Model-Ready Data">
      <a:dk1>
        <a:srgbClr val="16213E"/>
      </a:dk1>
      <a:lt1>
        <a:srgbClr val="FFFFFF"/>
      </a:lt1>
      <a:dk2>
        <a:srgbClr val="50596E"/>
      </a:dk2>
      <a:lt2>
        <a:srgbClr val="E8E9EC"/>
      </a:lt2>
      <a:accent1>
        <a:srgbClr val="FF8A8A"/>
      </a:accent1>
      <a:accent2>
        <a:srgbClr val="D7263D"/>
      </a:accent2>
      <a:accent3>
        <a:srgbClr val="22325A"/>
      </a:accent3>
      <a:accent4>
        <a:srgbClr val="5B6475"/>
      </a:accent4>
      <a:accent5>
        <a:srgbClr val="C9D1E0"/>
      </a:accent5>
      <a:accent6>
        <a:srgbClr val="AEB8C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2026-10-28T23:37:43Z</dcterms:created>
</cp:coreProperties>
</file>