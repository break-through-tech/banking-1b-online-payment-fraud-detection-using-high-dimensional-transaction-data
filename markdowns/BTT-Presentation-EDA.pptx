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390D40-7371-49D6-BF41-41B9B644B87E}">
  <a:tblStyle styleId="{7E390D40-7371-49D6-BF41-41B9B644B87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c7babf49ca04fa_3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hc7babf49ca04fa_3_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 sz="1200" u="none" cap="none" strike="noStrike">
                <a:solidFill>
                  <a:schemeClr val="dk1"/>
                </a:solidFill>
                <a:latin typeface="Arial"/>
                <a:ea typeface="Arial"/>
                <a:cs typeface="Arial"/>
                <a:sym typeface="Arial"/>
              </a:rPr>
              <a:t>Introduce the team and the project: an exploratory analysis of the IEEE-CIS fraud data for Mastercard. The chart previews one headline finding: product C has by far the highest fraud rate.</a:t>
            </a:r>
            <a:endParaRPr/>
          </a:p>
        </p:txBody>
      </p:sp>
      <p:sp>
        <p:nvSpPr>
          <p:cNvPr id="55" name="Google Shape;55;hc7babf49ca04fa_3_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c7babf49ca04fa_3_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hc7babf49ca04fa_3_1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Each of us did an independent EDA, then we combined Salamot's and Eric's analyses. Key setup steps: joining the two tables and a time-based train/validation split, set aside before any exploring so validation stays honest.</a:t>
            </a:r>
            <a:endParaRPr/>
          </a:p>
        </p:txBody>
      </p:sp>
      <p:sp>
        <p:nvSpPr>
          <p:cNvPr id="66" name="Google Shape;66;hc7babf49ca04fa_3_1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c7babf49ca04fa_3_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hc7babf49ca04fa_3_4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Four headline numbers. Fraud is rare at 3.51 percent. Product C is riskiest per transaction, but product W holds the most fraud cases because it is 73 percent of transactions. Fraud clusters by account: among accounts with more than one transaction, 89 percent of fraud is in accounts that are at least half fraud; those repeat accounts hold about half of all fraud. And missing values are structured, so missingness itself carries signal.</a:t>
            </a:r>
            <a:endParaRPr/>
          </a:p>
        </p:txBody>
      </p:sp>
      <p:sp>
        <p:nvSpPr>
          <p:cNvPr id="99" name="Google Shape;99;hc7babf49ca04fa_3_4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c7babf49ca04fa_3_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hc7babf49ca04fa_3_6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Blue is each product's share of transactions, red its share of fraud. When red is taller than blue, the product produces more than its share of fraud. Product C is the clearest case. A model must work on both C and W.</a:t>
            </a:r>
            <a:endParaRPr/>
          </a:p>
        </p:txBody>
      </p:sp>
      <p:sp>
        <p:nvSpPr>
          <p:cNvPr id="120" name="Google Shape;120;hc7babf49ca04fa_3_6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c7babf49ca04fa_3_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hc7babf49ca04fa_3_8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Red is transactions with identity data. They are 25.5 percent of the data but 54.8 percent of all fraud cases. A group's contribution is its share of transactions times its fraud rate, and contributions add up to the overall 3.51 percent. Identity transactions contribute 1.92 of those 3.51 points, more than the 1.59 points from transactions without identity, even though those are three quarters of the data. The reason is their fraud rate: 7.55 percent, versus 2.13 percent without identity. Caveat if asked: within product C, where both kinds exist, identity transactions are about 2 times as risky, not 3.5 times, because product W never has identity data.</a:t>
            </a:r>
            <a:endParaRPr/>
          </a:p>
        </p:txBody>
      </p:sp>
      <p:sp>
        <p:nvSpPr>
          <p:cNvPr id="136" name="Google Shape;136;hc7babf49ca04fa_3_8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c7babf49ca04fa_3_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hc7babf49ca04fa_3_9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We grouped transactions by which columns they were missing, using k-means on 67 missing-data indicators, and never gave the algorithm product type or identity. It still found three groups that line up with them: a no-identity group that is almost all product W, an identity group for products H, R and S, and an identity group for product C, the riskiest at 12 percent fraud. The PCA map on the left shows the same separation: each product forms its own region. The two identity clusters together match the identity numbers on the previous slide, which tells us product type and identity collection are the backbone of the data's structure.</a:t>
            </a:r>
            <a:endParaRPr/>
          </a:p>
        </p:txBody>
      </p:sp>
      <p:sp>
        <p:nvSpPr>
          <p:cNvPr id="151" name="Google Shape;151;hc7babf49ca04fa_3_9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c7babf49ca04fa_3_10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hc7babf49ca04fa_3_10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This settles a team debate. Overall, payments up to 10 dollars look twice as risky as 30 to 100 dollar payments, which suggested card testing. But 78 percent of small payments are product C, the riskiest product, while mid-range payments are mostly product W, the safest. Within every product, small payments are actually less risky. And small payments are only 2.6 percent of all fraud.</a:t>
            </a:r>
            <a:endParaRPr/>
          </a:p>
        </p:txBody>
      </p:sp>
      <p:sp>
        <p:nvSpPr>
          <p:cNvPr id="164" name="Google Shape;164;hc7babf49ca04fa_3_10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c7babf49ca04fa_3_1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hc7babf49ca04fa_3_11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We checked card type within each product so product mix wouldn't fool us. Credit is clearly riskier in W and C, where most fraud is. In the smaller products the difference is small.</a:t>
            </a:r>
            <a:endParaRPr/>
          </a:p>
        </p:txBody>
      </p:sp>
      <p:sp>
        <p:nvSpPr>
          <p:cNvPr id="174" name="Google Shape;174;hc7babf49ca04fa_3_11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c7babf49ca04fa_3_1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hc7babf49ca04fa_3_12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Accounts are our approximate key: card identifier, address and estimated card start day. Repeat accounts, with two or more transactions, hold about half of all fraud, and within them 89 percent of fraud sits in mostly-fraud accounts. Transactions with a missing address are only 11 percent of the data but 37 percent of fraud, at over four times the average rate, and we can't link them into accounts yet.</a:t>
            </a:r>
            <a:endParaRPr/>
          </a:p>
        </p:txBody>
      </p:sp>
      <p:sp>
        <p:nvSpPr>
          <p:cNvPr id="187" name="Google Shape;187;hc7babf49ca04fa_3_12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c7babf49ca04fa_3_1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hc7babf49ca04fa_3_13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The early low-fraud period is mostly a change within products, not just product mix. Early on, H and R were a third of transactions with almost no fraud; later they shrank but their fraud rates jumped six- to eightfold. We don't know why yet. It's another reason for time-based validation.</a:t>
            </a:r>
            <a:endParaRPr/>
          </a:p>
        </p:txBody>
      </p:sp>
      <p:sp>
        <p:nvSpPr>
          <p:cNvPr id="200" name="Google Shape;200;hc7babf49ca04fa_3_13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c7babf49ca04fa_3_1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hc7babf49ca04fa_3_15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Four challenges shape how we model. The test period starts a month after our data, fraud is rare, most columns have gaps, and many validation transactions come from accounts already seen in training.</a:t>
            </a:r>
            <a:endParaRPr/>
          </a:p>
        </p:txBody>
      </p:sp>
      <p:sp>
        <p:nvSpPr>
          <p:cNvPr id="213" name="Google Shape;213;hc7babf49ca04fa_3_15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c7babf49ca04fa_3_1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hc7babf49ca04fa_3_17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Our plan for modeling follows directly from the challenges: time-aware validation, separate results for new accounts, keeping missingness, strict leakage rules, and the right metrics.</a:t>
            </a:r>
            <a:endParaRPr/>
          </a:p>
        </p:txBody>
      </p:sp>
      <p:sp>
        <p:nvSpPr>
          <p:cNvPr id="241" name="Google Shape;241;hc7babf49ca04fa_3_17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colab.research.google.com/drive/13eChPvp7ij-tluI1q3qANLNZPCoIbJFi#scrollTo=dbd22a83-dfc2-4968-9c97-27580367b920" TargetMode="External"/><Relationship Id="rId4" Type="http://schemas.openxmlformats.org/officeDocument/2006/relationships/hyperlink" Target="https://colab.research.google.com/drive/13eChPvp7ij-tluI1q3qANLNZPCoIbJFi#scrollTo=dbd22a83-dfc2-4968-9c97-27580367b920" TargetMode="External"/><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13E"/>
        </a:solidFill>
      </p:bgPr>
    </p:bg>
    <p:spTree>
      <p:nvGrpSpPr>
        <p:cNvPr id="56" name="Shape 56"/>
        <p:cNvGrpSpPr/>
        <p:nvPr/>
      </p:nvGrpSpPr>
      <p:grpSpPr>
        <a:xfrm>
          <a:off x="0" y="0"/>
          <a:ext cx="0" cy="0"/>
          <a:chOff x="0" y="0"/>
          <a:chExt cx="0" cy="0"/>
        </a:xfrm>
      </p:grpSpPr>
      <p:sp>
        <p:nvSpPr>
          <p:cNvPr id="57" name="Google Shape;57;p15"/>
          <p:cNvSpPr txBox="1"/>
          <p:nvPr/>
        </p:nvSpPr>
        <p:spPr>
          <a:xfrm>
            <a:off x="548640" y="91440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CAE1"/>
              </a:buClr>
              <a:buSzPts val="1100"/>
              <a:buFont typeface="Calibri"/>
              <a:buNone/>
            </a:pPr>
            <a:r>
              <a:rPr b="1" i="0" lang="en" sz="1100" u="none" cap="none" strike="noStrike">
                <a:solidFill>
                  <a:srgbClr val="9ECAE1"/>
                </a:solidFill>
                <a:latin typeface="Calibri"/>
                <a:ea typeface="Calibri"/>
                <a:cs typeface="Calibri"/>
                <a:sym typeface="Calibri"/>
              </a:rPr>
              <a:t>BANKING B · BREAK THROUGH TECH × MASTERCARD</a:t>
            </a:r>
            <a:endParaRPr b="0" i="0" sz="1100" u="none" cap="none" strike="noStrike">
              <a:solidFill>
                <a:schemeClr val="dk1"/>
              </a:solidFill>
              <a:latin typeface="Calibri"/>
              <a:ea typeface="Calibri"/>
              <a:cs typeface="Calibri"/>
              <a:sym typeface="Calibri"/>
            </a:endParaRPr>
          </a:p>
        </p:txBody>
      </p:sp>
      <p:sp>
        <p:nvSpPr>
          <p:cNvPr id="58" name="Google Shape;58;p15"/>
          <p:cNvSpPr txBox="1"/>
          <p:nvPr/>
        </p:nvSpPr>
        <p:spPr>
          <a:xfrm>
            <a:off x="548640" y="1325880"/>
            <a:ext cx="45720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800"/>
              <a:buFont typeface="Cambria"/>
              <a:buNone/>
            </a:pPr>
            <a:r>
              <a:rPr b="1" i="0" lang="en" sz="3800" u="none" cap="none" strike="noStrike">
                <a:solidFill>
                  <a:srgbClr val="FFFFFF"/>
                </a:solidFill>
                <a:latin typeface="Cambria"/>
                <a:ea typeface="Cambria"/>
                <a:cs typeface="Cambria"/>
                <a:sym typeface="Cambria"/>
              </a:rPr>
              <a:t>Exploratory Data Analysis</a:t>
            </a:r>
            <a:endParaRPr b="0" i="0" sz="3800" u="none" cap="none" strike="noStrike">
              <a:solidFill>
                <a:schemeClr val="dk1"/>
              </a:solidFill>
              <a:latin typeface="Calibri"/>
              <a:ea typeface="Calibri"/>
              <a:cs typeface="Calibri"/>
              <a:sym typeface="Calibri"/>
            </a:endParaRPr>
          </a:p>
        </p:txBody>
      </p:sp>
      <p:sp>
        <p:nvSpPr>
          <p:cNvPr id="59" name="Google Shape;59;p15"/>
          <p:cNvSpPr txBox="1"/>
          <p:nvPr/>
        </p:nvSpPr>
        <p:spPr>
          <a:xfrm>
            <a:off x="548640" y="2743200"/>
            <a:ext cx="43891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5DBE7"/>
              </a:buClr>
              <a:buSzPts val="1600"/>
              <a:buFont typeface="Calibri"/>
              <a:buNone/>
            </a:pPr>
            <a:r>
              <a:rPr b="0" i="0" lang="en" sz="1600" u="none" cap="none" strike="noStrike">
                <a:solidFill>
                  <a:srgbClr val="D5DBE7"/>
                </a:solidFill>
                <a:latin typeface="Calibri"/>
                <a:ea typeface="Calibri"/>
                <a:cs typeface="Calibri"/>
                <a:sym typeface="Calibri"/>
              </a:rPr>
              <a:t>What drives fraud in 590,540 online card transactions</a:t>
            </a:r>
            <a:endParaRPr b="0" i="0" sz="1600" u="none" cap="none" strike="noStrike">
              <a:solidFill>
                <a:schemeClr val="dk1"/>
              </a:solidFill>
              <a:latin typeface="Calibri"/>
              <a:ea typeface="Calibri"/>
              <a:cs typeface="Calibri"/>
              <a:sym typeface="Calibri"/>
            </a:endParaRPr>
          </a:p>
        </p:txBody>
      </p:sp>
      <p:sp>
        <p:nvSpPr>
          <p:cNvPr id="60" name="Google Shape;60;p15">
            <a:hlinkClick r:id="rId3"/>
          </p:cNvPr>
          <p:cNvSpPr txBox="1"/>
          <p:nvPr/>
        </p:nvSpPr>
        <p:spPr>
          <a:xfrm>
            <a:off x="548640" y="361188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CAE1"/>
              </a:buClr>
              <a:buSzPts val="1400"/>
              <a:buFont typeface="Calibri"/>
              <a:buNone/>
            </a:pPr>
            <a:r>
              <a:rPr b="1" i="0" lang="en" sz="1400" u="sng" cap="none" strike="noStrike">
                <a:solidFill>
                  <a:schemeClr val="hlink"/>
                </a:solidFill>
                <a:latin typeface="Calibri"/>
                <a:ea typeface="Calibri"/>
                <a:cs typeface="Calibri"/>
                <a:sym typeface="Calibri"/>
                <a:hlinkClick r:id="rId4"/>
              </a:rPr>
              <a:t>Open our Colab notebook</a:t>
            </a:r>
            <a:endParaRPr b="0" i="0" sz="1400" u="none" cap="none" strike="noStrike">
              <a:solidFill>
                <a:schemeClr val="dk1"/>
              </a:solidFill>
              <a:latin typeface="Calibri"/>
              <a:ea typeface="Calibri"/>
              <a:cs typeface="Calibri"/>
              <a:sym typeface="Calibri"/>
            </a:endParaRPr>
          </a:p>
        </p:txBody>
      </p:sp>
      <p:sp>
        <p:nvSpPr>
          <p:cNvPr id="61" name="Google Shape;61;p15"/>
          <p:cNvSpPr/>
          <p:nvPr/>
        </p:nvSpPr>
        <p:spPr>
          <a:xfrm>
            <a:off x="5394960" y="822960"/>
            <a:ext cx="3291840" cy="3474720"/>
          </a:xfrm>
          <a:prstGeom prst="roundRect">
            <a:avLst>
              <a:gd fmla="val 3333" name="adj"/>
            </a:avLst>
          </a:prstGeom>
          <a:solidFill>
            <a:srgbClr val="22325A"/>
          </a:solidFill>
          <a:ln cap="flat" cmpd="sng" w="12700">
            <a:solidFill>
              <a:srgbClr val="22325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2" name="Google Shape;62;p15"/>
          <p:cNvPicPr preferRelativeResize="0"/>
          <p:nvPr/>
        </p:nvPicPr>
        <p:blipFill rotWithShape="1">
          <a:blip r:embed="rId5">
            <a:alphaModFix/>
          </a:blip>
          <a:srcRect b="0" l="0" r="0" t="0"/>
          <a:stretch/>
        </p:blipFill>
        <p:spPr>
          <a:xfrm>
            <a:off x="5532120" y="914400"/>
            <a:ext cx="3017400" cy="3291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16"/>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2800"/>
              <a:buFont typeface="Cambria"/>
              <a:buNone/>
            </a:pPr>
            <a:r>
              <a:rPr b="1" lang="en" sz="2800">
                <a:solidFill>
                  <a:srgbClr val="1F2937"/>
                </a:solidFill>
                <a:latin typeface="Cambria"/>
                <a:ea typeface="Cambria"/>
                <a:cs typeface="Cambria"/>
                <a:sym typeface="Cambria"/>
              </a:rPr>
              <a:t>Where we are: EDA complete and combined</a:t>
            </a:r>
            <a:endParaRPr sz="2800">
              <a:solidFill>
                <a:schemeClr val="dk1"/>
              </a:solidFill>
              <a:latin typeface="Calibri"/>
              <a:ea typeface="Calibri"/>
              <a:cs typeface="Calibri"/>
              <a:sym typeface="Calibri"/>
            </a:endParaRPr>
          </a:p>
        </p:txBody>
      </p:sp>
      <p:sp>
        <p:nvSpPr>
          <p:cNvPr id="69" name="Google Shape;69;p16"/>
          <p:cNvSpPr/>
          <p:nvPr/>
        </p:nvSpPr>
        <p:spPr>
          <a:xfrm>
            <a:off x="457200" y="1234440"/>
            <a:ext cx="1828800" cy="2834640"/>
          </a:xfrm>
          <a:prstGeom prst="roundRect">
            <a:avLst>
              <a:gd fmla="val 5000"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 name="Google Shape;70;p16"/>
          <p:cNvSpPr/>
          <p:nvPr/>
        </p:nvSpPr>
        <p:spPr>
          <a:xfrm>
            <a:off x="685800" y="1463040"/>
            <a:ext cx="594360" cy="594360"/>
          </a:xfrm>
          <a:prstGeom prst="ellipse">
            <a:avLst/>
          </a:prstGeom>
          <a:solidFill>
            <a:srgbClr val="16213E"/>
          </a:solidFill>
          <a:ln cap="flat" cmpd="sng" w="12700">
            <a:solidFill>
              <a:srgbClr val="1621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1" name="Google Shape;71;p16"/>
          <p:cNvPicPr preferRelativeResize="0"/>
          <p:nvPr/>
        </p:nvPicPr>
        <p:blipFill rotWithShape="1">
          <a:blip r:embed="rId3">
            <a:alphaModFix/>
          </a:blip>
          <a:srcRect b="0" l="0" r="0" t="0"/>
          <a:stretch/>
        </p:blipFill>
        <p:spPr>
          <a:xfrm>
            <a:off x="834390" y="1611630"/>
            <a:ext cx="297180" cy="297180"/>
          </a:xfrm>
          <a:prstGeom prst="rect">
            <a:avLst/>
          </a:prstGeom>
          <a:noFill/>
          <a:ln>
            <a:noFill/>
          </a:ln>
        </p:spPr>
      </p:pic>
      <p:sp>
        <p:nvSpPr>
          <p:cNvPr id="72" name="Google Shape;72;p16"/>
          <p:cNvSpPr txBox="1"/>
          <p:nvPr/>
        </p:nvSpPr>
        <p:spPr>
          <a:xfrm>
            <a:off x="1554480" y="1508760"/>
            <a:ext cx="54864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7263D"/>
              </a:buClr>
              <a:buSzPts val="2000"/>
              <a:buFont typeface="Cambria"/>
              <a:buNone/>
            </a:pPr>
            <a:r>
              <a:rPr b="1" lang="en" sz="2000">
                <a:solidFill>
                  <a:srgbClr val="D7263D"/>
                </a:solidFill>
                <a:latin typeface="Cambria"/>
                <a:ea typeface="Cambria"/>
                <a:cs typeface="Cambria"/>
                <a:sym typeface="Cambria"/>
              </a:rPr>
              <a:t>01</a:t>
            </a:r>
            <a:endParaRPr sz="2000">
              <a:solidFill>
                <a:schemeClr val="dk1"/>
              </a:solidFill>
              <a:latin typeface="Calibri"/>
              <a:ea typeface="Calibri"/>
              <a:cs typeface="Calibri"/>
              <a:sym typeface="Calibri"/>
            </a:endParaRPr>
          </a:p>
        </p:txBody>
      </p:sp>
      <p:sp>
        <p:nvSpPr>
          <p:cNvPr id="73" name="Google Shape;73;p16"/>
          <p:cNvSpPr txBox="1"/>
          <p:nvPr/>
        </p:nvSpPr>
        <p:spPr>
          <a:xfrm>
            <a:off x="685800" y="2240280"/>
            <a:ext cx="1371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500"/>
              <a:buFont typeface="Cambria"/>
              <a:buNone/>
            </a:pPr>
            <a:r>
              <a:rPr b="1" lang="en" sz="1500">
                <a:solidFill>
                  <a:srgbClr val="1F2937"/>
                </a:solidFill>
                <a:latin typeface="Cambria"/>
                <a:ea typeface="Cambria"/>
                <a:cs typeface="Cambria"/>
                <a:sym typeface="Cambria"/>
              </a:rPr>
              <a:t>Independent EDAs</a:t>
            </a:r>
            <a:endParaRPr sz="1500">
              <a:solidFill>
                <a:schemeClr val="dk1"/>
              </a:solidFill>
              <a:latin typeface="Calibri"/>
              <a:ea typeface="Calibri"/>
              <a:cs typeface="Calibri"/>
              <a:sym typeface="Calibri"/>
            </a:endParaRPr>
          </a:p>
        </p:txBody>
      </p:sp>
      <p:sp>
        <p:nvSpPr>
          <p:cNvPr id="74" name="Google Shape;74;p16"/>
          <p:cNvSpPr txBox="1"/>
          <p:nvPr/>
        </p:nvSpPr>
        <p:spPr>
          <a:xfrm>
            <a:off x="685800" y="2788920"/>
            <a:ext cx="14173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lang="en" sz="1200">
                <a:solidFill>
                  <a:srgbClr val="5B6475"/>
                </a:solidFill>
                <a:latin typeface="Calibri"/>
                <a:ea typeface="Calibri"/>
                <a:cs typeface="Calibri"/>
                <a:sym typeface="Calibri"/>
              </a:rPr>
              <a:t>Each team member explored the data on their own.</a:t>
            </a:r>
            <a:endParaRPr sz="1200">
              <a:solidFill>
                <a:schemeClr val="dk1"/>
              </a:solidFill>
              <a:latin typeface="Calibri"/>
              <a:ea typeface="Calibri"/>
              <a:cs typeface="Calibri"/>
              <a:sym typeface="Calibri"/>
            </a:endParaRPr>
          </a:p>
        </p:txBody>
      </p:sp>
      <p:sp>
        <p:nvSpPr>
          <p:cNvPr id="75" name="Google Shape;75;p16"/>
          <p:cNvSpPr/>
          <p:nvPr/>
        </p:nvSpPr>
        <p:spPr>
          <a:xfrm>
            <a:off x="2560320" y="1234440"/>
            <a:ext cx="1828800" cy="2834640"/>
          </a:xfrm>
          <a:prstGeom prst="roundRect">
            <a:avLst>
              <a:gd fmla="val 5000"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16"/>
          <p:cNvSpPr/>
          <p:nvPr/>
        </p:nvSpPr>
        <p:spPr>
          <a:xfrm>
            <a:off x="2788920" y="1463040"/>
            <a:ext cx="594360" cy="594360"/>
          </a:xfrm>
          <a:prstGeom prst="ellipse">
            <a:avLst/>
          </a:prstGeom>
          <a:solidFill>
            <a:srgbClr val="16213E"/>
          </a:solidFill>
          <a:ln cap="flat" cmpd="sng" w="12700">
            <a:solidFill>
              <a:srgbClr val="1621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7" name="Google Shape;77;p16"/>
          <p:cNvPicPr preferRelativeResize="0"/>
          <p:nvPr/>
        </p:nvPicPr>
        <p:blipFill rotWithShape="1">
          <a:blip r:embed="rId4">
            <a:alphaModFix/>
          </a:blip>
          <a:srcRect b="0" l="0" r="0" t="0"/>
          <a:stretch/>
        </p:blipFill>
        <p:spPr>
          <a:xfrm>
            <a:off x="2937510" y="1611630"/>
            <a:ext cx="297180" cy="297180"/>
          </a:xfrm>
          <a:prstGeom prst="rect">
            <a:avLst/>
          </a:prstGeom>
          <a:noFill/>
          <a:ln>
            <a:noFill/>
          </a:ln>
        </p:spPr>
      </p:pic>
      <p:sp>
        <p:nvSpPr>
          <p:cNvPr id="78" name="Google Shape;78;p16"/>
          <p:cNvSpPr txBox="1"/>
          <p:nvPr/>
        </p:nvSpPr>
        <p:spPr>
          <a:xfrm>
            <a:off x="3657600" y="1508760"/>
            <a:ext cx="54864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7263D"/>
              </a:buClr>
              <a:buSzPts val="2000"/>
              <a:buFont typeface="Cambria"/>
              <a:buNone/>
            </a:pPr>
            <a:r>
              <a:rPr b="1" lang="en" sz="2000">
                <a:solidFill>
                  <a:srgbClr val="D7263D"/>
                </a:solidFill>
                <a:latin typeface="Cambria"/>
                <a:ea typeface="Cambria"/>
                <a:cs typeface="Cambria"/>
                <a:sym typeface="Cambria"/>
              </a:rPr>
              <a:t>02</a:t>
            </a:r>
            <a:endParaRPr sz="2000">
              <a:solidFill>
                <a:schemeClr val="dk1"/>
              </a:solidFill>
              <a:latin typeface="Calibri"/>
              <a:ea typeface="Calibri"/>
              <a:cs typeface="Calibri"/>
              <a:sym typeface="Calibri"/>
            </a:endParaRPr>
          </a:p>
        </p:txBody>
      </p:sp>
      <p:sp>
        <p:nvSpPr>
          <p:cNvPr id="79" name="Google Shape;79;p16"/>
          <p:cNvSpPr txBox="1"/>
          <p:nvPr/>
        </p:nvSpPr>
        <p:spPr>
          <a:xfrm>
            <a:off x="2788920" y="2240280"/>
            <a:ext cx="1371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500"/>
              <a:buFont typeface="Cambria"/>
              <a:buNone/>
            </a:pPr>
            <a:r>
              <a:rPr b="1" lang="en" sz="1500">
                <a:solidFill>
                  <a:srgbClr val="1F2937"/>
                </a:solidFill>
                <a:latin typeface="Cambria"/>
                <a:ea typeface="Cambria"/>
                <a:cs typeface="Cambria"/>
                <a:sym typeface="Cambria"/>
              </a:rPr>
              <a:t>Combined analyses</a:t>
            </a:r>
            <a:endParaRPr sz="1500">
              <a:solidFill>
                <a:schemeClr val="dk1"/>
              </a:solidFill>
              <a:latin typeface="Calibri"/>
              <a:ea typeface="Calibri"/>
              <a:cs typeface="Calibri"/>
              <a:sym typeface="Calibri"/>
            </a:endParaRPr>
          </a:p>
        </p:txBody>
      </p:sp>
      <p:sp>
        <p:nvSpPr>
          <p:cNvPr id="80" name="Google Shape;80;p16"/>
          <p:cNvSpPr txBox="1"/>
          <p:nvPr/>
        </p:nvSpPr>
        <p:spPr>
          <a:xfrm>
            <a:off x="2788920" y="2788920"/>
            <a:ext cx="14173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lang="en" sz="1200">
                <a:solidFill>
                  <a:srgbClr val="5B6475"/>
                </a:solidFill>
                <a:latin typeface="Calibri"/>
                <a:ea typeface="Calibri"/>
                <a:cs typeface="Calibri"/>
                <a:sym typeface="Calibri"/>
              </a:rPr>
              <a:t>Merged Salamot's and Eric's work into one fuller EDA.</a:t>
            </a:r>
            <a:endParaRPr sz="1200">
              <a:solidFill>
                <a:schemeClr val="dk1"/>
              </a:solidFill>
              <a:latin typeface="Calibri"/>
              <a:ea typeface="Calibri"/>
              <a:cs typeface="Calibri"/>
              <a:sym typeface="Calibri"/>
            </a:endParaRPr>
          </a:p>
        </p:txBody>
      </p:sp>
      <p:sp>
        <p:nvSpPr>
          <p:cNvPr id="81" name="Google Shape;81;p16"/>
          <p:cNvSpPr/>
          <p:nvPr/>
        </p:nvSpPr>
        <p:spPr>
          <a:xfrm>
            <a:off x="4663440" y="1234440"/>
            <a:ext cx="1828800" cy="2834640"/>
          </a:xfrm>
          <a:prstGeom prst="roundRect">
            <a:avLst>
              <a:gd fmla="val 5000"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16"/>
          <p:cNvSpPr/>
          <p:nvPr/>
        </p:nvSpPr>
        <p:spPr>
          <a:xfrm>
            <a:off x="4892040" y="1463040"/>
            <a:ext cx="594360" cy="594360"/>
          </a:xfrm>
          <a:prstGeom prst="ellipse">
            <a:avLst/>
          </a:prstGeom>
          <a:solidFill>
            <a:srgbClr val="16213E"/>
          </a:solidFill>
          <a:ln cap="flat" cmpd="sng" w="12700">
            <a:solidFill>
              <a:srgbClr val="1621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3" name="Google Shape;83;p16"/>
          <p:cNvPicPr preferRelativeResize="0"/>
          <p:nvPr/>
        </p:nvPicPr>
        <p:blipFill rotWithShape="1">
          <a:blip r:embed="rId5">
            <a:alphaModFix/>
          </a:blip>
          <a:srcRect b="0" l="0" r="0" t="0"/>
          <a:stretch/>
        </p:blipFill>
        <p:spPr>
          <a:xfrm>
            <a:off x="5040630" y="1611630"/>
            <a:ext cx="297180" cy="297180"/>
          </a:xfrm>
          <a:prstGeom prst="rect">
            <a:avLst/>
          </a:prstGeom>
          <a:noFill/>
          <a:ln>
            <a:noFill/>
          </a:ln>
        </p:spPr>
      </p:pic>
      <p:sp>
        <p:nvSpPr>
          <p:cNvPr id="84" name="Google Shape;84;p16"/>
          <p:cNvSpPr txBox="1"/>
          <p:nvPr/>
        </p:nvSpPr>
        <p:spPr>
          <a:xfrm>
            <a:off x="5760720" y="1508760"/>
            <a:ext cx="54864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7263D"/>
              </a:buClr>
              <a:buSzPts val="2000"/>
              <a:buFont typeface="Cambria"/>
              <a:buNone/>
            </a:pPr>
            <a:r>
              <a:rPr b="1" lang="en" sz="2000">
                <a:solidFill>
                  <a:srgbClr val="D7263D"/>
                </a:solidFill>
                <a:latin typeface="Cambria"/>
                <a:ea typeface="Cambria"/>
                <a:cs typeface="Cambria"/>
                <a:sym typeface="Cambria"/>
              </a:rPr>
              <a:t>03</a:t>
            </a:r>
            <a:endParaRPr sz="2000">
              <a:solidFill>
                <a:schemeClr val="dk1"/>
              </a:solidFill>
              <a:latin typeface="Calibri"/>
              <a:ea typeface="Calibri"/>
              <a:cs typeface="Calibri"/>
              <a:sym typeface="Calibri"/>
            </a:endParaRPr>
          </a:p>
        </p:txBody>
      </p:sp>
      <p:sp>
        <p:nvSpPr>
          <p:cNvPr id="85" name="Google Shape;85;p16"/>
          <p:cNvSpPr txBox="1"/>
          <p:nvPr/>
        </p:nvSpPr>
        <p:spPr>
          <a:xfrm>
            <a:off x="4892040" y="2240280"/>
            <a:ext cx="1371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500"/>
              <a:buFont typeface="Cambria"/>
              <a:buNone/>
            </a:pPr>
            <a:r>
              <a:rPr b="1" lang="en" sz="1500">
                <a:solidFill>
                  <a:srgbClr val="1F2937"/>
                </a:solidFill>
                <a:latin typeface="Cambria"/>
                <a:ea typeface="Cambria"/>
                <a:cs typeface="Cambria"/>
                <a:sym typeface="Cambria"/>
              </a:rPr>
              <a:t>Joined and split</a:t>
            </a:r>
            <a:endParaRPr sz="1500">
              <a:solidFill>
                <a:schemeClr val="dk1"/>
              </a:solidFill>
              <a:latin typeface="Calibri"/>
              <a:ea typeface="Calibri"/>
              <a:cs typeface="Calibri"/>
              <a:sym typeface="Calibri"/>
            </a:endParaRPr>
          </a:p>
        </p:txBody>
      </p:sp>
      <p:sp>
        <p:nvSpPr>
          <p:cNvPr id="86" name="Google Shape;86;p16"/>
          <p:cNvSpPr txBox="1"/>
          <p:nvPr/>
        </p:nvSpPr>
        <p:spPr>
          <a:xfrm>
            <a:off x="4892040" y="2788920"/>
            <a:ext cx="14173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lang="en" sz="1200">
                <a:solidFill>
                  <a:srgbClr val="5B6475"/>
                </a:solidFill>
                <a:latin typeface="Calibri"/>
                <a:ea typeface="Calibri"/>
                <a:cs typeface="Calibri"/>
                <a:sym typeface="Calibri"/>
              </a:rPr>
              <a:t>Joined transactions to identity on TransactionID; split train and validation by time.</a:t>
            </a:r>
            <a:endParaRPr sz="1200">
              <a:solidFill>
                <a:schemeClr val="dk1"/>
              </a:solidFill>
              <a:latin typeface="Calibri"/>
              <a:ea typeface="Calibri"/>
              <a:cs typeface="Calibri"/>
              <a:sym typeface="Calibri"/>
            </a:endParaRPr>
          </a:p>
        </p:txBody>
      </p:sp>
      <p:sp>
        <p:nvSpPr>
          <p:cNvPr id="87" name="Google Shape;87;p16"/>
          <p:cNvSpPr/>
          <p:nvPr/>
        </p:nvSpPr>
        <p:spPr>
          <a:xfrm>
            <a:off x="6766560" y="1234440"/>
            <a:ext cx="1828800" cy="2834640"/>
          </a:xfrm>
          <a:prstGeom prst="roundRect">
            <a:avLst>
              <a:gd fmla="val 5000"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16"/>
          <p:cNvSpPr/>
          <p:nvPr/>
        </p:nvSpPr>
        <p:spPr>
          <a:xfrm>
            <a:off x="6995160" y="1463040"/>
            <a:ext cx="594360" cy="594360"/>
          </a:xfrm>
          <a:prstGeom prst="ellipse">
            <a:avLst/>
          </a:prstGeom>
          <a:solidFill>
            <a:srgbClr val="16213E"/>
          </a:solidFill>
          <a:ln cap="flat" cmpd="sng" w="12700">
            <a:solidFill>
              <a:srgbClr val="1621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89" name="Google Shape;89;p16"/>
          <p:cNvPicPr preferRelativeResize="0"/>
          <p:nvPr/>
        </p:nvPicPr>
        <p:blipFill rotWithShape="1">
          <a:blip r:embed="rId6">
            <a:alphaModFix/>
          </a:blip>
          <a:srcRect b="0" l="0" r="0" t="0"/>
          <a:stretch/>
        </p:blipFill>
        <p:spPr>
          <a:xfrm>
            <a:off x="7143750" y="1611630"/>
            <a:ext cx="297180" cy="297180"/>
          </a:xfrm>
          <a:prstGeom prst="rect">
            <a:avLst/>
          </a:prstGeom>
          <a:noFill/>
          <a:ln>
            <a:noFill/>
          </a:ln>
        </p:spPr>
      </p:pic>
      <p:sp>
        <p:nvSpPr>
          <p:cNvPr id="90" name="Google Shape;90;p16"/>
          <p:cNvSpPr txBox="1"/>
          <p:nvPr/>
        </p:nvSpPr>
        <p:spPr>
          <a:xfrm>
            <a:off x="7863840" y="1508760"/>
            <a:ext cx="54864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7263D"/>
              </a:buClr>
              <a:buSzPts val="2000"/>
              <a:buFont typeface="Cambria"/>
              <a:buNone/>
            </a:pPr>
            <a:r>
              <a:rPr b="1" lang="en" sz="2000">
                <a:solidFill>
                  <a:srgbClr val="D7263D"/>
                </a:solidFill>
                <a:latin typeface="Cambria"/>
                <a:ea typeface="Cambria"/>
                <a:cs typeface="Cambria"/>
                <a:sym typeface="Cambria"/>
              </a:rPr>
              <a:t>04</a:t>
            </a:r>
            <a:endParaRPr sz="2000">
              <a:solidFill>
                <a:schemeClr val="dk1"/>
              </a:solidFill>
              <a:latin typeface="Calibri"/>
              <a:ea typeface="Calibri"/>
              <a:cs typeface="Calibri"/>
              <a:sym typeface="Calibri"/>
            </a:endParaRPr>
          </a:p>
        </p:txBody>
      </p:sp>
      <p:sp>
        <p:nvSpPr>
          <p:cNvPr id="91" name="Google Shape;91;p16"/>
          <p:cNvSpPr txBox="1"/>
          <p:nvPr/>
        </p:nvSpPr>
        <p:spPr>
          <a:xfrm>
            <a:off x="6995160" y="2240280"/>
            <a:ext cx="1371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500"/>
              <a:buFont typeface="Cambria"/>
              <a:buNone/>
            </a:pPr>
            <a:r>
              <a:rPr b="1" lang="en" sz="1500">
                <a:solidFill>
                  <a:srgbClr val="1F2937"/>
                </a:solidFill>
                <a:latin typeface="Cambria"/>
                <a:ea typeface="Cambria"/>
                <a:cs typeface="Cambria"/>
                <a:sym typeface="Cambria"/>
              </a:rPr>
              <a:t>Analyzed patterns</a:t>
            </a:r>
            <a:endParaRPr sz="1500">
              <a:solidFill>
                <a:schemeClr val="dk1"/>
              </a:solidFill>
              <a:latin typeface="Calibri"/>
              <a:ea typeface="Calibri"/>
              <a:cs typeface="Calibri"/>
              <a:sym typeface="Calibri"/>
            </a:endParaRPr>
          </a:p>
        </p:txBody>
      </p:sp>
      <p:sp>
        <p:nvSpPr>
          <p:cNvPr id="92" name="Google Shape;92;p16"/>
          <p:cNvSpPr txBox="1"/>
          <p:nvPr/>
        </p:nvSpPr>
        <p:spPr>
          <a:xfrm>
            <a:off x="6995160" y="2788920"/>
            <a:ext cx="14173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lang="en" sz="1200">
                <a:solidFill>
                  <a:srgbClr val="5B6475"/>
                </a:solidFill>
                <a:latin typeface="Calibri"/>
                <a:ea typeface="Calibri"/>
                <a:cs typeface="Calibri"/>
                <a:sym typeface="Calibri"/>
              </a:rPr>
              <a:t>Imbalance, missing data, amounts, products, devices and accounts.</a:t>
            </a:r>
            <a:endParaRPr sz="1200">
              <a:solidFill>
                <a:schemeClr val="dk1"/>
              </a:solidFill>
              <a:latin typeface="Calibri"/>
              <a:ea typeface="Calibri"/>
              <a:cs typeface="Calibri"/>
              <a:sym typeface="Calibri"/>
            </a:endParaRPr>
          </a:p>
        </p:txBody>
      </p:sp>
      <p:sp>
        <p:nvSpPr>
          <p:cNvPr id="93" name="Google Shape;93;p16"/>
          <p:cNvSpPr txBox="1"/>
          <p:nvPr/>
        </p:nvSpPr>
        <p:spPr>
          <a:xfrm>
            <a:off x="457200" y="425196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400"/>
              <a:buFont typeface="Calibri"/>
              <a:buNone/>
            </a:pPr>
            <a:r>
              <a:rPr i="1" lang="en" sz="1400">
                <a:solidFill>
                  <a:srgbClr val="1F2937"/>
                </a:solidFill>
                <a:latin typeface="Calibri"/>
                <a:ea typeface="Calibri"/>
                <a:cs typeface="Calibri"/>
                <a:sym typeface="Calibri"/>
              </a:rPr>
              <a:t>Result: a shortlist of features and patterns that can help predict fraud.</a:t>
            </a:r>
            <a:endParaRPr sz="1400">
              <a:solidFill>
                <a:schemeClr val="dk1"/>
              </a:solidFill>
              <a:latin typeface="Calibri"/>
              <a:ea typeface="Calibri"/>
              <a:cs typeface="Calibri"/>
              <a:sym typeface="Calibri"/>
            </a:endParaRPr>
          </a:p>
        </p:txBody>
      </p:sp>
      <p:sp>
        <p:nvSpPr>
          <p:cNvPr id="94" name="Google Shape;94;p16"/>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95" name="Google Shape;95;p16"/>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2</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17"/>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2800"/>
              <a:buFont typeface="Cambria"/>
              <a:buNone/>
            </a:pPr>
            <a:r>
              <a:rPr b="1" lang="en" sz="2800">
                <a:solidFill>
                  <a:srgbClr val="1F2937"/>
                </a:solidFill>
                <a:latin typeface="Cambria"/>
                <a:ea typeface="Cambria"/>
                <a:cs typeface="Cambria"/>
                <a:sym typeface="Cambria"/>
              </a:rPr>
              <a:t>Key findings</a:t>
            </a:r>
            <a:endParaRPr sz="2800">
              <a:solidFill>
                <a:schemeClr val="dk1"/>
              </a:solidFill>
              <a:latin typeface="Calibri"/>
              <a:ea typeface="Calibri"/>
              <a:cs typeface="Calibri"/>
              <a:sym typeface="Calibri"/>
            </a:endParaRPr>
          </a:p>
        </p:txBody>
      </p:sp>
      <p:sp>
        <p:nvSpPr>
          <p:cNvPr id="102" name="Google Shape;102;p17"/>
          <p:cNvSpPr/>
          <p:nvPr/>
        </p:nvSpPr>
        <p:spPr>
          <a:xfrm>
            <a:off x="457200" y="1188720"/>
            <a:ext cx="4023360" cy="1234440"/>
          </a:xfrm>
          <a:prstGeom prst="roundRect">
            <a:avLst>
              <a:gd fmla="val 7407"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17"/>
          <p:cNvSpPr txBox="1"/>
          <p:nvPr/>
        </p:nvSpPr>
        <p:spPr>
          <a:xfrm>
            <a:off x="685800" y="1325880"/>
            <a:ext cx="173736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263D"/>
              </a:buClr>
              <a:buSzPts val="3000"/>
              <a:buFont typeface="Cambria"/>
              <a:buNone/>
            </a:pPr>
            <a:r>
              <a:rPr b="1" lang="en" sz="3000">
                <a:solidFill>
                  <a:srgbClr val="D7263D"/>
                </a:solidFill>
                <a:latin typeface="Cambria"/>
                <a:ea typeface="Cambria"/>
                <a:cs typeface="Cambria"/>
                <a:sym typeface="Cambria"/>
              </a:rPr>
              <a:t>3.51%</a:t>
            </a:r>
            <a:endParaRPr sz="3000">
              <a:solidFill>
                <a:schemeClr val="dk1"/>
              </a:solidFill>
              <a:latin typeface="Calibri"/>
              <a:ea typeface="Calibri"/>
              <a:cs typeface="Calibri"/>
              <a:sym typeface="Calibri"/>
            </a:endParaRPr>
          </a:p>
        </p:txBody>
      </p:sp>
      <p:sp>
        <p:nvSpPr>
          <p:cNvPr id="104" name="Google Shape;104;p17"/>
          <p:cNvSpPr txBox="1"/>
          <p:nvPr/>
        </p:nvSpPr>
        <p:spPr>
          <a:xfrm>
            <a:off x="2423160" y="1325880"/>
            <a:ext cx="18745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50"/>
              <a:buFont typeface="Calibri"/>
              <a:buNone/>
            </a:pPr>
            <a:r>
              <a:rPr lang="en" sz="1250">
                <a:solidFill>
                  <a:srgbClr val="1F2937"/>
                </a:solidFill>
                <a:latin typeface="Calibri"/>
                <a:ea typeface="Calibri"/>
                <a:cs typeface="Calibri"/>
                <a:sym typeface="Calibri"/>
              </a:rPr>
              <a:t>of training transactions are fraud, so accuracy alone is misleading</a:t>
            </a:r>
            <a:endParaRPr sz="1250">
              <a:solidFill>
                <a:schemeClr val="dk1"/>
              </a:solidFill>
              <a:latin typeface="Calibri"/>
              <a:ea typeface="Calibri"/>
              <a:cs typeface="Calibri"/>
              <a:sym typeface="Calibri"/>
            </a:endParaRPr>
          </a:p>
        </p:txBody>
      </p:sp>
      <p:sp>
        <p:nvSpPr>
          <p:cNvPr id="105" name="Google Shape;105;p17"/>
          <p:cNvSpPr/>
          <p:nvPr/>
        </p:nvSpPr>
        <p:spPr>
          <a:xfrm>
            <a:off x="4663440" y="1188720"/>
            <a:ext cx="4023360" cy="1234440"/>
          </a:xfrm>
          <a:prstGeom prst="roundRect">
            <a:avLst>
              <a:gd fmla="val 7407"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17"/>
          <p:cNvSpPr txBox="1"/>
          <p:nvPr/>
        </p:nvSpPr>
        <p:spPr>
          <a:xfrm>
            <a:off x="4892040" y="1325880"/>
            <a:ext cx="173736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263D"/>
              </a:buClr>
              <a:buSzPts val="3000"/>
              <a:buFont typeface="Cambria"/>
              <a:buNone/>
            </a:pPr>
            <a:r>
              <a:rPr b="1" lang="en" sz="3000">
                <a:solidFill>
                  <a:srgbClr val="D7263D"/>
                </a:solidFill>
                <a:latin typeface="Cambria"/>
                <a:ea typeface="Cambria"/>
                <a:cs typeface="Cambria"/>
                <a:sym typeface="Cambria"/>
              </a:rPr>
              <a:t>11.33%</a:t>
            </a:r>
            <a:endParaRPr sz="3000">
              <a:solidFill>
                <a:schemeClr val="dk1"/>
              </a:solidFill>
              <a:latin typeface="Calibri"/>
              <a:ea typeface="Calibri"/>
              <a:cs typeface="Calibri"/>
              <a:sym typeface="Calibri"/>
            </a:endParaRPr>
          </a:p>
        </p:txBody>
      </p:sp>
      <p:sp>
        <p:nvSpPr>
          <p:cNvPr id="107" name="Google Shape;107;p17"/>
          <p:cNvSpPr txBox="1"/>
          <p:nvPr/>
        </p:nvSpPr>
        <p:spPr>
          <a:xfrm>
            <a:off x="6629400" y="1325880"/>
            <a:ext cx="18745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50"/>
              <a:buFont typeface="Calibri"/>
              <a:buNone/>
            </a:pPr>
            <a:r>
              <a:rPr lang="en" sz="1250">
                <a:solidFill>
                  <a:srgbClr val="1F2937"/>
                </a:solidFill>
                <a:latin typeface="Calibri"/>
                <a:ea typeface="Calibri"/>
                <a:cs typeface="Calibri"/>
                <a:sym typeface="Calibri"/>
              </a:rPr>
              <a:t>fraud rate in product C, the riskiest; product W holds the most fraud cases</a:t>
            </a:r>
            <a:endParaRPr sz="1250">
              <a:solidFill>
                <a:schemeClr val="dk1"/>
              </a:solidFill>
              <a:latin typeface="Calibri"/>
              <a:ea typeface="Calibri"/>
              <a:cs typeface="Calibri"/>
              <a:sym typeface="Calibri"/>
            </a:endParaRPr>
          </a:p>
        </p:txBody>
      </p:sp>
      <p:sp>
        <p:nvSpPr>
          <p:cNvPr id="108" name="Google Shape;108;p17"/>
          <p:cNvSpPr/>
          <p:nvPr/>
        </p:nvSpPr>
        <p:spPr>
          <a:xfrm>
            <a:off x="457200" y="2606040"/>
            <a:ext cx="4023360" cy="1234440"/>
          </a:xfrm>
          <a:prstGeom prst="roundRect">
            <a:avLst>
              <a:gd fmla="val 7407"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17"/>
          <p:cNvSpPr txBox="1"/>
          <p:nvPr/>
        </p:nvSpPr>
        <p:spPr>
          <a:xfrm>
            <a:off x="685800" y="2743200"/>
            <a:ext cx="173736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263D"/>
              </a:buClr>
              <a:buSzPts val="3000"/>
              <a:buFont typeface="Cambria"/>
              <a:buNone/>
            </a:pPr>
            <a:r>
              <a:rPr b="1" lang="en" sz="3000">
                <a:solidFill>
                  <a:srgbClr val="D7263D"/>
                </a:solidFill>
                <a:latin typeface="Cambria"/>
                <a:ea typeface="Cambria"/>
                <a:cs typeface="Cambria"/>
                <a:sym typeface="Cambria"/>
              </a:rPr>
              <a:t>89%</a:t>
            </a:r>
            <a:endParaRPr sz="3000">
              <a:solidFill>
                <a:schemeClr val="dk1"/>
              </a:solidFill>
              <a:latin typeface="Calibri"/>
              <a:ea typeface="Calibri"/>
              <a:cs typeface="Calibri"/>
              <a:sym typeface="Calibri"/>
            </a:endParaRPr>
          </a:p>
        </p:txBody>
      </p:sp>
      <p:sp>
        <p:nvSpPr>
          <p:cNvPr id="110" name="Google Shape;110;p17"/>
          <p:cNvSpPr txBox="1"/>
          <p:nvPr/>
        </p:nvSpPr>
        <p:spPr>
          <a:xfrm>
            <a:off x="2423160" y="2743200"/>
            <a:ext cx="18745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50"/>
              <a:buFont typeface="Calibri"/>
              <a:buNone/>
            </a:pPr>
            <a:r>
              <a:rPr lang="en" sz="1250">
                <a:solidFill>
                  <a:srgbClr val="1F2937"/>
                </a:solidFill>
                <a:latin typeface="Calibri"/>
                <a:ea typeface="Calibri"/>
                <a:cs typeface="Calibri"/>
                <a:sym typeface="Calibri"/>
              </a:rPr>
              <a:t>of repeat-account fraud sits in accounts that are mostly fraud</a:t>
            </a:r>
            <a:endParaRPr sz="1250">
              <a:solidFill>
                <a:schemeClr val="dk1"/>
              </a:solidFill>
              <a:latin typeface="Calibri"/>
              <a:ea typeface="Calibri"/>
              <a:cs typeface="Calibri"/>
              <a:sym typeface="Calibri"/>
            </a:endParaRPr>
          </a:p>
        </p:txBody>
      </p:sp>
      <p:sp>
        <p:nvSpPr>
          <p:cNvPr id="111" name="Google Shape;111;p17"/>
          <p:cNvSpPr/>
          <p:nvPr/>
        </p:nvSpPr>
        <p:spPr>
          <a:xfrm>
            <a:off x="4663440" y="2606040"/>
            <a:ext cx="4023360" cy="1234440"/>
          </a:xfrm>
          <a:prstGeom prst="roundRect">
            <a:avLst>
              <a:gd fmla="val 7407"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17"/>
          <p:cNvSpPr txBox="1"/>
          <p:nvPr/>
        </p:nvSpPr>
        <p:spPr>
          <a:xfrm>
            <a:off x="4892040" y="2743200"/>
            <a:ext cx="173736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263D"/>
              </a:buClr>
              <a:buSzPts val="3000"/>
              <a:buFont typeface="Cambria"/>
              <a:buNone/>
            </a:pPr>
            <a:r>
              <a:rPr b="1" lang="en" sz="3000">
                <a:solidFill>
                  <a:srgbClr val="D7263D"/>
                </a:solidFill>
                <a:latin typeface="Cambria"/>
                <a:ea typeface="Cambria"/>
                <a:cs typeface="Cambria"/>
                <a:sym typeface="Cambria"/>
              </a:rPr>
              <a:t>42 of 67</a:t>
            </a:r>
            <a:endParaRPr sz="3000">
              <a:solidFill>
                <a:schemeClr val="dk1"/>
              </a:solidFill>
              <a:latin typeface="Calibri"/>
              <a:ea typeface="Calibri"/>
              <a:cs typeface="Calibri"/>
              <a:sym typeface="Calibri"/>
            </a:endParaRPr>
          </a:p>
        </p:txBody>
      </p:sp>
      <p:sp>
        <p:nvSpPr>
          <p:cNvPr id="113" name="Google Shape;113;p17"/>
          <p:cNvSpPr txBox="1"/>
          <p:nvPr/>
        </p:nvSpPr>
        <p:spPr>
          <a:xfrm>
            <a:off x="6629400" y="2743200"/>
            <a:ext cx="18745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50"/>
              <a:buFont typeface="Calibri"/>
              <a:buNone/>
            </a:pPr>
            <a:r>
              <a:rPr lang="en" sz="1250">
                <a:solidFill>
                  <a:srgbClr val="1F2937"/>
                </a:solidFill>
                <a:latin typeface="Calibri"/>
                <a:ea typeface="Calibri"/>
                <a:cs typeface="Calibri"/>
                <a:sym typeface="Calibri"/>
              </a:rPr>
              <a:t>missing-data patterns shift the fraud rate: missingness is a signal</a:t>
            </a:r>
            <a:endParaRPr sz="1250">
              <a:solidFill>
                <a:schemeClr val="dk1"/>
              </a:solidFill>
              <a:latin typeface="Calibri"/>
              <a:ea typeface="Calibri"/>
              <a:cs typeface="Calibri"/>
              <a:sym typeface="Calibri"/>
            </a:endParaRPr>
          </a:p>
        </p:txBody>
      </p:sp>
      <p:sp>
        <p:nvSpPr>
          <p:cNvPr id="114" name="Google Shape;114;p17"/>
          <p:cNvSpPr txBox="1"/>
          <p:nvPr/>
        </p:nvSpPr>
        <p:spPr>
          <a:xfrm>
            <a:off x="457200" y="41605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300"/>
              <a:buFont typeface="Calibri"/>
              <a:buNone/>
            </a:pPr>
            <a:r>
              <a:rPr i="1" lang="en" sz="1300">
                <a:solidFill>
                  <a:srgbClr val="5B6475"/>
                </a:solidFill>
                <a:latin typeface="Calibri"/>
                <a:ea typeface="Calibri"/>
                <a:cs typeface="Calibri"/>
                <a:sym typeface="Calibri"/>
              </a:rPr>
              <a:t>Also different for fraud: transaction amount, time of day, card type, email provider and device type.</a:t>
            </a:r>
            <a:endParaRPr sz="1300">
              <a:solidFill>
                <a:schemeClr val="dk1"/>
              </a:solidFill>
              <a:latin typeface="Calibri"/>
              <a:ea typeface="Calibri"/>
              <a:cs typeface="Calibri"/>
              <a:sym typeface="Calibri"/>
            </a:endParaRPr>
          </a:p>
        </p:txBody>
      </p:sp>
      <p:sp>
        <p:nvSpPr>
          <p:cNvPr id="115" name="Google Shape;115;p17"/>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116" name="Google Shape;116;p17"/>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3</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8"/>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2800"/>
              <a:buFont typeface="Cambria"/>
              <a:buNone/>
            </a:pPr>
            <a:r>
              <a:rPr b="1" lang="en" sz="2800">
                <a:solidFill>
                  <a:srgbClr val="1F2937"/>
                </a:solidFill>
                <a:latin typeface="Cambria"/>
                <a:ea typeface="Cambria"/>
                <a:cs typeface="Cambria"/>
                <a:sym typeface="Cambria"/>
              </a:rPr>
              <a:t>Product: C has the highest fraud rate, W has most fraud cases</a:t>
            </a:r>
            <a:endParaRPr sz="2800">
              <a:solidFill>
                <a:schemeClr val="dk1"/>
              </a:solidFill>
              <a:latin typeface="Calibri"/>
              <a:ea typeface="Calibri"/>
              <a:cs typeface="Calibri"/>
              <a:sym typeface="Calibri"/>
            </a:endParaRPr>
          </a:p>
        </p:txBody>
      </p:sp>
      <p:pic>
        <p:nvPicPr>
          <p:cNvPr id="123" name="Google Shape;123;p18"/>
          <p:cNvPicPr preferRelativeResize="0"/>
          <p:nvPr/>
        </p:nvPicPr>
        <p:blipFill rotWithShape="1">
          <a:blip r:embed="rId3">
            <a:alphaModFix/>
          </a:blip>
          <a:srcRect b="0" l="0" r="0" t="0"/>
          <a:stretch/>
        </p:blipFill>
        <p:spPr>
          <a:xfrm>
            <a:off x="457200" y="1097280"/>
            <a:ext cx="5303520" cy="3246120"/>
          </a:xfrm>
          <a:prstGeom prst="rect">
            <a:avLst/>
          </a:prstGeom>
          <a:noFill/>
          <a:ln>
            <a:noFill/>
          </a:ln>
        </p:spPr>
      </p:pic>
      <p:sp>
        <p:nvSpPr>
          <p:cNvPr id="124" name="Google Shape;124;p18"/>
          <p:cNvSpPr/>
          <p:nvPr/>
        </p:nvSpPr>
        <p:spPr>
          <a:xfrm>
            <a:off x="6035040" y="1325880"/>
            <a:ext cx="2743200" cy="1371600"/>
          </a:xfrm>
          <a:prstGeom prst="roundRect">
            <a:avLst>
              <a:gd fmla="val 6667"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18"/>
          <p:cNvSpPr txBox="1"/>
          <p:nvPr/>
        </p:nvSpPr>
        <p:spPr>
          <a:xfrm>
            <a:off x="6263640" y="146304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263D"/>
              </a:buClr>
              <a:buSzPts val="2200"/>
              <a:buFont typeface="Cambria"/>
              <a:buNone/>
            </a:pPr>
            <a:r>
              <a:rPr b="1" lang="en" sz="2200">
                <a:solidFill>
                  <a:srgbClr val="3182BD"/>
                </a:solidFill>
                <a:latin typeface="Cambria"/>
                <a:ea typeface="Cambria"/>
                <a:cs typeface="Cambria"/>
                <a:sym typeface="Cambria"/>
              </a:rPr>
              <a:t>11.9%</a:t>
            </a:r>
            <a:r>
              <a:rPr b="1" lang="en" sz="2200">
                <a:solidFill>
                  <a:srgbClr val="D7263D"/>
                </a:solidFill>
                <a:latin typeface="Cambria"/>
                <a:ea typeface="Cambria"/>
                <a:cs typeface="Cambria"/>
                <a:sym typeface="Cambria"/>
              </a:rPr>
              <a:t> → 38.5%</a:t>
            </a:r>
            <a:endParaRPr sz="2200">
              <a:solidFill>
                <a:schemeClr val="dk1"/>
              </a:solidFill>
              <a:latin typeface="Calibri"/>
              <a:ea typeface="Calibri"/>
              <a:cs typeface="Calibri"/>
              <a:sym typeface="Calibri"/>
            </a:endParaRPr>
          </a:p>
        </p:txBody>
      </p:sp>
      <p:sp>
        <p:nvSpPr>
          <p:cNvPr id="126" name="Google Shape;126;p18"/>
          <p:cNvSpPr txBox="1"/>
          <p:nvPr/>
        </p:nvSpPr>
        <p:spPr>
          <a:xfrm>
            <a:off x="6263640" y="201168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200"/>
              <a:buFont typeface="Calibri"/>
              <a:buNone/>
            </a:pPr>
            <a:r>
              <a:rPr lang="en" sz="1200">
                <a:solidFill>
                  <a:srgbClr val="1F2937"/>
                </a:solidFill>
                <a:latin typeface="Calibri"/>
                <a:ea typeface="Calibri"/>
                <a:cs typeface="Calibri"/>
                <a:sym typeface="Calibri"/>
              </a:rPr>
              <a:t>Product C: has 11.9% share of transactions vs share of fraud (11.33% fraud rate)</a:t>
            </a:r>
            <a:endParaRPr sz="1200">
              <a:solidFill>
                <a:schemeClr val="dk1"/>
              </a:solidFill>
              <a:latin typeface="Calibri"/>
              <a:ea typeface="Calibri"/>
              <a:cs typeface="Calibri"/>
              <a:sym typeface="Calibri"/>
            </a:endParaRPr>
          </a:p>
        </p:txBody>
      </p:sp>
      <p:sp>
        <p:nvSpPr>
          <p:cNvPr id="127" name="Google Shape;127;p18"/>
          <p:cNvSpPr/>
          <p:nvPr/>
        </p:nvSpPr>
        <p:spPr>
          <a:xfrm>
            <a:off x="6035040" y="2926080"/>
            <a:ext cx="2743200" cy="1371600"/>
          </a:xfrm>
          <a:prstGeom prst="roundRect">
            <a:avLst>
              <a:gd fmla="val 6667"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18"/>
          <p:cNvSpPr txBox="1"/>
          <p:nvPr/>
        </p:nvSpPr>
        <p:spPr>
          <a:xfrm>
            <a:off x="6263640" y="3063240"/>
            <a:ext cx="22860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182BD"/>
              </a:buClr>
              <a:buSzPts val="2200"/>
              <a:buFont typeface="Cambria"/>
              <a:buNone/>
            </a:pPr>
            <a:r>
              <a:rPr b="1" lang="en" sz="2200">
                <a:solidFill>
                  <a:srgbClr val="3182BD"/>
                </a:solidFill>
                <a:latin typeface="Cambria"/>
                <a:ea typeface="Cambria"/>
                <a:cs typeface="Cambria"/>
                <a:sym typeface="Cambria"/>
              </a:rPr>
              <a:t>73.2% → </a:t>
            </a:r>
            <a:r>
              <a:rPr b="1" lang="en" sz="2200">
                <a:solidFill>
                  <a:srgbClr val="D7263D"/>
                </a:solidFill>
                <a:latin typeface="Cambria"/>
                <a:ea typeface="Cambria"/>
                <a:cs typeface="Cambria"/>
                <a:sym typeface="Cambria"/>
              </a:rPr>
              <a:t>43.1%</a:t>
            </a:r>
            <a:endParaRPr sz="2200">
              <a:solidFill>
                <a:srgbClr val="D7263D"/>
              </a:solidFill>
              <a:latin typeface="Calibri"/>
              <a:ea typeface="Calibri"/>
              <a:cs typeface="Calibri"/>
              <a:sym typeface="Calibri"/>
            </a:endParaRPr>
          </a:p>
        </p:txBody>
      </p:sp>
      <p:sp>
        <p:nvSpPr>
          <p:cNvPr id="129" name="Google Shape;129;p18"/>
          <p:cNvSpPr txBox="1"/>
          <p:nvPr/>
        </p:nvSpPr>
        <p:spPr>
          <a:xfrm>
            <a:off x="6263640" y="361188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200"/>
              <a:buFont typeface="Calibri"/>
              <a:buNone/>
            </a:pPr>
            <a:r>
              <a:rPr lang="en" sz="1200">
                <a:solidFill>
                  <a:srgbClr val="1F2937"/>
                </a:solidFill>
                <a:latin typeface="Calibri"/>
                <a:ea typeface="Calibri"/>
                <a:cs typeface="Calibri"/>
                <a:sym typeface="Calibri"/>
              </a:rPr>
              <a:t>Product W: share of transactions vs share of fraud (2.07% fraud rate)</a:t>
            </a:r>
            <a:endParaRPr sz="1200">
              <a:solidFill>
                <a:schemeClr val="dk1"/>
              </a:solidFill>
              <a:latin typeface="Calibri"/>
              <a:ea typeface="Calibri"/>
              <a:cs typeface="Calibri"/>
              <a:sym typeface="Calibri"/>
            </a:endParaRPr>
          </a:p>
        </p:txBody>
      </p:sp>
      <p:sp>
        <p:nvSpPr>
          <p:cNvPr id="130" name="Google Shape;130;p18"/>
          <p:cNvSpPr txBox="1"/>
          <p:nvPr/>
        </p:nvSpPr>
        <p:spPr>
          <a:xfrm>
            <a:off x="457200" y="4343400"/>
            <a:ext cx="5303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100"/>
              <a:buFont typeface="Calibri"/>
              <a:buNone/>
            </a:pPr>
            <a:r>
              <a:rPr i="1" lang="en" sz="1100">
                <a:solidFill>
                  <a:srgbClr val="5B6475"/>
                </a:solidFill>
                <a:latin typeface="Calibri"/>
                <a:ea typeface="Calibri"/>
                <a:cs typeface="Calibri"/>
                <a:sym typeface="Calibri"/>
              </a:rPr>
              <a:t>Red taller than blue: the product produces more than its share of fraud.</a:t>
            </a:r>
            <a:endParaRPr sz="1100">
              <a:solidFill>
                <a:schemeClr val="dk1"/>
              </a:solidFill>
              <a:latin typeface="Calibri"/>
              <a:ea typeface="Calibri"/>
              <a:cs typeface="Calibri"/>
              <a:sym typeface="Calibri"/>
            </a:endParaRPr>
          </a:p>
        </p:txBody>
      </p:sp>
      <p:sp>
        <p:nvSpPr>
          <p:cNvPr id="131" name="Google Shape;131;p18"/>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132" name="Google Shape;132;p18"/>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4</a:t>
            </a:r>
            <a:endParaRPr sz="1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19"/>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2800">
                <a:solidFill>
                  <a:srgbClr val="1F2937"/>
                </a:solidFill>
                <a:latin typeface="Cambria"/>
                <a:ea typeface="Cambria"/>
                <a:cs typeface="Cambria"/>
                <a:sym typeface="Cambria"/>
              </a:rPr>
              <a:t>Transactions with identity make up over half the fraud</a:t>
            </a:r>
            <a:endParaRPr b="1" sz="2800">
              <a:solidFill>
                <a:srgbClr val="1F2937"/>
              </a:solidFill>
              <a:latin typeface="Cambria"/>
              <a:ea typeface="Cambria"/>
              <a:cs typeface="Cambria"/>
              <a:sym typeface="Cambria"/>
            </a:endParaRPr>
          </a:p>
          <a:p>
            <a:pPr indent="0" lvl="0" marL="0" marR="0" rtl="0" algn="l">
              <a:spcBef>
                <a:spcPts val="0"/>
              </a:spcBef>
              <a:spcAft>
                <a:spcPts val="0"/>
              </a:spcAft>
              <a:buClr>
                <a:srgbClr val="1F2937"/>
              </a:buClr>
              <a:buSzPts val="2800"/>
              <a:buFont typeface="Cambria"/>
              <a:buNone/>
            </a:pPr>
            <a:r>
              <a:t/>
            </a:r>
            <a:endParaRPr b="1" sz="2800">
              <a:solidFill>
                <a:srgbClr val="1F2937"/>
              </a:solidFill>
              <a:latin typeface="Cambria"/>
              <a:ea typeface="Cambria"/>
              <a:cs typeface="Cambria"/>
              <a:sym typeface="Cambria"/>
            </a:endParaRPr>
          </a:p>
        </p:txBody>
      </p:sp>
      <p:pic>
        <p:nvPicPr>
          <p:cNvPr id="139" name="Google Shape;139;p19"/>
          <p:cNvPicPr preferRelativeResize="0"/>
          <p:nvPr/>
        </p:nvPicPr>
        <p:blipFill rotWithShape="1">
          <a:blip r:embed="rId3">
            <a:alphaModFix/>
          </a:blip>
          <a:srcRect b="0" l="0" r="0" t="0"/>
          <a:stretch/>
        </p:blipFill>
        <p:spPr>
          <a:xfrm>
            <a:off x="457200" y="1188720"/>
            <a:ext cx="5486400" cy="3291840"/>
          </a:xfrm>
          <a:prstGeom prst="rect">
            <a:avLst/>
          </a:prstGeom>
          <a:noFill/>
          <a:ln>
            <a:noFill/>
          </a:ln>
        </p:spPr>
      </p:pic>
      <p:sp>
        <p:nvSpPr>
          <p:cNvPr id="140" name="Google Shape;140;p19"/>
          <p:cNvSpPr/>
          <p:nvPr/>
        </p:nvSpPr>
        <p:spPr>
          <a:xfrm>
            <a:off x="6217920" y="1188720"/>
            <a:ext cx="2468880" cy="3383280"/>
          </a:xfrm>
          <a:prstGeom prst="roundRect">
            <a:avLst>
              <a:gd fmla="val 3704" name="adj"/>
            </a:avLst>
          </a:prstGeom>
          <a:solidFill>
            <a:srgbClr val="16213E"/>
          </a:solidFill>
          <a:ln cap="flat" cmpd="sng" w="12700">
            <a:solidFill>
              <a:srgbClr val="1621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19"/>
          <p:cNvSpPr txBox="1"/>
          <p:nvPr/>
        </p:nvSpPr>
        <p:spPr>
          <a:xfrm>
            <a:off x="6400800" y="1325880"/>
            <a:ext cx="2148840" cy="45720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FF8A8A"/>
              </a:buClr>
              <a:buSzPts val="2100"/>
              <a:buFont typeface="Cambria"/>
              <a:buChar char="•"/>
            </a:pPr>
            <a:r>
              <a:rPr b="1" lang="en" sz="2100">
                <a:solidFill>
                  <a:srgbClr val="FF8A8A"/>
                </a:solidFill>
                <a:latin typeface="Cambria"/>
                <a:ea typeface="Cambria"/>
                <a:cs typeface="Cambria"/>
                <a:sym typeface="Cambria"/>
              </a:rPr>
              <a:t>25.5% → 54.8%</a:t>
            </a:r>
            <a:endParaRPr sz="2100">
              <a:solidFill>
                <a:schemeClr val="dk1"/>
              </a:solidFill>
              <a:latin typeface="Calibri"/>
              <a:ea typeface="Calibri"/>
              <a:cs typeface="Calibri"/>
              <a:sym typeface="Calibri"/>
            </a:endParaRPr>
          </a:p>
        </p:txBody>
      </p:sp>
      <p:sp>
        <p:nvSpPr>
          <p:cNvPr id="142" name="Google Shape;142;p19"/>
          <p:cNvSpPr txBox="1"/>
          <p:nvPr/>
        </p:nvSpPr>
        <p:spPr>
          <a:xfrm>
            <a:off x="6574536" y="1783080"/>
            <a:ext cx="1975104"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lang="en" sz="1150">
                <a:solidFill>
                  <a:srgbClr val="FFFFFF"/>
                </a:solidFill>
                <a:latin typeface="Calibri"/>
                <a:ea typeface="Calibri"/>
                <a:cs typeface="Calibri"/>
                <a:sym typeface="Calibri"/>
              </a:rPr>
              <a:t>Transactions with identity are a quarter of the data but over half of all fraud cases.</a:t>
            </a:r>
            <a:endParaRPr sz="1150">
              <a:solidFill>
                <a:schemeClr val="dk1"/>
              </a:solidFill>
              <a:latin typeface="Calibri"/>
              <a:ea typeface="Calibri"/>
              <a:cs typeface="Calibri"/>
              <a:sym typeface="Calibri"/>
            </a:endParaRPr>
          </a:p>
        </p:txBody>
      </p:sp>
      <p:sp>
        <p:nvSpPr>
          <p:cNvPr id="143" name="Google Shape;143;p19"/>
          <p:cNvSpPr txBox="1"/>
          <p:nvPr/>
        </p:nvSpPr>
        <p:spPr>
          <a:xfrm>
            <a:off x="6400800" y="2606040"/>
            <a:ext cx="2148840" cy="457200"/>
          </a:xfrm>
          <a:prstGeom prst="rect">
            <a:avLst/>
          </a:prstGeom>
          <a:noFill/>
          <a:ln>
            <a:noFill/>
          </a:ln>
        </p:spPr>
        <p:txBody>
          <a:bodyPr anchorCtr="0" anchor="ctr" bIns="0" lIns="0" spcFirstLastPara="1" rIns="0" wrap="square" tIns="0">
            <a:noAutofit/>
          </a:bodyPr>
          <a:lstStyle/>
          <a:p>
            <a:pPr indent="-177800" lvl="0" marL="177800" marR="0" rtl="0" algn="l">
              <a:spcBef>
                <a:spcPts val="0"/>
              </a:spcBef>
              <a:spcAft>
                <a:spcPts val="0"/>
              </a:spcAft>
              <a:buClr>
                <a:srgbClr val="FF8A8A"/>
              </a:buClr>
              <a:buSzPts val="2100"/>
              <a:buFont typeface="Cambria"/>
              <a:buChar char="•"/>
            </a:pPr>
            <a:r>
              <a:rPr b="1" lang="en" sz="2100">
                <a:solidFill>
                  <a:srgbClr val="FF8A8A"/>
                </a:solidFill>
                <a:latin typeface="Cambria"/>
                <a:ea typeface="Cambria"/>
                <a:cs typeface="Cambria"/>
                <a:sym typeface="Cambria"/>
              </a:rPr>
              <a:t>1.92 of 3.51 pts</a:t>
            </a:r>
            <a:endParaRPr sz="2100">
              <a:solidFill>
                <a:schemeClr val="dk1"/>
              </a:solidFill>
              <a:latin typeface="Calibri"/>
              <a:ea typeface="Calibri"/>
              <a:cs typeface="Calibri"/>
              <a:sym typeface="Calibri"/>
            </a:endParaRPr>
          </a:p>
        </p:txBody>
      </p:sp>
      <p:sp>
        <p:nvSpPr>
          <p:cNvPr id="144" name="Google Shape;144;p19"/>
          <p:cNvSpPr txBox="1"/>
          <p:nvPr/>
        </p:nvSpPr>
        <p:spPr>
          <a:xfrm>
            <a:off x="6574536" y="3063240"/>
            <a:ext cx="1975104"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lang="en" sz="1150">
                <a:solidFill>
                  <a:srgbClr val="FFFFFF"/>
                </a:solidFill>
                <a:latin typeface="Calibri"/>
                <a:ea typeface="Calibri"/>
                <a:cs typeface="Calibri"/>
                <a:sym typeface="Calibri"/>
              </a:rPr>
              <a:t>of the overall fraud rate come from identity transactions, more than the 1.59 points from the other three quarters.</a:t>
            </a:r>
            <a:endParaRPr sz="1150">
              <a:solidFill>
                <a:schemeClr val="dk1"/>
              </a:solidFill>
              <a:latin typeface="Calibri"/>
              <a:ea typeface="Calibri"/>
              <a:cs typeface="Calibri"/>
              <a:sym typeface="Calibri"/>
            </a:endParaRPr>
          </a:p>
        </p:txBody>
      </p:sp>
      <p:sp>
        <p:nvSpPr>
          <p:cNvPr id="145" name="Google Shape;145;p19"/>
          <p:cNvSpPr txBox="1"/>
          <p:nvPr/>
        </p:nvSpPr>
        <p:spPr>
          <a:xfrm>
            <a:off x="6400800" y="3931920"/>
            <a:ext cx="2148840" cy="548640"/>
          </a:xfrm>
          <a:prstGeom prst="rect">
            <a:avLst/>
          </a:prstGeom>
          <a:noFill/>
          <a:ln>
            <a:noFill/>
          </a:ln>
        </p:spPr>
        <p:txBody>
          <a:bodyPr anchorCtr="0" anchor="t" bIns="0" lIns="0" spcFirstLastPara="1" rIns="0" wrap="square" tIns="0">
            <a:noAutofit/>
          </a:bodyPr>
          <a:lstStyle/>
          <a:p>
            <a:pPr indent="-184150" lvl="0" marL="177800" marR="0" rtl="0" algn="l">
              <a:spcBef>
                <a:spcPts val="0"/>
              </a:spcBef>
              <a:spcAft>
                <a:spcPts val="0"/>
              </a:spcAft>
              <a:buClr>
                <a:schemeClr val="lt1"/>
              </a:buClr>
              <a:buSzPts val="1150"/>
              <a:buFont typeface="Calibri"/>
              <a:buChar char="•"/>
            </a:pPr>
            <a:r>
              <a:rPr lang="en" sz="1150">
                <a:solidFill>
                  <a:schemeClr val="lt1"/>
                </a:solidFill>
                <a:latin typeface="Calibri"/>
                <a:ea typeface="Calibri"/>
                <a:cs typeface="Calibri"/>
                <a:sym typeface="Calibri"/>
              </a:rPr>
              <a:t>Their fraud rate is 7.55%, over 3× the 2.13% without identity.</a:t>
            </a:r>
            <a:endParaRPr sz="1150">
              <a:solidFill>
                <a:schemeClr val="lt1"/>
              </a:solidFill>
              <a:latin typeface="Calibri"/>
              <a:ea typeface="Calibri"/>
              <a:cs typeface="Calibri"/>
              <a:sym typeface="Calibri"/>
            </a:endParaRPr>
          </a:p>
        </p:txBody>
      </p:sp>
      <p:sp>
        <p:nvSpPr>
          <p:cNvPr id="146" name="Google Shape;146;p19"/>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147" name="Google Shape;147;p19"/>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5</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20"/>
          <p:cNvSpPr txBox="1"/>
          <p:nvPr/>
        </p:nvSpPr>
        <p:spPr>
          <a:xfrm>
            <a:off x="457200" y="257376"/>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2800"/>
              <a:buFont typeface="Cambria"/>
              <a:buNone/>
            </a:pPr>
            <a:r>
              <a:rPr b="1" lang="en" sz="2800">
                <a:solidFill>
                  <a:srgbClr val="1F2937"/>
                </a:solidFill>
                <a:latin typeface="Cambria"/>
                <a:ea typeface="Cambria"/>
                <a:cs typeface="Cambria"/>
                <a:sym typeface="Cambria"/>
              </a:rPr>
              <a:t>Transactions without identity are largely explained by Product W</a:t>
            </a:r>
            <a:endParaRPr sz="2800">
              <a:solidFill>
                <a:schemeClr val="dk1"/>
              </a:solidFill>
              <a:latin typeface="Calibri"/>
              <a:ea typeface="Calibri"/>
              <a:cs typeface="Calibri"/>
              <a:sym typeface="Calibri"/>
            </a:endParaRPr>
          </a:p>
        </p:txBody>
      </p:sp>
      <p:pic>
        <p:nvPicPr>
          <p:cNvPr descr="pca_by_product.png" id="154" name="Google Shape;154;p20"/>
          <p:cNvPicPr preferRelativeResize="0"/>
          <p:nvPr/>
        </p:nvPicPr>
        <p:blipFill rotWithShape="1">
          <a:blip r:embed="rId3">
            <a:alphaModFix/>
          </a:blip>
          <a:srcRect b="0" l="0" r="0" t="0"/>
          <a:stretch/>
        </p:blipFill>
        <p:spPr>
          <a:xfrm>
            <a:off x="457200" y="1193132"/>
            <a:ext cx="4023360" cy="3191255"/>
          </a:xfrm>
          <a:prstGeom prst="rect">
            <a:avLst/>
          </a:prstGeom>
          <a:noFill/>
          <a:ln>
            <a:noFill/>
          </a:ln>
        </p:spPr>
      </p:pic>
      <p:sp>
        <p:nvSpPr>
          <p:cNvPr id="155" name="Google Shape;155;p20"/>
          <p:cNvSpPr txBox="1"/>
          <p:nvPr/>
        </p:nvSpPr>
        <p:spPr>
          <a:xfrm>
            <a:off x="457200" y="4370832"/>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i="1" lang="en" sz="1000">
                <a:solidFill>
                  <a:srgbClr val="5B6475"/>
                </a:solidFill>
                <a:latin typeface="Calibri"/>
                <a:ea typeface="Calibri"/>
                <a:cs typeface="Calibri"/>
                <a:sym typeface="Calibri"/>
              </a:rPr>
              <a:t>PCA of the 67 missing-data indicators, colored by product</a:t>
            </a:r>
            <a:endParaRPr sz="1000">
              <a:solidFill>
                <a:schemeClr val="dk1"/>
              </a:solidFill>
              <a:latin typeface="Calibri"/>
              <a:ea typeface="Calibri"/>
              <a:cs typeface="Calibri"/>
              <a:sym typeface="Calibri"/>
            </a:endParaRPr>
          </a:p>
        </p:txBody>
      </p:sp>
      <p:graphicFrame>
        <p:nvGraphicFramePr>
          <p:cNvPr id="156" name="Google Shape;156;p20"/>
          <p:cNvGraphicFramePr/>
          <p:nvPr/>
        </p:nvGraphicFramePr>
        <p:xfrm>
          <a:off x="4754880" y="1251384"/>
          <a:ext cx="3000000" cy="3000000"/>
        </p:xfrm>
        <a:graphic>
          <a:graphicData uri="http://schemas.openxmlformats.org/drawingml/2006/table">
            <a:tbl>
              <a:tblPr>
                <a:noFill/>
                <a:tableStyleId>{7E390D40-7371-49D6-BF41-41B9B644B87E}</a:tableStyleId>
              </a:tblPr>
              <a:tblGrid>
                <a:gridCol w="640075"/>
                <a:gridCol w="1508750"/>
                <a:gridCol w="594350"/>
                <a:gridCol w="640075"/>
                <a:gridCol w="548650"/>
              </a:tblGrid>
              <a:tr h="384050">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Cluster</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What it is</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Share</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Fraud rate</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Points</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r>
              <a:tr h="384050">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1</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No identity, almost all W</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75.0%</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2.1%</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1.60</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384050">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2</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Identity, H, R, S</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14.5%</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4.4%</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7263D"/>
                        </a:buClr>
                        <a:buSzPts val="1050"/>
                        <a:buFont typeface="Calibri"/>
                        <a:buNone/>
                      </a:pPr>
                      <a:r>
                        <a:rPr b="1" lang="en" sz="1050" u="none" cap="none" strike="noStrike">
                          <a:solidFill>
                            <a:srgbClr val="D7263D"/>
                          </a:solidFill>
                          <a:latin typeface="Calibri"/>
                          <a:ea typeface="Calibri"/>
                          <a:cs typeface="Calibri"/>
                          <a:sym typeface="Calibri"/>
                        </a:rPr>
                        <a:t>0.64</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3</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Identity, product C</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050"/>
                        <a:buFont typeface="Calibri"/>
                        <a:buNone/>
                      </a:pPr>
                      <a:r>
                        <a:rPr lang="en" sz="1050" u="none" cap="none" strike="noStrike">
                          <a:solidFill>
                            <a:srgbClr val="1F2937"/>
                          </a:solidFill>
                          <a:latin typeface="Calibri"/>
                          <a:ea typeface="Calibri"/>
                          <a:cs typeface="Calibri"/>
                          <a:sym typeface="Calibri"/>
                        </a:rPr>
                        <a:t>10.5%</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D7263D"/>
                        </a:buClr>
                        <a:buSzPts val="1050"/>
                        <a:buFont typeface="Calibri"/>
                        <a:buNone/>
                      </a:pPr>
                      <a:r>
                        <a:rPr b="1" lang="en" sz="1050" u="none" cap="none" strike="noStrike">
                          <a:solidFill>
                            <a:srgbClr val="D7263D"/>
                          </a:solidFill>
                          <a:latin typeface="Calibri"/>
                          <a:ea typeface="Calibri"/>
                          <a:cs typeface="Calibri"/>
                          <a:sym typeface="Calibri"/>
                        </a:rPr>
                        <a:t>12.0%</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D7263D"/>
                        </a:buClr>
                        <a:buSzPts val="1050"/>
                        <a:buFont typeface="Calibri"/>
                        <a:buNone/>
                      </a:pPr>
                      <a:r>
                        <a:rPr b="1" lang="en" sz="1050" u="none" cap="none" strike="noStrike">
                          <a:solidFill>
                            <a:srgbClr val="D7263D"/>
                          </a:solidFill>
                          <a:latin typeface="Calibri"/>
                          <a:ea typeface="Calibri"/>
                          <a:cs typeface="Calibri"/>
                          <a:sym typeface="Calibri"/>
                        </a:rPr>
                        <a:t>1.27</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384050">
                <a:tc>
                  <a:txBody>
                    <a:bodyPr/>
                    <a:lstStyle/>
                    <a:p>
                      <a:pPr indent="0" lvl="0" marL="0" marR="0" rtl="0" algn="l">
                        <a:spcBef>
                          <a:spcPts val="0"/>
                        </a:spcBef>
                        <a:spcAft>
                          <a:spcPts val="0"/>
                        </a:spcAft>
                        <a:buClr>
                          <a:srgbClr val="1F2937"/>
                        </a:buClr>
                        <a:buSzPts val="1050"/>
                        <a:buFont typeface="Calibri"/>
                        <a:buNone/>
                      </a:pPr>
                      <a:r>
                        <a:rPr b="1" lang="en" sz="1050" u="none" cap="none" strike="noStrike">
                          <a:solidFill>
                            <a:srgbClr val="1F2937"/>
                          </a:solidFill>
                          <a:latin typeface="Calibri"/>
                          <a:ea typeface="Calibri"/>
                          <a:cs typeface="Calibri"/>
                          <a:sym typeface="Calibri"/>
                        </a:rPr>
                        <a:t>Total</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chemeClr val="dk1"/>
                        </a:buClr>
                        <a:buSzPts val="1050"/>
                        <a:buFont typeface="Calibri"/>
                        <a:buNone/>
                      </a:pPr>
                      <a:r>
                        <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rgbClr val="1F2937"/>
                        </a:buClr>
                        <a:buSzPts val="1050"/>
                        <a:buFont typeface="Calibri"/>
                        <a:buNone/>
                      </a:pPr>
                      <a:r>
                        <a:rPr b="1" lang="en" sz="1050" u="none" cap="none" strike="noStrike">
                          <a:solidFill>
                            <a:srgbClr val="1F2937"/>
                          </a:solidFill>
                          <a:latin typeface="Calibri"/>
                          <a:ea typeface="Calibri"/>
                          <a:cs typeface="Calibri"/>
                          <a:sym typeface="Calibri"/>
                        </a:rPr>
                        <a:t>100%</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chemeClr val="dk1"/>
                        </a:buClr>
                        <a:buSzPts val="1050"/>
                        <a:buFont typeface="Calibri"/>
                        <a:buNone/>
                      </a:pPr>
                      <a:r>
                        <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rgbClr val="1F2937"/>
                        </a:buClr>
                        <a:buSzPts val="1050"/>
                        <a:buFont typeface="Calibri"/>
                        <a:buNone/>
                      </a:pPr>
                      <a:r>
                        <a:rPr b="1" lang="en" sz="1050" u="none" cap="none" strike="noStrike">
                          <a:solidFill>
                            <a:srgbClr val="1F2937"/>
                          </a:solidFill>
                          <a:latin typeface="Calibri"/>
                          <a:ea typeface="Calibri"/>
                          <a:cs typeface="Calibri"/>
                          <a:sym typeface="Calibri"/>
                        </a:rPr>
                        <a:t>3.51</a:t>
                      </a:r>
                      <a:endParaRPr sz="1050" u="none" cap="none" strike="noStrike">
                        <a:latin typeface="Calibri"/>
                        <a:ea typeface="Calibri"/>
                        <a:cs typeface="Calibri"/>
                        <a:sym typeface="Calibri"/>
                      </a:endParaRPr>
                    </a:p>
                  </a:txBody>
                  <a:tcPr marT="27425" marB="27425" marR="73150" marL="731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r>
            </a:tbl>
          </a:graphicData>
        </a:graphic>
      </p:graphicFrame>
      <p:sp>
        <p:nvSpPr>
          <p:cNvPr id="157" name="Google Shape;157;p20"/>
          <p:cNvSpPr/>
          <p:nvPr/>
        </p:nvSpPr>
        <p:spPr>
          <a:xfrm>
            <a:off x="4754880" y="3354504"/>
            <a:ext cx="3931800" cy="1234500"/>
          </a:xfrm>
          <a:prstGeom prst="roundRect">
            <a:avLst>
              <a:gd fmla="val 5926"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20"/>
          <p:cNvSpPr txBox="1"/>
          <p:nvPr/>
        </p:nvSpPr>
        <p:spPr>
          <a:xfrm>
            <a:off x="4937760" y="3400224"/>
            <a:ext cx="36120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1" lang="en" sz="1100">
                <a:solidFill>
                  <a:srgbClr val="1F2937"/>
                </a:solidFill>
                <a:latin typeface="Calibri"/>
                <a:ea typeface="Calibri"/>
                <a:cs typeface="Calibri"/>
                <a:sym typeface="Calibri"/>
              </a:rPr>
              <a:t>Never told identity or product, </a:t>
            </a:r>
            <a:r>
              <a:rPr lang="en" sz="1100">
                <a:solidFill>
                  <a:srgbClr val="5B6475"/>
                </a:solidFill>
                <a:latin typeface="Calibri"/>
                <a:ea typeface="Calibri"/>
                <a:cs typeface="Calibri"/>
                <a:sym typeface="Calibri"/>
              </a:rPr>
              <a:t>the clustering still separated them. Its two identity clusters hold about 25% of transactions and 1.91 of 3.51 points, matching the identity split on the previous slide.</a:t>
            </a:r>
            <a:endParaRPr sz="1100">
              <a:solidFill>
                <a:schemeClr val="dk1"/>
              </a:solidFill>
              <a:latin typeface="Calibri"/>
              <a:ea typeface="Calibri"/>
              <a:cs typeface="Calibri"/>
              <a:sym typeface="Calibri"/>
            </a:endParaRPr>
          </a:p>
        </p:txBody>
      </p:sp>
      <p:sp>
        <p:nvSpPr>
          <p:cNvPr id="159" name="Google Shape;159;p20"/>
          <p:cNvSpPr txBox="1"/>
          <p:nvPr/>
        </p:nvSpPr>
        <p:spPr>
          <a:xfrm>
            <a:off x="457200" y="4817544"/>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160" name="Google Shape;160;p20"/>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6</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21"/>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2800"/>
              <a:buFont typeface="Cambria"/>
              <a:buNone/>
            </a:pPr>
            <a:r>
              <a:rPr b="1" lang="en" sz="2800">
                <a:solidFill>
                  <a:srgbClr val="1F2937"/>
                </a:solidFill>
                <a:latin typeface="Cambria"/>
                <a:ea typeface="Cambria"/>
                <a:cs typeface="Cambria"/>
                <a:sym typeface="Cambria"/>
              </a:rPr>
              <a:t>Small payments look risky due to product mix</a:t>
            </a:r>
            <a:endParaRPr sz="2800">
              <a:solidFill>
                <a:schemeClr val="dk1"/>
              </a:solidFill>
              <a:latin typeface="Calibri"/>
              <a:ea typeface="Calibri"/>
              <a:cs typeface="Calibri"/>
              <a:sym typeface="Calibri"/>
            </a:endParaRPr>
          </a:p>
        </p:txBody>
      </p:sp>
      <p:graphicFrame>
        <p:nvGraphicFramePr>
          <p:cNvPr id="167" name="Google Shape;167;p21"/>
          <p:cNvGraphicFramePr/>
          <p:nvPr/>
        </p:nvGraphicFramePr>
        <p:xfrm>
          <a:off x="457200" y="1234440"/>
          <a:ext cx="3000000" cy="3000000"/>
        </p:xfrm>
        <a:graphic>
          <a:graphicData uri="http://schemas.openxmlformats.org/drawingml/2006/table">
            <a:tbl>
              <a:tblPr>
                <a:noFill/>
                <a:tableStyleId>{7E390D40-7371-49D6-BF41-41B9B644B87E}</a:tableStyleId>
              </a:tblPr>
              <a:tblGrid>
                <a:gridCol w="1280150"/>
                <a:gridCol w="1417325"/>
                <a:gridCol w="1280150"/>
                <a:gridCol w="1143000"/>
                <a:gridCol w="1554475"/>
                <a:gridCol w="1554475"/>
              </a:tblGrid>
              <a:tr h="365750">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Amount</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Share of transactions</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Share of fraud</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Fraud rate</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Share that's C</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Share that's W</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r>
              <a:tr h="36575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Up to $10</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1.3%</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2.6%</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D7263D"/>
                        </a:buClr>
                        <a:buSzPts val="1200"/>
                        <a:buFont typeface="Calibri"/>
                        <a:buNone/>
                      </a:pPr>
                      <a:r>
                        <a:rPr b="1" lang="en" sz="1200" u="none" cap="none" strike="noStrike">
                          <a:solidFill>
                            <a:srgbClr val="D7263D"/>
                          </a:solidFill>
                          <a:latin typeface="Calibri"/>
                          <a:ea typeface="Calibri"/>
                          <a:cs typeface="Calibri"/>
                          <a:sym typeface="Calibri"/>
                        </a:rPr>
                        <a:t>7.16%</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D7263D"/>
                        </a:buClr>
                        <a:buSzPts val="1200"/>
                        <a:buFont typeface="Calibri"/>
                        <a:buNone/>
                      </a:pPr>
                      <a:r>
                        <a:rPr b="1" lang="en" sz="1200" u="none" cap="none" strike="noStrike">
                          <a:solidFill>
                            <a:srgbClr val="D7263D"/>
                          </a:solidFill>
                          <a:latin typeface="Calibri"/>
                          <a:ea typeface="Calibri"/>
                          <a:cs typeface="Calibri"/>
                          <a:sym typeface="Calibri"/>
                        </a:rPr>
                        <a:t>78%</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5%</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36575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$10 to 30</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13.1%</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17.8%</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4.77%</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35%</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47%</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$30 to 100</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48.3%</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40.4%</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D7263D"/>
                        </a:buClr>
                        <a:buSzPts val="1200"/>
                        <a:buFont typeface="Calibri"/>
                        <a:buNone/>
                      </a:pPr>
                      <a:r>
                        <a:rPr b="1" lang="en" sz="1200" u="none" cap="none" strike="noStrike">
                          <a:solidFill>
                            <a:srgbClr val="D7263D"/>
                          </a:solidFill>
                          <a:latin typeface="Calibri"/>
                          <a:ea typeface="Calibri"/>
                          <a:cs typeface="Calibri"/>
                          <a:sym typeface="Calibri"/>
                        </a:rPr>
                        <a:t>2.94%</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11%</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D7263D"/>
                        </a:buClr>
                        <a:buSzPts val="1200"/>
                        <a:buFont typeface="Calibri"/>
                        <a:buNone/>
                      </a:pPr>
                      <a:r>
                        <a:rPr b="1" lang="en" sz="1200" u="none" cap="none" strike="noStrike">
                          <a:solidFill>
                            <a:srgbClr val="D7263D"/>
                          </a:solidFill>
                          <a:latin typeface="Calibri"/>
                          <a:ea typeface="Calibri"/>
                          <a:cs typeface="Calibri"/>
                          <a:sym typeface="Calibri"/>
                        </a:rPr>
                        <a:t>73%</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36575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$100 to 500</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33.5%</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34.5%</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3.63%</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3%</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84%</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Over $500</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3.8%</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4.7%</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4.29%</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0%</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200"/>
                        <a:buFont typeface="Calibri"/>
                        <a:buNone/>
                      </a:pPr>
                      <a:r>
                        <a:rPr lang="en" sz="1200" u="none" cap="none" strike="noStrike">
                          <a:solidFill>
                            <a:srgbClr val="1F2937"/>
                          </a:solidFill>
                          <a:latin typeface="Calibri"/>
                          <a:ea typeface="Calibri"/>
                          <a:cs typeface="Calibri"/>
                          <a:sym typeface="Calibri"/>
                        </a:rPr>
                        <a:t>95%</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365750">
                <a:tc>
                  <a:txBody>
                    <a:bodyPr/>
                    <a:lstStyle/>
                    <a:p>
                      <a:pPr indent="0" lvl="0" marL="0" marR="0" rtl="0" algn="l">
                        <a:spcBef>
                          <a:spcPts val="0"/>
                        </a:spcBef>
                        <a:spcAft>
                          <a:spcPts val="0"/>
                        </a:spcAft>
                        <a:buClr>
                          <a:srgbClr val="1F2937"/>
                        </a:buClr>
                        <a:buSzPts val="1200"/>
                        <a:buFont typeface="Calibri"/>
                        <a:buNone/>
                      </a:pPr>
                      <a:r>
                        <a:rPr b="1" lang="en" sz="1200" u="none" cap="none" strike="noStrike">
                          <a:solidFill>
                            <a:srgbClr val="1F2937"/>
                          </a:solidFill>
                          <a:latin typeface="Calibri"/>
                          <a:ea typeface="Calibri"/>
                          <a:cs typeface="Calibri"/>
                          <a:sym typeface="Calibri"/>
                        </a:rPr>
                        <a:t>Total</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rgbClr val="1F2937"/>
                        </a:buClr>
                        <a:buSzPts val="1200"/>
                        <a:buFont typeface="Calibri"/>
                        <a:buNone/>
                      </a:pPr>
                      <a:r>
                        <a:rPr b="1" lang="en" sz="1200" u="none" cap="none" strike="noStrike">
                          <a:solidFill>
                            <a:srgbClr val="1F2937"/>
                          </a:solidFill>
                          <a:latin typeface="Calibri"/>
                          <a:ea typeface="Calibri"/>
                          <a:cs typeface="Calibri"/>
                          <a:sym typeface="Calibri"/>
                        </a:rPr>
                        <a:t>100%</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rgbClr val="1F2937"/>
                        </a:buClr>
                        <a:buSzPts val="1200"/>
                        <a:buFont typeface="Calibri"/>
                        <a:buNone/>
                      </a:pPr>
                      <a:r>
                        <a:rPr b="1" lang="en" sz="1200" u="none" cap="none" strike="noStrike">
                          <a:solidFill>
                            <a:srgbClr val="1F2937"/>
                          </a:solidFill>
                          <a:latin typeface="Calibri"/>
                          <a:ea typeface="Calibri"/>
                          <a:cs typeface="Calibri"/>
                          <a:sym typeface="Calibri"/>
                        </a:rPr>
                        <a:t>100%</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r>
            </a:tbl>
          </a:graphicData>
        </a:graphic>
      </p:graphicFrame>
      <p:sp>
        <p:nvSpPr>
          <p:cNvPr id="168" name="Google Shape;168;p21"/>
          <p:cNvSpPr txBox="1"/>
          <p:nvPr/>
        </p:nvSpPr>
        <p:spPr>
          <a:xfrm>
            <a:off x="457200" y="3931920"/>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300"/>
              <a:buFont typeface="Calibri"/>
              <a:buNone/>
            </a:pPr>
            <a:r>
              <a:rPr i="1" lang="en" sz="1300">
                <a:solidFill>
                  <a:srgbClr val="1F2937"/>
                </a:solidFill>
                <a:latin typeface="Calibri"/>
                <a:ea typeface="Calibri"/>
                <a:cs typeface="Calibri"/>
                <a:sym typeface="Calibri"/>
              </a:rPr>
              <a:t>Within every product, fraud rises with amount (product C: 8.0% up to $10, 14.6% at $100 to 500). The overall pattern reverses because of product mix, a case of Simpson's paradox.</a:t>
            </a:r>
            <a:endParaRPr sz="1300">
              <a:solidFill>
                <a:schemeClr val="dk1"/>
              </a:solidFill>
              <a:latin typeface="Calibri"/>
              <a:ea typeface="Calibri"/>
              <a:cs typeface="Calibri"/>
              <a:sym typeface="Calibri"/>
            </a:endParaRPr>
          </a:p>
        </p:txBody>
      </p:sp>
      <p:sp>
        <p:nvSpPr>
          <p:cNvPr id="169" name="Google Shape;169;p21"/>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170" name="Google Shape;170;p21"/>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7</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22"/>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2800"/>
              <a:buFont typeface="Cambria"/>
              <a:buNone/>
            </a:pPr>
            <a:r>
              <a:rPr b="1" lang="en" sz="2800">
                <a:solidFill>
                  <a:srgbClr val="1F2937"/>
                </a:solidFill>
                <a:latin typeface="Cambria"/>
                <a:ea typeface="Cambria"/>
                <a:cs typeface="Cambria"/>
                <a:sym typeface="Cambria"/>
              </a:rPr>
              <a:t>Credit cards are riskier where most fraud happens</a:t>
            </a:r>
            <a:endParaRPr sz="2800">
              <a:solidFill>
                <a:schemeClr val="dk1"/>
              </a:solidFill>
              <a:latin typeface="Calibri"/>
              <a:ea typeface="Calibri"/>
              <a:cs typeface="Calibri"/>
              <a:sym typeface="Calibri"/>
            </a:endParaRPr>
          </a:p>
        </p:txBody>
      </p:sp>
      <p:graphicFrame>
        <p:nvGraphicFramePr>
          <p:cNvPr id="177" name="Google Shape;177;p22"/>
          <p:cNvGraphicFramePr/>
          <p:nvPr/>
        </p:nvGraphicFramePr>
        <p:xfrm>
          <a:off x="457200" y="1234440"/>
          <a:ext cx="3000000" cy="3000000"/>
        </p:xfrm>
        <a:graphic>
          <a:graphicData uri="http://schemas.openxmlformats.org/drawingml/2006/table">
            <a:tbl>
              <a:tblPr>
                <a:noFill/>
                <a:tableStyleId>{7E390D40-7371-49D6-BF41-41B9B644B87E}</a:tableStyleId>
              </a:tblPr>
              <a:tblGrid>
                <a:gridCol w="1005850"/>
                <a:gridCol w="1325875"/>
                <a:gridCol w="1325875"/>
                <a:gridCol w="1280150"/>
              </a:tblGrid>
              <a:tr h="457200">
                <a:tc>
                  <a:txBody>
                    <a:bodyPr/>
                    <a:lstStyle/>
                    <a:p>
                      <a:pPr indent="0" lvl="0" marL="0" marR="0" rtl="0" algn="l">
                        <a:spcBef>
                          <a:spcPts val="0"/>
                        </a:spcBef>
                        <a:spcAft>
                          <a:spcPts val="0"/>
                        </a:spcAft>
                        <a:buClr>
                          <a:srgbClr val="FFFFFF"/>
                        </a:buClr>
                        <a:buSzPts val="1300"/>
                        <a:buFont typeface="Calibri"/>
                        <a:buNone/>
                      </a:pPr>
                      <a:r>
                        <a:rPr b="1" lang="en" sz="1300" u="none" cap="none" strike="noStrike">
                          <a:solidFill>
                            <a:srgbClr val="FFFFFF"/>
                          </a:solidFill>
                          <a:latin typeface="Calibri"/>
                          <a:ea typeface="Calibri"/>
                          <a:cs typeface="Calibri"/>
                          <a:sym typeface="Calibri"/>
                        </a:rPr>
                        <a:t>Product</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300"/>
                        <a:buFont typeface="Calibri"/>
                        <a:buNone/>
                      </a:pPr>
                      <a:r>
                        <a:rPr b="1" lang="en" sz="1300" u="none" cap="none" strike="noStrike">
                          <a:solidFill>
                            <a:srgbClr val="FFFFFF"/>
                          </a:solidFill>
                          <a:latin typeface="Calibri"/>
                          <a:ea typeface="Calibri"/>
                          <a:cs typeface="Calibri"/>
                          <a:sym typeface="Calibri"/>
                        </a:rPr>
                        <a:t>Credit fraud</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300"/>
                        <a:buFont typeface="Calibri"/>
                        <a:buNone/>
                      </a:pPr>
                      <a:r>
                        <a:rPr b="1" lang="en" sz="1300" u="none" cap="none" strike="noStrike">
                          <a:solidFill>
                            <a:srgbClr val="FFFFFF"/>
                          </a:solidFill>
                          <a:latin typeface="Calibri"/>
                          <a:ea typeface="Calibri"/>
                          <a:cs typeface="Calibri"/>
                          <a:sym typeface="Calibri"/>
                        </a:rPr>
                        <a:t>Debit fraud</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300"/>
                        <a:buFont typeface="Calibri"/>
                        <a:buNone/>
                      </a:pPr>
                      <a:r>
                        <a:rPr b="1" lang="en" sz="1300" u="none" cap="none" strike="noStrike">
                          <a:solidFill>
                            <a:srgbClr val="FFFFFF"/>
                          </a:solidFill>
                          <a:latin typeface="Calibri"/>
                          <a:ea typeface="Calibri"/>
                          <a:cs typeface="Calibri"/>
                          <a:sym typeface="Calibri"/>
                        </a:rPr>
                        <a:t>Credit / debit</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r>
              <a:tr h="457200">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W</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4.44%</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1.61%</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D7263D"/>
                        </a:buClr>
                        <a:buSzPts val="1300"/>
                        <a:buFont typeface="Calibri"/>
                        <a:buNone/>
                      </a:pPr>
                      <a:r>
                        <a:rPr b="1" lang="en" sz="1300" u="none" cap="none" strike="noStrike">
                          <a:solidFill>
                            <a:srgbClr val="D7263D"/>
                          </a:solidFill>
                          <a:latin typeface="Calibri"/>
                          <a:ea typeface="Calibri"/>
                          <a:cs typeface="Calibri"/>
                          <a:sym typeface="Calibri"/>
                        </a:rPr>
                        <a:t>2.76×</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457200">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C</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16.51%</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7.76%</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7263D"/>
                        </a:buClr>
                        <a:buSzPts val="1300"/>
                        <a:buFont typeface="Calibri"/>
                        <a:buNone/>
                      </a:pPr>
                      <a:r>
                        <a:rPr b="1" lang="en" sz="1300" u="none" cap="none" strike="noStrike">
                          <a:solidFill>
                            <a:srgbClr val="D7263D"/>
                          </a:solidFill>
                          <a:latin typeface="Calibri"/>
                          <a:ea typeface="Calibri"/>
                          <a:cs typeface="Calibri"/>
                          <a:sym typeface="Calibri"/>
                        </a:rPr>
                        <a:t>2.13×</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R</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3.82%</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3.18%</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1.20×</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457200">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H</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4.95%</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4.27%</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1.16×</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S</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6.00%</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6.39%</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300"/>
                        <a:buFont typeface="Calibri"/>
                        <a:buNone/>
                      </a:pPr>
                      <a:r>
                        <a:rPr lang="en" sz="1300" u="none" cap="none" strike="noStrike">
                          <a:solidFill>
                            <a:srgbClr val="1F2937"/>
                          </a:solidFill>
                          <a:latin typeface="Calibri"/>
                          <a:ea typeface="Calibri"/>
                          <a:cs typeface="Calibri"/>
                          <a:sym typeface="Calibri"/>
                        </a:rPr>
                        <a:t>0.94×</a:t>
                      </a:r>
                      <a:endParaRPr sz="1300" u="none" cap="none" strike="noStrike">
                        <a:latin typeface="Calibri"/>
                        <a:ea typeface="Calibri"/>
                        <a:cs typeface="Calibri"/>
                        <a:sym typeface="Calibri"/>
                      </a:endParaRPr>
                    </a:p>
                  </a:txBody>
                  <a:tcPr marT="36575" marB="36575" marR="109725" marL="109725"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bl>
          </a:graphicData>
        </a:graphic>
      </p:graphicFrame>
      <p:sp>
        <p:nvSpPr>
          <p:cNvPr id="178" name="Google Shape;178;p22"/>
          <p:cNvSpPr/>
          <p:nvPr/>
        </p:nvSpPr>
        <p:spPr>
          <a:xfrm>
            <a:off x="5760720" y="1234440"/>
            <a:ext cx="2926080" cy="2743200"/>
          </a:xfrm>
          <a:prstGeom prst="roundRect">
            <a:avLst>
              <a:gd fmla="val 3333" name="adj"/>
            </a:avLst>
          </a:prstGeom>
          <a:solidFill>
            <a:srgbClr val="16213E"/>
          </a:solidFill>
          <a:ln cap="flat" cmpd="sng" w="12700">
            <a:solidFill>
              <a:srgbClr val="1621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22"/>
          <p:cNvSpPr txBox="1"/>
          <p:nvPr/>
        </p:nvSpPr>
        <p:spPr>
          <a:xfrm>
            <a:off x="5989320" y="1463040"/>
            <a:ext cx="25603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A8A"/>
              </a:buClr>
              <a:buSzPts val="3000"/>
              <a:buFont typeface="Cambria"/>
              <a:buNone/>
            </a:pPr>
            <a:r>
              <a:rPr b="1" lang="en" sz="3000">
                <a:solidFill>
                  <a:srgbClr val="FF8A8A"/>
                </a:solidFill>
                <a:latin typeface="Cambria"/>
                <a:ea typeface="Cambria"/>
                <a:cs typeface="Cambria"/>
                <a:sym typeface="Cambria"/>
              </a:rPr>
              <a:t>2.1–2.8×</a:t>
            </a:r>
            <a:endParaRPr sz="3000">
              <a:solidFill>
                <a:schemeClr val="dk1"/>
              </a:solidFill>
              <a:latin typeface="Calibri"/>
              <a:ea typeface="Calibri"/>
              <a:cs typeface="Calibri"/>
              <a:sym typeface="Calibri"/>
            </a:endParaRPr>
          </a:p>
        </p:txBody>
      </p:sp>
      <p:sp>
        <p:nvSpPr>
          <p:cNvPr id="180" name="Google Shape;180;p22"/>
          <p:cNvSpPr txBox="1"/>
          <p:nvPr/>
        </p:nvSpPr>
        <p:spPr>
          <a:xfrm>
            <a:off x="5989320" y="2148840"/>
            <a:ext cx="2514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 sz="1300">
                <a:solidFill>
                  <a:srgbClr val="FFFFFF"/>
                </a:solidFill>
                <a:latin typeface="Calibri"/>
                <a:ea typeface="Calibri"/>
                <a:cs typeface="Calibri"/>
                <a:sym typeface="Calibri"/>
              </a:rPr>
              <a:t>Credit vs debit fraud in products W and C, which together hold 82% of all fraud.</a:t>
            </a:r>
            <a:endParaRPr sz="1300">
              <a:solidFill>
                <a:schemeClr val="dk1"/>
              </a:solidFill>
              <a:latin typeface="Calibri"/>
              <a:ea typeface="Calibri"/>
              <a:cs typeface="Calibri"/>
              <a:sym typeface="Calibri"/>
            </a:endParaRPr>
          </a:p>
        </p:txBody>
      </p:sp>
      <p:sp>
        <p:nvSpPr>
          <p:cNvPr id="181" name="Google Shape;181;p22"/>
          <p:cNvSpPr txBox="1"/>
          <p:nvPr/>
        </p:nvSpPr>
        <p:spPr>
          <a:xfrm>
            <a:off x="5989320" y="3154680"/>
            <a:ext cx="2514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1E0"/>
              </a:buClr>
              <a:buSzPts val="1200"/>
              <a:buFont typeface="Calibri"/>
              <a:buNone/>
            </a:pPr>
            <a:r>
              <a:rPr i="1" lang="en" sz="1200">
                <a:solidFill>
                  <a:srgbClr val="C9D1E0"/>
                </a:solidFill>
                <a:latin typeface="Calibri"/>
                <a:ea typeface="Calibri"/>
                <a:cs typeface="Calibri"/>
                <a:sym typeface="Calibri"/>
              </a:rPr>
              <a:t>In H, R and S the gap nearly disappears.</a:t>
            </a:r>
            <a:endParaRPr sz="1200">
              <a:solidFill>
                <a:schemeClr val="dk1"/>
              </a:solidFill>
              <a:latin typeface="Calibri"/>
              <a:ea typeface="Calibri"/>
              <a:cs typeface="Calibri"/>
              <a:sym typeface="Calibri"/>
            </a:endParaRPr>
          </a:p>
        </p:txBody>
      </p:sp>
      <p:sp>
        <p:nvSpPr>
          <p:cNvPr id="182" name="Google Shape;182;p22"/>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183" name="Google Shape;183;p22"/>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8</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23"/>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2800"/>
              <a:buFont typeface="Cambria"/>
              <a:buNone/>
            </a:pPr>
            <a:r>
              <a:rPr b="1" lang="en" sz="2800">
                <a:solidFill>
                  <a:srgbClr val="1F2937"/>
                </a:solidFill>
                <a:latin typeface="Cambria"/>
                <a:ea typeface="Cambria"/>
                <a:cs typeface="Cambria"/>
                <a:sym typeface="Cambria"/>
              </a:rPr>
              <a:t>Missing addresses: 11% of data, 37% of fraud</a:t>
            </a:r>
            <a:endParaRPr sz="2800">
              <a:solidFill>
                <a:schemeClr val="dk1"/>
              </a:solidFill>
              <a:latin typeface="Calibri"/>
              <a:ea typeface="Calibri"/>
              <a:cs typeface="Calibri"/>
              <a:sym typeface="Calibri"/>
            </a:endParaRPr>
          </a:p>
        </p:txBody>
      </p:sp>
      <p:graphicFrame>
        <p:nvGraphicFramePr>
          <p:cNvPr id="190" name="Google Shape;190;p23"/>
          <p:cNvGraphicFramePr/>
          <p:nvPr/>
        </p:nvGraphicFramePr>
        <p:xfrm>
          <a:off x="457200" y="1234440"/>
          <a:ext cx="3000000" cy="3000000"/>
        </p:xfrm>
        <a:graphic>
          <a:graphicData uri="http://schemas.openxmlformats.org/drawingml/2006/table">
            <a:tbl>
              <a:tblPr>
                <a:noFill/>
                <a:tableStyleId>{7E390D40-7371-49D6-BF41-41B9B644B87E}</a:tableStyleId>
              </a:tblPr>
              <a:tblGrid>
                <a:gridCol w="1645925"/>
                <a:gridCol w="1051550"/>
                <a:gridCol w="868675"/>
                <a:gridCol w="914400"/>
                <a:gridCol w="1005850"/>
              </a:tblGrid>
              <a:tr h="502925">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Account type</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Share of transactions</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Fraud rate</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Fraud cases</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Share of all fraud</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r>
              <a:tr h="502925">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Repeat account</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67.7%</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2.71%</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8,677</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52.3%</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502925">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Address missing</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11.4%</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7263D"/>
                        </a:buClr>
                        <a:buSzPts val="1150"/>
                        <a:buFont typeface="Calibri"/>
                        <a:buNone/>
                      </a:pPr>
                      <a:r>
                        <a:rPr b="1" lang="en" sz="1150" u="none" cap="none" strike="noStrike">
                          <a:solidFill>
                            <a:srgbClr val="D7263D"/>
                          </a:solidFill>
                          <a:latin typeface="Calibri"/>
                          <a:ea typeface="Calibri"/>
                          <a:cs typeface="Calibri"/>
                          <a:sym typeface="Calibri"/>
                        </a:rPr>
                        <a:t>11.40%</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6,128</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7263D"/>
                        </a:buClr>
                        <a:buSzPts val="1150"/>
                        <a:buFont typeface="Calibri"/>
                        <a:buNone/>
                      </a:pPr>
                      <a:r>
                        <a:rPr b="1" lang="en" sz="1150" u="none" cap="none" strike="noStrike">
                          <a:solidFill>
                            <a:srgbClr val="D7263D"/>
                          </a:solidFill>
                          <a:latin typeface="Calibri"/>
                          <a:ea typeface="Calibri"/>
                          <a:cs typeface="Calibri"/>
                          <a:sym typeface="Calibri"/>
                        </a:rPr>
                        <a:t>36.9%</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One-transaction account</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20.9%</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1.81%</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1,794</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10.8%</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502925">
                <a:tc>
                  <a:txBody>
                    <a:bodyPr/>
                    <a:lstStyle/>
                    <a:p>
                      <a:pPr indent="0" lvl="0" marL="0" marR="0" rtl="0" algn="l">
                        <a:spcBef>
                          <a:spcPts val="0"/>
                        </a:spcBef>
                        <a:spcAft>
                          <a:spcPts val="0"/>
                        </a:spcAft>
                        <a:buClr>
                          <a:srgbClr val="1F2937"/>
                        </a:buClr>
                        <a:buSzPts val="1150"/>
                        <a:buFont typeface="Calibri"/>
                        <a:buNone/>
                      </a:pPr>
                      <a:r>
                        <a:rPr b="1" lang="en" sz="1150" u="none" cap="none" strike="noStrike">
                          <a:solidFill>
                            <a:srgbClr val="1F2937"/>
                          </a:solidFill>
                          <a:latin typeface="Calibri"/>
                          <a:ea typeface="Calibri"/>
                          <a:cs typeface="Calibri"/>
                          <a:sym typeface="Calibri"/>
                        </a:rPr>
                        <a:t>Total</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rgbClr val="1F2937"/>
                        </a:buClr>
                        <a:buSzPts val="1150"/>
                        <a:buFont typeface="Calibri"/>
                        <a:buNone/>
                      </a:pPr>
                      <a:r>
                        <a:rPr b="1" lang="en" sz="1150" u="none" cap="none" strike="noStrike">
                          <a:solidFill>
                            <a:srgbClr val="1F2937"/>
                          </a:solidFill>
                          <a:latin typeface="Calibri"/>
                          <a:ea typeface="Calibri"/>
                          <a:cs typeface="Calibri"/>
                          <a:sym typeface="Calibri"/>
                        </a:rPr>
                        <a:t>100%</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chemeClr val="dk1"/>
                        </a:buClr>
                        <a:buSzPts val="1150"/>
                        <a:buFont typeface="Calibri"/>
                        <a:buNone/>
                      </a:pPr>
                      <a:r>
                        <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rgbClr val="1F2937"/>
                        </a:buClr>
                        <a:buSzPts val="1150"/>
                        <a:buFont typeface="Calibri"/>
                        <a:buNone/>
                      </a:pPr>
                      <a:r>
                        <a:rPr b="1" lang="en" sz="1150" u="none" cap="none" strike="noStrike">
                          <a:solidFill>
                            <a:srgbClr val="1F2937"/>
                          </a:solidFill>
                          <a:latin typeface="Calibri"/>
                          <a:ea typeface="Calibri"/>
                          <a:cs typeface="Calibri"/>
                          <a:sym typeface="Calibri"/>
                        </a:rPr>
                        <a:t>16,599</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c>
                  <a:txBody>
                    <a:bodyPr/>
                    <a:lstStyle/>
                    <a:p>
                      <a:pPr indent="0" lvl="0" marL="0" marR="0" rtl="0" algn="l">
                        <a:spcBef>
                          <a:spcPts val="0"/>
                        </a:spcBef>
                        <a:spcAft>
                          <a:spcPts val="0"/>
                        </a:spcAft>
                        <a:buClr>
                          <a:srgbClr val="1F2937"/>
                        </a:buClr>
                        <a:buSzPts val="1150"/>
                        <a:buFont typeface="Calibri"/>
                        <a:buNone/>
                      </a:pPr>
                      <a:r>
                        <a:rPr b="1" lang="en" sz="1150" u="none" cap="none" strike="noStrike">
                          <a:solidFill>
                            <a:srgbClr val="1F2937"/>
                          </a:solidFill>
                          <a:latin typeface="Calibri"/>
                          <a:ea typeface="Calibri"/>
                          <a:cs typeface="Calibri"/>
                          <a:sym typeface="Calibri"/>
                        </a:rPr>
                        <a:t>100%</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E4E8F0"/>
                    </a:solidFill>
                  </a:tcPr>
                </a:tc>
              </a:tr>
            </a:tbl>
          </a:graphicData>
        </a:graphic>
      </p:graphicFrame>
      <p:sp>
        <p:nvSpPr>
          <p:cNvPr id="191" name="Google Shape;191;p23"/>
          <p:cNvSpPr/>
          <p:nvPr/>
        </p:nvSpPr>
        <p:spPr>
          <a:xfrm>
            <a:off x="6217920" y="1234440"/>
            <a:ext cx="2468880" cy="2743200"/>
          </a:xfrm>
          <a:prstGeom prst="roundRect">
            <a:avLst>
              <a:gd fmla="val 3704" name="adj"/>
            </a:avLst>
          </a:prstGeom>
          <a:solidFill>
            <a:srgbClr val="16213E"/>
          </a:solidFill>
          <a:ln cap="flat" cmpd="sng" w="12700">
            <a:solidFill>
              <a:srgbClr val="1621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23"/>
          <p:cNvSpPr txBox="1"/>
          <p:nvPr/>
        </p:nvSpPr>
        <p:spPr>
          <a:xfrm>
            <a:off x="6400800" y="1417320"/>
            <a:ext cx="2148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A8A"/>
              </a:buClr>
              <a:buSzPts val="2400"/>
              <a:buFont typeface="Cambria"/>
              <a:buNone/>
            </a:pPr>
            <a:r>
              <a:rPr b="1" lang="en" sz="2400">
                <a:solidFill>
                  <a:srgbClr val="FF8A8A"/>
                </a:solidFill>
                <a:latin typeface="Cambria"/>
                <a:ea typeface="Cambria"/>
                <a:cs typeface="Cambria"/>
                <a:sym typeface="Cambria"/>
              </a:rPr>
              <a:t>89% of 52%</a:t>
            </a:r>
            <a:endParaRPr sz="2400">
              <a:solidFill>
                <a:schemeClr val="dk1"/>
              </a:solidFill>
              <a:latin typeface="Calibri"/>
              <a:ea typeface="Calibri"/>
              <a:cs typeface="Calibri"/>
              <a:sym typeface="Calibri"/>
            </a:endParaRPr>
          </a:p>
        </p:txBody>
      </p:sp>
      <p:sp>
        <p:nvSpPr>
          <p:cNvPr id="193" name="Google Shape;193;p23"/>
          <p:cNvSpPr txBox="1"/>
          <p:nvPr/>
        </p:nvSpPr>
        <p:spPr>
          <a:xfrm>
            <a:off x="6400800" y="2057400"/>
            <a:ext cx="21488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lang="en" sz="1250">
                <a:solidFill>
                  <a:srgbClr val="FFFFFF"/>
                </a:solidFill>
                <a:latin typeface="Calibri"/>
                <a:ea typeface="Calibri"/>
                <a:cs typeface="Calibri"/>
                <a:sym typeface="Calibri"/>
              </a:rPr>
              <a:t>The 89% account-clustering result covers repeat accounts only, about 47% of all fraud.</a:t>
            </a:r>
            <a:endParaRPr sz="1250">
              <a:solidFill>
                <a:schemeClr val="dk1"/>
              </a:solidFill>
              <a:latin typeface="Calibri"/>
              <a:ea typeface="Calibri"/>
              <a:cs typeface="Calibri"/>
              <a:sym typeface="Calibri"/>
            </a:endParaRPr>
          </a:p>
        </p:txBody>
      </p:sp>
      <p:sp>
        <p:nvSpPr>
          <p:cNvPr id="194" name="Google Shape;194;p23"/>
          <p:cNvSpPr txBox="1"/>
          <p:nvPr/>
        </p:nvSpPr>
        <p:spPr>
          <a:xfrm>
            <a:off x="6400800" y="3108960"/>
            <a:ext cx="2148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1E0"/>
              </a:buClr>
              <a:buSzPts val="1150"/>
              <a:buFont typeface="Calibri"/>
              <a:buNone/>
            </a:pPr>
            <a:r>
              <a:rPr i="1" lang="en" sz="1150">
                <a:solidFill>
                  <a:srgbClr val="C9D1E0"/>
                </a:solidFill>
                <a:latin typeface="Calibri"/>
                <a:ea typeface="Calibri"/>
                <a:cs typeface="Calibri"/>
                <a:sym typeface="Calibri"/>
              </a:rPr>
              <a:t>Our account key can't link missing-address transactions: the biggest blind spot to investigate.</a:t>
            </a:r>
            <a:endParaRPr sz="1150">
              <a:solidFill>
                <a:schemeClr val="dk1"/>
              </a:solidFill>
              <a:latin typeface="Calibri"/>
              <a:ea typeface="Calibri"/>
              <a:cs typeface="Calibri"/>
              <a:sym typeface="Calibri"/>
            </a:endParaRPr>
          </a:p>
        </p:txBody>
      </p:sp>
      <p:sp>
        <p:nvSpPr>
          <p:cNvPr id="195" name="Google Shape;195;p23"/>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196" name="Google Shape;196;p23"/>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9</a:t>
            </a:r>
            <a:endParaRPr sz="1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24"/>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2800"/>
              <a:buFont typeface="Cambria"/>
              <a:buNone/>
            </a:pPr>
            <a:r>
              <a:rPr b="1" lang="en" sz="2800">
                <a:solidFill>
                  <a:srgbClr val="1F2937"/>
                </a:solidFill>
                <a:latin typeface="Cambria"/>
                <a:ea typeface="Cambria"/>
                <a:cs typeface="Cambria"/>
                <a:sym typeface="Cambria"/>
              </a:rPr>
              <a:t>Fraud within products rose after day 25</a:t>
            </a:r>
            <a:endParaRPr sz="2800">
              <a:solidFill>
                <a:schemeClr val="dk1"/>
              </a:solidFill>
              <a:latin typeface="Calibri"/>
              <a:ea typeface="Calibri"/>
              <a:cs typeface="Calibri"/>
              <a:sym typeface="Calibri"/>
            </a:endParaRPr>
          </a:p>
        </p:txBody>
      </p:sp>
      <p:graphicFrame>
        <p:nvGraphicFramePr>
          <p:cNvPr id="203" name="Google Shape;203;p24"/>
          <p:cNvGraphicFramePr/>
          <p:nvPr/>
        </p:nvGraphicFramePr>
        <p:xfrm>
          <a:off x="457200" y="1234440"/>
          <a:ext cx="3000000" cy="3000000"/>
        </p:xfrm>
        <a:graphic>
          <a:graphicData uri="http://schemas.openxmlformats.org/drawingml/2006/table">
            <a:tbl>
              <a:tblPr>
                <a:noFill/>
                <a:tableStyleId>{7E390D40-7371-49D6-BF41-41B9B644B87E}</a:tableStyleId>
              </a:tblPr>
              <a:tblGrid>
                <a:gridCol w="914400"/>
                <a:gridCol w="1143000"/>
                <a:gridCol w="1143000"/>
                <a:gridCol w="1143000"/>
                <a:gridCol w="1143000"/>
              </a:tblGrid>
              <a:tr h="438900">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Product</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Share</a:t>
                      </a:r>
                      <a:r>
                        <a:rPr b="1" lang="en" sz="1050" u="none" cap="none" strike="noStrike">
                          <a:solidFill>
                            <a:srgbClr val="FFFFFF"/>
                          </a:solidFill>
                          <a:latin typeface="Calibri"/>
                          <a:ea typeface="Calibri"/>
                          <a:cs typeface="Calibri"/>
                          <a:sym typeface="Calibri"/>
                        </a:rPr>
                        <a:t>, early</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Share</a:t>
                      </a:r>
                      <a:r>
                        <a:rPr b="1" lang="en" sz="1050" u="none" cap="none" strike="noStrike">
                          <a:solidFill>
                            <a:srgbClr val="FFFFFF"/>
                          </a:solidFill>
                          <a:latin typeface="Calibri"/>
                          <a:ea typeface="Calibri"/>
                          <a:cs typeface="Calibri"/>
                          <a:sym typeface="Calibri"/>
                        </a:rPr>
                        <a:t>, later</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Fraud</a:t>
                      </a:r>
                      <a:r>
                        <a:rPr b="1" lang="en" sz="1050" u="none" cap="none" strike="noStrike">
                          <a:solidFill>
                            <a:srgbClr val="FFFFFF"/>
                          </a:solidFill>
                          <a:latin typeface="Calibri"/>
                          <a:ea typeface="Calibri"/>
                          <a:cs typeface="Calibri"/>
                          <a:sym typeface="Calibri"/>
                        </a:rPr>
                        <a:t>, early</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c>
                  <a:txBody>
                    <a:bodyPr/>
                    <a:lstStyle/>
                    <a:p>
                      <a:pPr indent="0" lvl="0" marL="0" marR="0" rtl="0" algn="l">
                        <a:spcBef>
                          <a:spcPts val="0"/>
                        </a:spcBef>
                        <a:spcAft>
                          <a:spcPts val="0"/>
                        </a:spcAft>
                        <a:buClr>
                          <a:srgbClr val="FFFFFF"/>
                        </a:buClr>
                        <a:buSzPts val="1050"/>
                        <a:buFont typeface="Calibri"/>
                        <a:buNone/>
                      </a:pPr>
                      <a:r>
                        <a:rPr b="1" lang="en" sz="1050" u="none" cap="none" strike="noStrike">
                          <a:solidFill>
                            <a:srgbClr val="FFFFFF"/>
                          </a:solidFill>
                          <a:latin typeface="Calibri"/>
                          <a:ea typeface="Calibri"/>
                          <a:cs typeface="Calibri"/>
                          <a:sym typeface="Calibri"/>
                        </a:rPr>
                        <a:t>Fraud, la</a:t>
                      </a:r>
                      <a:r>
                        <a:rPr b="1" lang="en" sz="1050" u="none" cap="none" strike="noStrike">
                          <a:solidFill>
                            <a:srgbClr val="FFFFFF"/>
                          </a:solidFill>
                          <a:latin typeface="Calibri"/>
                          <a:ea typeface="Calibri"/>
                          <a:cs typeface="Calibri"/>
                          <a:sym typeface="Calibri"/>
                        </a:rPr>
                        <a:t>ter</a:t>
                      </a:r>
                      <a:endParaRPr sz="10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16213E"/>
                    </a:solidFill>
                  </a:tcPr>
                </a:tc>
              </a:tr>
              <a:tr h="438900">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W</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53.7%</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79.6%</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1.84%</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2.12%</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438900">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C</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11.2%</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12.2%</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8.32%</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12.23%</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H</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16.8%</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2.9%</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D7263D"/>
                        </a:buClr>
                        <a:buSzPts val="1150"/>
                        <a:buFont typeface="Calibri"/>
                        <a:buNone/>
                      </a:pPr>
                      <a:r>
                        <a:rPr b="1" lang="en" sz="1150" u="none" cap="none" strike="noStrike">
                          <a:solidFill>
                            <a:srgbClr val="D7263D"/>
                          </a:solidFill>
                          <a:latin typeface="Calibri"/>
                          <a:ea typeface="Calibri"/>
                          <a:cs typeface="Calibri"/>
                          <a:sym typeface="Calibri"/>
                        </a:rPr>
                        <a:t>1.67%</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D7263D"/>
                        </a:buClr>
                        <a:buSzPts val="1150"/>
                        <a:buFont typeface="Calibri"/>
                        <a:buNone/>
                      </a:pPr>
                      <a:r>
                        <a:rPr b="1" lang="en" sz="1150" u="none" cap="none" strike="noStrike">
                          <a:solidFill>
                            <a:srgbClr val="D7263D"/>
                          </a:solidFill>
                          <a:latin typeface="Calibri"/>
                          <a:ea typeface="Calibri"/>
                          <a:cs typeface="Calibri"/>
                          <a:sym typeface="Calibri"/>
                        </a:rPr>
                        <a:t>10.32%</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r h="438900">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R</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16.0%</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3.8%</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7263D"/>
                        </a:buClr>
                        <a:buSzPts val="1150"/>
                        <a:buFont typeface="Calibri"/>
                        <a:buNone/>
                      </a:pPr>
                      <a:r>
                        <a:rPr b="1" lang="en" sz="1150" u="none" cap="none" strike="noStrike">
                          <a:solidFill>
                            <a:srgbClr val="D7263D"/>
                          </a:solidFill>
                          <a:latin typeface="Calibri"/>
                          <a:ea typeface="Calibri"/>
                          <a:cs typeface="Calibri"/>
                          <a:sym typeface="Calibri"/>
                        </a:rPr>
                        <a:t>0.89%</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7263D"/>
                        </a:buClr>
                        <a:buSzPts val="1150"/>
                        <a:buFont typeface="Calibri"/>
                        <a:buNone/>
                      </a:pPr>
                      <a:r>
                        <a:rPr b="1" lang="en" sz="1150" u="none" cap="none" strike="noStrike">
                          <a:solidFill>
                            <a:srgbClr val="D7263D"/>
                          </a:solidFill>
                          <a:latin typeface="Calibri"/>
                          <a:ea typeface="Calibri"/>
                          <a:cs typeface="Calibri"/>
                          <a:sym typeface="Calibri"/>
                        </a:rPr>
                        <a:t>7.38%</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S</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2.4%</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1.5%</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2.27%</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c>
                  <a:txBody>
                    <a:bodyPr/>
                    <a:lstStyle/>
                    <a:p>
                      <a:pPr indent="0" lvl="0" marL="0" marR="0" rtl="0" algn="l">
                        <a:spcBef>
                          <a:spcPts val="0"/>
                        </a:spcBef>
                        <a:spcAft>
                          <a:spcPts val="0"/>
                        </a:spcAft>
                        <a:buClr>
                          <a:srgbClr val="1F2937"/>
                        </a:buClr>
                        <a:buSzPts val="1150"/>
                        <a:buFont typeface="Calibri"/>
                        <a:buNone/>
                      </a:pPr>
                      <a:r>
                        <a:rPr lang="en" sz="1150" u="none" cap="none" strike="noStrike">
                          <a:solidFill>
                            <a:srgbClr val="1F2937"/>
                          </a:solidFill>
                          <a:latin typeface="Calibri"/>
                          <a:ea typeface="Calibri"/>
                          <a:cs typeface="Calibri"/>
                          <a:sym typeface="Calibri"/>
                        </a:rPr>
                        <a:t>8.23%</a:t>
                      </a:r>
                      <a:endParaRPr sz="1150" u="none" cap="none" strike="noStrike">
                        <a:latin typeface="Calibri"/>
                        <a:ea typeface="Calibri"/>
                        <a:cs typeface="Calibri"/>
                        <a:sym typeface="Calibri"/>
                      </a:endParaRPr>
                    </a:p>
                  </a:txBody>
                  <a:tcPr marT="36575" marB="36575" marR="91450" marL="91450" anchor="ctr">
                    <a:lnL cap="flat" cmpd="sng" w="9525">
                      <a:solidFill>
                        <a:srgbClr val="D8DEE8"/>
                      </a:solidFill>
                      <a:prstDash val="solid"/>
                      <a:round/>
                      <a:headEnd len="sm" w="sm" type="none"/>
                      <a:tailEnd len="sm" w="sm" type="none"/>
                    </a:lnL>
                    <a:lnR cap="flat" cmpd="sng" w="9525">
                      <a:solidFill>
                        <a:srgbClr val="D8DEE8"/>
                      </a:solidFill>
                      <a:prstDash val="solid"/>
                      <a:round/>
                      <a:headEnd len="sm" w="sm" type="none"/>
                      <a:tailEnd len="sm" w="sm" type="none"/>
                    </a:lnR>
                    <a:lnT cap="flat" cmpd="sng" w="9525">
                      <a:solidFill>
                        <a:srgbClr val="D8DEE8"/>
                      </a:solidFill>
                      <a:prstDash val="solid"/>
                      <a:round/>
                      <a:headEnd len="sm" w="sm" type="none"/>
                      <a:tailEnd len="sm" w="sm" type="none"/>
                    </a:lnT>
                    <a:lnB cap="flat" cmpd="sng" w="9525">
                      <a:solidFill>
                        <a:srgbClr val="D8DEE8"/>
                      </a:solidFill>
                      <a:prstDash val="solid"/>
                      <a:round/>
                      <a:headEnd len="sm" w="sm" type="none"/>
                      <a:tailEnd len="sm" w="sm" type="none"/>
                    </a:lnB>
                    <a:solidFill>
                      <a:srgbClr val="F3F5F9"/>
                    </a:solidFill>
                  </a:tcPr>
                </a:tc>
              </a:tr>
            </a:tbl>
          </a:graphicData>
        </a:graphic>
      </p:graphicFrame>
      <p:sp>
        <p:nvSpPr>
          <p:cNvPr id="204" name="Google Shape;204;p24"/>
          <p:cNvSpPr/>
          <p:nvPr/>
        </p:nvSpPr>
        <p:spPr>
          <a:xfrm>
            <a:off x="6217920" y="1234440"/>
            <a:ext cx="2468880" cy="2743200"/>
          </a:xfrm>
          <a:prstGeom prst="roundRect">
            <a:avLst>
              <a:gd fmla="val 3704" name="adj"/>
            </a:avLst>
          </a:prstGeom>
          <a:solidFill>
            <a:srgbClr val="16213E"/>
          </a:solidFill>
          <a:ln cap="flat" cmpd="sng" w="12700">
            <a:solidFill>
              <a:srgbClr val="1621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24"/>
          <p:cNvSpPr txBox="1"/>
          <p:nvPr/>
        </p:nvSpPr>
        <p:spPr>
          <a:xfrm>
            <a:off x="6400800" y="1417320"/>
            <a:ext cx="2148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8A8A"/>
              </a:buClr>
              <a:buSzPts val="3000"/>
              <a:buFont typeface="Cambria"/>
              <a:buNone/>
            </a:pPr>
            <a:r>
              <a:rPr b="1" lang="en" sz="3000">
                <a:solidFill>
                  <a:srgbClr val="FF8A8A"/>
                </a:solidFill>
                <a:latin typeface="Cambria"/>
                <a:ea typeface="Cambria"/>
                <a:cs typeface="Cambria"/>
                <a:sym typeface="Cambria"/>
              </a:rPr>
              <a:t>6–8×</a:t>
            </a:r>
            <a:endParaRPr sz="3000">
              <a:solidFill>
                <a:schemeClr val="dk1"/>
              </a:solidFill>
              <a:latin typeface="Calibri"/>
              <a:ea typeface="Calibri"/>
              <a:cs typeface="Calibri"/>
              <a:sym typeface="Calibri"/>
            </a:endParaRPr>
          </a:p>
        </p:txBody>
      </p:sp>
      <p:sp>
        <p:nvSpPr>
          <p:cNvPr id="206" name="Google Shape;206;p24"/>
          <p:cNvSpPr txBox="1"/>
          <p:nvPr/>
        </p:nvSpPr>
        <p:spPr>
          <a:xfrm>
            <a:off x="6400800" y="2057400"/>
            <a:ext cx="21488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lang="en" sz="1250">
                <a:solidFill>
                  <a:srgbClr val="FFFFFF"/>
                </a:solidFill>
                <a:latin typeface="Calibri"/>
                <a:ea typeface="Calibri"/>
                <a:cs typeface="Calibri"/>
                <a:sym typeface="Calibri"/>
              </a:rPr>
              <a:t>Rise in fraud rate for products H and R. Early = days 1–25; later = after day 25.</a:t>
            </a:r>
            <a:endParaRPr sz="1250">
              <a:solidFill>
                <a:schemeClr val="dk1"/>
              </a:solidFill>
              <a:latin typeface="Calibri"/>
              <a:ea typeface="Calibri"/>
              <a:cs typeface="Calibri"/>
              <a:sym typeface="Calibri"/>
            </a:endParaRPr>
          </a:p>
        </p:txBody>
      </p:sp>
      <p:sp>
        <p:nvSpPr>
          <p:cNvPr id="207" name="Google Shape;207;p24"/>
          <p:cNvSpPr txBox="1"/>
          <p:nvPr/>
        </p:nvSpPr>
        <p:spPr>
          <a:xfrm>
            <a:off x="6400800" y="3108960"/>
            <a:ext cx="2148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1E0"/>
              </a:buClr>
              <a:buSzPts val="1150"/>
              <a:buFont typeface="Calibri"/>
              <a:buNone/>
            </a:pPr>
            <a:r>
              <a:rPr i="1" lang="en" sz="1150">
                <a:solidFill>
                  <a:srgbClr val="C9D1E0"/>
                </a:solidFill>
                <a:latin typeface="Calibri"/>
                <a:ea typeface="Calibri"/>
                <a:cs typeface="Calibri"/>
                <a:sym typeface="Calibri"/>
              </a:rPr>
              <a:t>Product rates drift over time, so we validate on later data and watch for further drift.</a:t>
            </a:r>
            <a:endParaRPr sz="1150">
              <a:solidFill>
                <a:schemeClr val="dk1"/>
              </a:solidFill>
              <a:latin typeface="Calibri"/>
              <a:ea typeface="Calibri"/>
              <a:cs typeface="Calibri"/>
              <a:sym typeface="Calibri"/>
            </a:endParaRPr>
          </a:p>
        </p:txBody>
      </p:sp>
      <p:sp>
        <p:nvSpPr>
          <p:cNvPr id="208" name="Google Shape;208;p24"/>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209" name="Google Shape;209;p24"/>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10</a:t>
            </a:r>
            <a:endParaRPr sz="10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25"/>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2800"/>
              <a:buFont typeface="Cambria"/>
              <a:buNone/>
            </a:pPr>
            <a:r>
              <a:rPr b="1" lang="en" sz="2800">
                <a:solidFill>
                  <a:srgbClr val="1F2937"/>
                </a:solidFill>
                <a:latin typeface="Cambria"/>
                <a:ea typeface="Cambria"/>
                <a:cs typeface="Cambria"/>
                <a:sym typeface="Cambria"/>
              </a:rPr>
              <a:t>Challenges we identified</a:t>
            </a:r>
            <a:endParaRPr sz="2800">
              <a:solidFill>
                <a:schemeClr val="dk1"/>
              </a:solidFill>
              <a:latin typeface="Calibri"/>
              <a:ea typeface="Calibri"/>
              <a:cs typeface="Calibri"/>
              <a:sym typeface="Calibri"/>
            </a:endParaRPr>
          </a:p>
        </p:txBody>
      </p:sp>
      <p:sp>
        <p:nvSpPr>
          <p:cNvPr id="216" name="Google Shape;216;p25"/>
          <p:cNvSpPr/>
          <p:nvPr/>
        </p:nvSpPr>
        <p:spPr>
          <a:xfrm>
            <a:off x="457200" y="1188720"/>
            <a:ext cx="4023360" cy="1463040"/>
          </a:xfrm>
          <a:prstGeom prst="roundRect">
            <a:avLst>
              <a:gd fmla="val 6250"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25"/>
          <p:cNvSpPr/>
          <p:nvPr/>
        </p:nvSpPr>
        <p:spPr>
          <a:xfrm>
            <a:off x="685800" y="1463040"/>
            <a:ext cx="548640" cy="548640"/>
          </a:xfrm>
          <a:prstGeom prst="ellipse">
            <a:avLst/>
          </a:prstGeom>
          <a:solidFill>
            <a:srgbClr val="D7263D"/>
          </a:solidFill>
          <a:ln cap="flat" cmpd="sng" w="12700">
            <a:solidFill>
              <a:srgbClr val="D72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18" name="Google Shape;218;p25"/>
          <p:cNvPicPr preferRelativeResize="0"/>
          <p:nvPr/>
        </p:nvPicPr>
        <p:blipFill rotWithShape="1">
          <a:blip r:embed="rId3">
            <a:alphaModFix/>
          </a:blip>
          <a:srcRect b="0" l="0" r="0" t="0"/>
          <a:stretch/>
        </p:blipFill>
        <p:spPr>
          <a:xfrm>
            <a:off x="822960" y="1600200"/>
            <a:ext cx="274320" cy="274320"/>
          </a:xfrm>
          <a:prstGeom prst="rect">
            <a:avLst/>
          </a:prstGeom>
          <a:noFill/>
          <a:ln>
            <a:noFill/>
          </a:ln>
        </p:spPr>
      </p:pic>
      <p:sp>
        <p:nvSpPr>
          <p:cNvPr id="219" name="Google Shape;219;p25"/>
          <p:cNvSpPr txBox="1"/>
          <p:nvPr/>
        </p:nvSpPr>
        <p:spPr>
          <a:xfrm>
            <a:off x="1417320" y="1389888"/>
            <a:ext cx="2880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00"/>
              <a:buFont typeface="Cambria"/>
              <a:buNone/>
            </a:pPr>
            <a:r>
              <a:rPr b="1" lang="en" sz="1500">
                <a:solidFill>
                  <a:srgbClr val="1F2937"/>
                </a:solidFill>
                <a:latin typeface="Cambria"/>
                <a:ea typeface="Cambria"/>
                <a:cs typeface="Cambria"/>
                <a:sym typeface="Cambria"/>
              </a:rPr>
              <a:t>30-day gap</a:t>
            </a:r>
            <a:endParaRPr sz="1500">
              <a:solidFill>
                <a:schemeClr val="dk1"/>
              </a:solidFill>
              <a:latin typeface="Calibri"/>
              <a:ea typeface="Calibri"/>
              <a:cs typeface="Calibri"/>
              <a:sym typeface="Calibri"/>
            </a:endParaRPr>
          </a:p>
        </p:txBody>
      </p:sp>
      <p:sp>
        <p:nvSpPr>
          <p:cNvPr id="220" name="Google Shape;220;p25"/>
          <p:cNvSpPr txBox="1"/>
          <p:nvPr/>
        </p:nvSpPr>
        <p:spPr>
          <a:xfrm>
            <a:off x="1417320" y="1783080"/>
            <a:ext cx="2880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lang="en" sz="1200">
                <a:solidFill>
                  <a:srgbClr val="5B6475"/>
                </a:solidFill>
                <a:latin typeface="Calibri"/>
                <a:ea typeface="Calibri"/>
                <a:cs typeface="Calibri"/>
                <a:sym typeface="Calibri"/>
              </a:rPr>
              <a:t>Test data starts about 30 days after our labeled data ends, so fraud patterns may drift.</a:t>
            </a:r>
            <a:endParaRPr sz="1200">
              <a:solidFill>
                <a:schemeClr val="dk1"/>
              </a:solidFill>
              <a:latin typeface="Calibri"/>
              <a:ea typeface="Calibri"/>
              <a:cs typeface="Calibri"/>
              <a:sym typeface="Calibri"/>
            </a:endParaRPr>
          </a:p>
        </p:txBody>
      </p:sp>
      <p:sp>
        <p:nvSpPr>
          <p:cNvPr id="221" name="Google Shape;221;p25"/>
          <p:cNvSpPr/>
          <p:nvPr/>
        </p:nvSpPr>
        <p:spPr>
          <a:xfrm>
            <a:off x="4663440" y="1188720"/>
            <a:ext cx="4023360" cy="1463040"/>
          </a:xfrm>
          <a:prstGeom prst="roundRect">
            <a:avLst>
              <a:gd fmla="val 6250"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25"/>
          <p:cNvSpPr/>
          <p:nvPr/>
        </p:nvSpPr>
        <p:spPr>
          <a:xfrm>
            <a:off x="4892040" y="1463040"/>
            <a:ext cx="548640" cy="548640"/>
          </a:xfrm>
          <a:prstGeom prst="ellipse">
            <a:avLst/>
          </a:prstGeom>
          <a:solidFill>
            <a:srgbClr val="D7263D"/>
          </a:solidFill>
          <a:ln cap="flat" cmpd="sng" w="12700">
            <a:solidFill>
              <a:srgbClr val="D72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3" name="Google Shape;223;p25"/>
          <p:cNvPicPr preferRelativeResize="0"/>
          <p:nvPr/>
        </p:nvPicPr>
        <p:blipFill rotWithShape="1">
          <a:blip r:embed="rId4">
            <a:alphaModFix/>
          </a:blip>
          <a:srcRect b="0" l="0" r="0" t="0"/>
          <a:stretch/>
        </p:blipFill>
        <p:spPr>
          <a:xfrm>
            <a:off x="5029200" y="1600200"/>
            <a:ext cx="274320" cy="274320"/>
          </a:xfrm>
          <a:prstGeom prst="rect">
            <a:avLst/>
          </a:prstGeom>
          <a:noFill/>
          <a:ln>
            <a:noFill/>
          </a:ln>
        </p:spPr>
      </p:pic>
      <p:sp>
        <p:nvSpPr>
          <p:cNvPr id="224" name="Google Shape;224;p25"/>
          <p:cNvSpPr txBox="1"/>
          <p:nvPr/>
        </p:nvSpPr>
        <p:spPr>
          <a:xfrm>
            <a:off x="5623560" y="1389888"/>
            <a:ext cx="2880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00"/>
              <a:buFont typeface="Cambria"/>
              <a:buNone/>
            </a:pPr>
            <a:r>
              <a:rPr b="1" lang="en" sz="1500">
                <a:solidFill>
                  <a:srgbClr val="1F2937"/>
                </a:solidFill>
                <a:latin typeface="Cambria"/>
                <a:ea typeface="Cambria"/>
                <a:cs typeface="Cambria"/>
                <a:sym typeface="Cambria"/>
              </a:rPr>
              <a:t>Class imbalance</a:t>
            </a:r>
            <a:endParaRPr sz="1500">
              <a:solidFill>
                <a:schemeClr val="dk1"/>
              </a:solidFill>
              <a:latin typeface="Calibri"/>
              <a:ea typeface="Calibri"/>
              <a:cs typeface="Calibri"/>
              <a:sym typeface="Calibri"/>
            </a:endParaRPr>
          </a:p>
        </p:txBody>
      </p:sp>
      <p:sp>
        <p:nvSpPr>
          <p:cNvPr id="225" name="Google Shape;225;p25"/>
          <p:cNvSpPr txBox="1"/>
          <p:nvPr/>
        </p:nvSpPr>
        <p:spPr>
          <a:xfrm>
            <a:off x="5623560" y="1783080"/>
            <a:ext cx="2880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lang="en" sz="1200">
                <a:solidFill>
                  <a:srgbClr val="5B6475"/>
                </a:solidFill>
                <a:latin typeface="Calibri"/>
                <a:ea typeface="Calibri"/>
                <a:cs typeface="Calibri"/>
                <a:sym typeface="Calibri"/>
              </a:rPr>
              <a:t>96.5% of transactions are legitimate, so accuracy alone would mislead.</a:t>
            </a:r>
            <a:endParaRPr sz="1200">
              <a:solidFill>
                <a:schemeClr val="dk1"/>
              </a:solidFill>
              <a:latin typeface="Calibri"/>
              <a:ea typeface="Calibri"/>
              <a:cs typeface="Calibri"/>
              <a:sym typeface="Calibri"/>
            </a:endParaRPr>
          </a:p>
        </p:txBody>
      </p:sp>
      <p:sp>
        <p:nvSpPr>
          <p:cNvPr id="226" name="Google Shape;226;p25"/>
          <p:cNvSpPr/>
          <p:nvPr/>
        </p:nvSpPr>
        <p:spPr>
          <a:xfrm>
            <a:off x="457200" y="2834640"/>
            <a:ext cx="4023360" cy="1463040"/>
          </a:xfrm>
          <a:prstGeom prst="roundRect">
            <a:avLst>
              <a:gd fmla="val 6250"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25"/>
          <p:cNvSpPr/>
          <p:nvPr/>
        </p:nvSpPr>
        <p:spPr>
          <a:xfrm>
            <a:off x="685800" y="3108960"/>
            <a:ext cx="548640" cy="548640"/>
          </a:xfrm>
          <a:prstGeom prst="ellipse">
            <a:avLst/>
          </a:prstGeom>
          <a:solidFill>
            <a:srgbClr val="D7263D"/>
          </a:solidFill>
          <a:ln cap="flat" cmpd="sng" w="12700">
            <a:solidFill>
              <a:srgbClr val="D72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8" name="Google Shape;228;p25"/>
          <p:cNvPicPr preferRelativeResize="0"/>
          <p:nvPr/>
        </p:nvPicPr>
        <p:blipFill rotWithShape="1">
          <a:blip r:embed="rId5">
            <a:alphaModFix/>
          </a:blip>
          <a:srcRect b="0" l="0" r="0" t="0"/>
          <a:stretch/>
        </p:blipFill>
        <p:spPr>
          <a:xfrm>
            <a:off x="822960" y="3246120"/>
            <a:ext cx="274320" cy="274320"/>
          </a:xfrm>
          <a:prstGeom prst="rect">
            <a:avLst/>
          </a:prstGeom>
          <a:noFill/>
          <a:ln>
            <a:noFill/>
          </a:ln>
        </p:spPr>
      </p:pic>
      <p:sp>
        <p:nvSpPr>
          <p:cNvPr id="229" name="Google Shape;229;p25"/>
          <p:cNvSpPr txBox="1"/>
          <p:nvPr/>
        </p:nvSpPr>
        <p:spPr>
          <a:xfrm>
            <a:off x="1417320" y="3035808"/>
            <a:ext cx="2880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00"/>
              <a:buFont typeface="Cambria"/>
              <a:buNone/>
            </a:pPr>
            <a:r>
              <a:rPr b="1" lang="en" sz="1500">
                <a:solidFill>
                  <a:srgbClr val="1F2937"/>
                </a:solidFill>
                <a:latin typeface="Cambria"/>
                <a:ea typeface="Cambria"/>
                <a:cs typeface="Cambria"/>
                <a:sym typeface="Cambria"/>
              </a:rPr>
              <a:t>Heavy missing data</a:t>
            </a:r>
            <a:endParaRPr sz="1500">
              <a:solidFill>
                <a:schemeClr val="dk1"/>
              </a:solidFill>
              <a:latin typeface="Calibri"/>
              <a:ea typeface="Calibri"/>
              <a:cs typeface="Calibri"/>
              <a:sym typeface="Calibri"/>
            </a:endParaRPr>
          </a:p>
        </p:txBody>
      </p:sp>
      <p:sp>
        <p:nvSpPr>
          <p:cNvPr id="230" name="Google Shape;230;p25"/>
          <p:cNvSpPr txBox="1"/>
          <p:nvPr/>
        </p:nvSpPr>
        <p:spPr>
          <a:xfrm>
            <a:off x="1417320" y="3429000"/>
            <a:ext cx="2880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lang="en" sz="1200">
                <a:solidFill>
                  <a:srgbClr val="5B6475"/>
                </a:solidFill>
                <a:latin typeface="Calibri"/>
                <a:ea typeface="Calibri"/>
                <a:cs typeface="Calibri"/>
                <a:sym typeface="Calibri"/>
              </a:rPr>
              <a:t>414 of 434 features have missing values; 229 are more than half empty.</a:t>
            </a:r>
            <a:endParaRPr sz="1200">
              <a:solidFill>
                <a:schemeClr val="dk1"/>
              </a:solidFill>
              <a:latin typeface="Calibri"/>
              <a:ea typeface="Calibri"/>
              <a:cs typeface="Calibri"/>
              <a:sym typeface="Calibri"/>
            </a:endParaRPr>
          </a:p>
        </p:txBody>
      </p:sp>
      <p:sp>
        <p:nvSpPr>
          <p:cNvPr id="231" name="Google Shape;231;p25"/>
          <p:cNvSpPr/>
          <p:nvPr/>
        </p:nvSpPr>
        <p:spPr>
          <a:xfrm>
            <a:off x="4663440" y="2834640"/>
            <a:ext cx="4023360" cy="1463040"/>
          </a:xfrm>
          <a:prstGeom prst="roundRect">
            <a:avLst>
              <a:gd fmla="val 6250" name="adj"/>
            </a:avLst>
          </a:prstGeom>
          <a:solidFill>
            <a:srgbClr val="F3F5F9"/>
          </a:solidFill>
          <a:ln cap="flat" cmpd="sng" w="12700">
            <a:solidFill>
              <a:srgbClr val="F3F5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25"/>
          <p:cNvSpPr/>
          <p:nvPr/>
        </p:nvSpPr>
        <p:spPr>
          <a:xfrm>
            <a:off x="4892040" y="3108960"/>
            <a:ext cx="548640" cy="548640"/>
          </a:xfrm>
          <a:prstGeom prst="ellipse">
            <a:avLst/>
          </a:prstGeom>
          <a:solidFill>
            <a:srgbClr val="D7263D"/>
          </a:solidFill>
          <a:ln cap="flat" cmpd="sng" w="12700">
            <a:solidFill>
              <a:srgbClr val="D72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33" name="Google Shape;233;p25"/>
          <p:cNvPicPr preferRelativeResize="0"/>
          <p:nvPr/>
        </p:nvPicPr>
        <p:blipFill rotWithShape="1">
          <a:blip r:embed="rId6">
            <a:alphaModFix/>
          </a:blip>
          <a:srcRect b="0" l="0" r="0" t="0"/>
          <a:stretch/>
        </p:blipFill>
        <p:spPr>
          <a:xfrm>
            <a:off x="5029200" y="3246120"/>
            <a:ext cx="274320" cy="274320"/>
          </a:xfrm>
          <a:prstGeom prst="rect">
            <a:avLst/>
          </a:prstGeom>
          <a:noFill/>
          <a:ln>
            <a:noFill/>
          </a:ln>
        </p:spPr>
      </p:pic>
      <p:sp>
        <p:nvSpPr>
          <p:cNvPr id="234" name="Google Shape;234;p25"/>
          <p:cNvSpPr txBox="1"/>
          <p:nvPr/>
        </p:nvSpPr>
        <p:spPr>
          <a:xfrm>
            <a:off x="5623560" y="3035808"/>
            <a:ext cx="2880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500"/>
              <a:buFont typeface="Cambria"/>
              <a:buNone/>
            </a:pPr>
            <a:r>
              <a:rPr b="1" lang="en" sz="1500">
                <a:solidFill>
                  <a:srgbClr val="1F2937"/>
                </a:solidFill>
                <a:latin typeface="Cambria"/>
                <a:ea typeface="Cambria"/>
                <a:cs typeface="Cambria"/>
                <a:sym typeface="Cambria"/>
              </a:rPr>
              <a:t>Entity overlap</a:t>
            </a:r>
            <a:endParaRPr sz="1500">
              <a:solidFill>
                <a:schemeClr val="dk1"/>
              </a:solidFill>
              <a:latin typeface="Calibri"/>
              <a:ea typeface="Calibri"/>
              <a:cs typeface="Calibri"/>
              <a:sym typeface="Calibri"/>
            </a:endParaRPr>
          </a:p>
        </p:txBody>
      </p:sp>
      <p:sp>
        <p:nvSpPr>
          <p:cNvPr id="235" name="Google Shape;235;p25"/>
          <p:cNvSpPr txBox="1"/>
          <p:nvPr/>
        </p:nvSpPr>
        <p:spPr>
          <a:xfrm>
            <a:off x="5623560" y="3429000"/>
            <a:ext cx="2880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5"/>
              </a:buClr>
              <a:buSzPts val="1200"/>
              <a:buFont typeface="Calibri"/>
              <a:buNone/>
            </a:pPr>
            <a:r>
              <a:rPr lang="en" sz="1200">
                <a:solidFill>
                  <a:srgbClr val="5B6475"/>
                </a:solidFill>
                <a:latin typeface="Calibri"/>
                <a:ea typeface="Calibri"/>
                <a:cs typeface="Calibri"/>
                <a:sym typeface="Calibri"/>
              </a:rPr>
              <a:t>About 42% of validation transactions come from accounts seen in training, which can inflate scores.</a:t>
            </a:r>
            <a:endParaRPr sz="1200">
              <a:solidFill>
                <a:schemeClr val="dk1"/>
              </a:solidFill>
              <a:latin typeface="Calibri"/>
              <a:ea typeface="Calibri"/>
              <a:cs typeface="Calibri"/>
              <a:sym typeface="Calibri"/>
            </a:endParaRPr>
          </a:p>
        </p:txBody>
      </p:sp>
      <p:sp>
        <p:nvSpPr>
          <p:cNvPr id="236" name="Google Shape;236;p25"/>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237" name="Google Shape;237;p25"/>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5"/>
              </a:buClr>
              <a:buSzPts val="1000"/>
              <a:buFont typeface="Calibri"/>
              <a:buNone/>
            </a:pPr>
            <a:r>
              <a:rPr lang="en" sz="1000">
                <a:solidFill>
                  <a:srgbClr val="5B6475"/>
                </a:solidFill>
                <a:latin typeface="Calibri"/>
                <a:ea typeface="Calibri"/>
                <a:cs typeface="Calibri"/>
                <a:sym typeface="Calibri"/>
              </a:rPr>
              <a:t>11</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13E"/>
        </a:solidFill>
      </p:bgPr>
    </p:bg>
    <p:spTree>
      <p:nvGrpSpPr>
        <p:cNvPr id="242" name="Shape 242"/>
        <p:cNvGrpSpPr/>
        <p:nvPr/>
      </p:nvGrpSpPr>
      <p:grpSpPr>
        <a:xfrm>
          <a:off x="0" y="0"/>
          <a:ext cx="0" cy="0"/>
          <a:chOff x="0" y="0"/>
          <a:chExt cx="0" cy="0"/>
        </a:xfrm>
      </p:grpSpPr>
      <p:sp>
        <p:nvSpPr>
          <p:cNvPr id="243" name="Google Shape;243;p26"/>
          <p:cNvSpPr txBox="1"/>
          <p:nvPr/>
        </p:nvSpPr>
        <p:spPr>
          <a:xfrm>
            <a:off x="457200" y="320040"/>
            <a:ext cx="8229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lang="en" sz="2800">
                <a:solidFill>
                  <a:srgbClr val="FFFFFF"/>
                </a:solidFill>
                <a:latin typeface="Cambria"/>
                <a:ea typeface="Cambria"/>
                <a:cs typeface="Cambria"/>
                <a:sym typeface="Cambria"/>
              </a:rPr>
              <a:t>What we'll do next</a:t>
            </a:r>
            <a:endParaRPr sz="2800">
              <a:solidFill>
                <a:schemeClr val="dk1"/>
              </a:solidFill>
              <a:latin typeface="Calibri"/>
              <a:ea typeface="Calibri"/>
              <a:cs typeface="Calibri"/>
              <a:sym typeface="Calibri"/>
            </a:endParaRPr>
          </a:p>
        </p:txBody>
      </p:sp>
      <p:sp>
        <p:nvSpPr>
          <p:cNvPr id="244" name="Google Shape;244;p26"/>
          <p:cNvSpPr/>
          <p:nvPr/>
        </p:nvSpPr>
        <p:spPr>
          <a:xfrm>
            <a:off x="548640" y="1097280"/>
            <a:ext cx="502920" cy="502920"/>
          </a:xfrm>
          <a:prstGeom prst="ellipse">
            <a:avLst/>
          </a:prstGeom>
          <a:solidFill>
            <a:srgbClr val="D7263D"/>
          </a:solidFill>
          <a:ln cap="flat" cmpd="sng" w="12700">
            <a:solidFill>
              <a:srgbClr val="D72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5" name="Google Shape;245;p26"/>
          <p:cNvPicPr preferRelativeResize="0"/>
          <p:nvPr/>
        </p:nvPicPr>
        <p:blipFill rotWithShape="1">
          <a:blip r:embed="rId3">
            <a:alphaModFix/>
          </a:blip>
          <a:srcRect b="0" l="0" r="0" t="0"/>
          <a:stretch/>
        </p:blipFill>
        <p:spPr>
          <a:xfrm>
            <a:off x="674370" y="1223010"/>
            <a:ext cx="251460" cy="251460"/>
          </a:xfrm>
          <a:prstGeom prst="rect">
            <a:avLst/>
          </a:prstGeom>
          <a:noFill/>
          <a:ln>
            <a:noFill/>
          </a:ln>
        </p:spPr>
      </p:pic>
      <p:sp>
        <p:nvSpPr>
          <p:cNvPr id="246" name="Google Shape;246;p26"/>
          <p:cNvSpPr txBox="1"/>
          <p:nvPr/>
        </p:nvSpPr>
        <p:spPr>
          <a:xfrm>
            <a:off x="1280160" y="1078992"/>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lang="en" sz="1600">
                <a:solidFill>
                  <a:srgbClr val="FFFFFF"/>
                </a:solidFill>
                <a:latin typeface="Cambria"/>
                <a:ea typeface="Cambria"/>
                <a:cs typeface="Cambria"/>
                <a:sym typeface="Cambria"/>
              </a:rPr>
              <a:t>Time-aware validation</a:t>
            </a:r>
            <a:endParaRPr sz="1600">
              <a:solidFill>
                <a:schemeClr val="dk1"/>
              </a:solidFill>
              <a:latin typeface="Calibri"/>
              <a:ea typeface="Calibri"/>
              <a:cs typeface="Calibri"/>
              <a:sym typeface="Calibri"/>
            </a:endParaRPr>
          </a:p>
        </p:txBody>
      </p:sp>
      <p:sp>
        <p:nvSpPr>
          <p:cNvPr id="247" name="Google Shape;247;p26"/>
          <p:cNvSpPr txBox="1"/>
          <p:nvPr/>
        </p:nvSpPr>
        <p:spPr>
          <a:xfrm>
            <a:off x="4572000" y="1078992"/>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1E0"/>
              </a:buClr>
              <a:buSzPts val="1300"/>
              <a:buFont typeface="Calibri"/>
              <a:buNone/>
            </a:pPr>
            <a:r>
              <a:rPr lang="en" sz="1300">
                <a:solidFill>
                  <a:srgbClr val="C9D1E0"/>
                </a:solidFill>
                <a:latin typeface="Calibri"/>
                <a:ea typeface="Calibri"/>
                <a:cs typeface="Calibri"/>
                <a:sym typeface="Calibri"/>
              </a:rPr>
              <a:t>Train on the past, test on the future</a:t>
            </a:r>
            <a:endParaRPr sz="1300">
              <a:solidFill>
                <a:schemeClr val="dk1"/>
              </a:solidFill>
              <a:latin typeface="Calibri"/>
              <a:ea typeface="Calibri"/>
              <a:cs typeface="Calibri"/>
              <a:sym typeface="Calibri"/>
            </a:endParaRPr>
          </a:p>
        </p:txBody>
      </p:sp>
      <p:sp>
        <p:nvSpPr>
          <p:cNvPr id="248" name="Google Shape;248;p26"/>
          <p:cNvSpPr/>
          <p:nvPr/>
        </p:nvSpPr>
        <p:spPr>
          <a:xfrm>
            <a:off x="548640" y="1810512"/>
            <a:ext cx="502920" cy="502920"/>
          </a:xfrm>
          <a:prstGeom prst="ellipse">
            <a:avLst/>
          </a:prstGeom>
          <a:solidFill>
            <a:srgbClr val="D7263D"/>
          </a:solidFill>
          <a:ln cap="flat" cmpd="sng" w="12700">
            <a:solidFill>
              <a:srgbClr val="D72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9" name="Google Shape;249;p26"/>
          <p:cNvPicPr preferRelativeResize="0"/>
          <p:nvPr/>
        </p:nvPicPr>
        <p:blipFill rotWithShape="1">
          <a:blip r:embed="rId4">
            <a:alphaModFix/>
          </a:blip>
          <a:srcRect b="0" l="0" r="0" t="0"/>
          <a:stretch/>
        </p:blipFill>
        <p:spPr>
          <a:xfrm>
            <a:off x="674370" y="1936242"/>
            <a:ext cx="251460" cy="251460"/>
          </a:xfrm>
          <a:prstGeom prst="rect">
            <a:avLst/>
          </a:prstGeom>
          <a:noFill/>
          <a:ln>
            <a:noFill/>
          </a:ln>
        </p:spPr>
      </p:pic>
      <p:sp>
        <p:nvSpPr>
          <p:cNvPr id="250" name="Google Shape;250;p26"/>
          <p:cNvSpPr txBox="1"/>
          <p:nvPr/>
        </p:nvSpPr>
        <p:spPr>
          <a:xfrm>
            <a:off x="1280160" y="1792224"/>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lang="en" sz="1600">
                <a:solidFill>
                  <a:srgbClr val="FFFFFF"/>
                </a:solidFill>
                <a:latin typeface="Cambria"/>
                <a:ea typeface="Cambria"/>
                <a:cs typeface="Cambria"/>
                <a:sym typeface="Cambria"/>
              </a:rPr>
              <a:t>Seen vs new accounts</a:t>
            </a:r>
            <a:endParaRPr sz="1600">
              <a:solidFill>
                <a:schemeClr val="dk1"/>
              </a:solidFill>
              <a:latin typeface="Calibri"/>
              <a:ea typeface="Calibri"/>
              <a:cs typeface="Calibri"/>
              <a:sym typeface="Calibri"/>
            </a:endParaRPr>
          </a:p>
        </p:txBody>
      </p:sp>
      <p:sp>
        <p:nvSpPr>
          <p:cNvPr id="251" name="Google Shape;251;p26"/>
          <p:cNvSpPr txBox="1"/>
          <p:nvPr/>
        </p:nvSpPr>
        <p:spPr>
          <a:xfrm>
            <a:off x="4572000" y="1792224"/>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1E0"/>
              </a:buClr>
              <a:buSzPts val="1300"/>
              <a:buFont typeface="Calibri"/>
              <a:buNone/>
            </a:pPr>
            <a:r>
              <a:rPr lang="en" sz="1300">
                <a:solidFill>
                  <a:srgbClr val="C9D1E0"/>
                </a:solidFill>
                <a:latin typeface="Calibri"/>
                <a:ea typeface="Calibri"/>
                <a:cs typeface="Calibri"/>
                <a:sym typeface="Calibri"/>
              </a:rPr>
              <a:t>Report performance for each separately</a:t>
            </a:r>
            <a:endParaRPr sz="1300">
              <a:solidFill>
                <a:schemeClr val="dk1"/>
              </a:solidFill>
              <a:latin typeface="Calibri"/>
              <a:ea typeface="Calibri"/>
              <a:cs typeface="Calibri"/>
              <a:sym typeface="Calibri"/>
            </a:endParaRPr>
          </a:p>
        </p:txBody>
      </p:sp>
      <p:sp>
        <p:nvSpPr>
          <p:cNvPr id="252" name="Google Shape;252;p26"/>
          <p:cNvSpPr/>
          <p:nvPr/>
        </p:nvSpPr>
        <p:spPr>
          <a:xfrm>
            <a:off x="548640" y="2523744"/>
            <a:ext cx="502920" cy="502920"/>
          </a:xfrm>
          <a:prstGeom prst="ellipse">
            <a:avLst/>
          </a:prstGeom>
          <a:solidFill>
            <a:srgbClr val="D7263D"/>
          </a:solidFill>
          <a:ln cap="flat" cmpd="sng" w="12700">
            <a:solidFill>
              <a:srgbClr val="D72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3" name="Google Shape;253;p26"/>
          <p:cNvPicPr preferRelativeResize="0"/>
          <p:nvPr/>
        </p:nvPicPr>
        <p:blipFill rotWithShape="1">
          <a:blip r:embed="rId5">
            <a:alphaModFix/>
          </a:blip>
          <a:srcRect b="0" l="0" r="0" t="0"/>
          <a:stretch/>
        </p:blipFill>
        <p:spPr>
          <a:xfrm>
            <a:off x="674370" y="2649474"/>
            <a:ext cx="251460" cy="251460"/>
          </a:xfrm>
          <a:prstGeom prst="rect">
            <a:avLst/>
          </a:prstGeom>
          <a:noFill/>
          <a:ln>
            <a:noFill/>
          </a:ln>
        </p:spPr>
      </p:pic>
      <p:sp>
        <p:nvSpPr>
          <p:cNvPr id="254" name="Google Shape;254;p26"/>
          <p:cNvSpPr txBox="1"/>
          <p:nvPr/>
        </p:nvSpPr>
        <p:spPr>
          <a:xfrm>
            <a:off x="1280160" y="2505456"/>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lang="en" sz="1600">
                <a:solidFill>
                  <a:srgbClr val="FFFFFF"/>
                </a:solidFill>
                <a:latin typeface="Cambria"/>
                <a:ea typeface="Cambria"/>
                <a:cs typeface="Cambria"/>
                <a:sym typeface="Cambria"/>
              </a:rPr>
              <a:t>Keep meaningful missingness</a:t>
            </a:r>
            <a:endParaRPr sz="1600">
              <a:solidFill>
                <a:schemeClr val="dk1"/>
              </a:solidFill>
              <a:latin typeface="Calibri"/>
              <a:ea typeface="Calibri"/>
              <a:cs typeface="Calibri"/>
              <a:sym typeface="Calibri"/>
            </a:endParaRPr>
          </a:p>
        </p:txBody>
      </p:sp>
      <p:sp>
        <p:nvSpPr>
          <p:cNvPr id="255" name="Google Shape;255;p26"/>
          <p:cNvSpPr txBox="1"/>
          <p:nvPr/>
        </p:nvSpPr>
        <p:spPr>
          <a:xfrm>
            <a:off x="4572000" y="2505456"/>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1E0"/>
              </a:buClr>
              <a:buSzPts val="1300"/>
              <a:buFont typeface="Calibri"/>
              <a:buNone/>
            </a:pPr>
            <a:r>
              <a:rPr lang="en" sz="1300">
                <a:solidFill>
                  <a:srgbClr val="C9D1E0"/>
                </a:solidFill>
                <a:latin typeface="Calibri"/>
                <a:ea typeface="Calibri"/>
                <a:cs typeface="Calibri"/>
                <a:sym typeface="Calibri"/>
              </a:rPr>
              <a:t>Don't drop columns just for being empty</a:t>
            </a:r>
            <a:endParaRPr sz="1300">
              <a:solidFill>
                <a:schemeClr val="dk1"/>
              </a:solidFill>
              <a:latin typeface="Calibri"/>
              <a:ea typeface="Calibri"/>
              <a:cs typeface="Calibri"/>
              <a:sym typeface="Calibri"/>
            </a:endParaRPr>
          </a:p>
        </p:txBody>
      </p:sp>
      <p:sp>
        <p:nvSpPr>
          <p:cNvPr id="256" name="Google Shape;256;p26"/>
          <p:cNvSpPr/>
          <p:nvPr/>
        </p:nvSpPr>
        <p:spPr>
          <a:xfrm>
            <a:off x="548640" y="3236976"/>
            <a:ext cx="502920" cy="502920"/>
          </a:xfrm>
          <a:prstGeom prst="ellipse">
            <a:avLst/>
          </a:prstGeom>
          <a:solidFill>
            <a:srgbClr val="D7263D"/>
          </a:solidFill>
          <a:ln cap="flat" cmpd="sng" w="12700">
            <a:solidFill>
              <a:srgbClr val="D72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7" name="Google Shape;257;p26"/>
          <p:cNvPicPr preferRelativeResize="0"/>
          <p:nvPr/>
        </p:nvPicPr>
        <p:blipFill rotWithShape="1">
          <a:blip r:embed="rId6">
            <a:alphaModFix/>
          </a:blip>
          <a:srcRect b="0" l="0" r="0" t="0"/>
          <a:stretch/>
        </p:blipFill>
        <p:spPr>
          <a:xfrm>
            <a:off x="674370" y="3362706"/>
            <a:ext cx="251460" cy="251460"/>
          </a:xfrm>
          <a:prstGeom prst="rect">
            <a:avLst/>
          </a:prstGeom>
          <a:noFill/>
          <a:ln>
            <a:noFill/>
          </a:ln>
        </p:spPr>
      </p:pic>
      <p:sp>
        <p:nvSpPr>
          <p:cNvPr id="258" name="Google Shape;258;p26"/>
          <p:cNvSpPr txBox="1"/>
          <p:nvPr/>
        </p:nvSpPr>
        <p:spPr>
          <a:xfrm>
            <a:off x="1280160" y="3218688"/>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lang="en" sz="1600">
                <a:solidFill>
                  <a:srgbClr val="FFFFFF"/>
                </a:solidFill>
                <a:latin typeface="Cambria"/>
                <a:ea typeface="Cambria"/>
                <a:cs typeface="Cambria"/>
                <a:sym typeface="Cambria"/>
              </a:rPr>
              <a:t>Avoid data leakage</a:t>
            </a:r>
            <a:endParaRPr sz="1600">
              <a:solidFill>
                <a:schemeClr val="dk1"/>
              </a:solidFill>
              <a:latin typeface="Calibri"/>
              <a:ea typeface="Calibri"/>
              <a:cs typeface="Calibri"/>
              <a:sym typeface="Calibri"/>
            </a:endParaRPr>
          </a:p>
        </p:txBody>
      </p:sp>
      <p:sp>
        <p:nvSpPr>
          <p:cNvPr id="259" name="Google Shape;259;p26"/>
          <p:cNvSpPr txBox="1"/>
          <p:nvPr/>
        </p:nvSpPr>
        <p:spPr>
          <a:xfrm>
            <a:off x="4572000" y="3218688"/>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1E0"/>
              </a:buClr>
              <a:buSzPts val="1300"/>
              <a:buFont typeface="Calibri"/>
              <a:buNone/>
            </a:pPr>
            <a:r>
              <a:rPr lang="en" sz="1300">
                <a:solidFill>
                  <a:srgbClr val="C9D1E0"/>
                </a:solidFill>
                <a:latin typeface="Calibri"/>
                <a:ea typeface="Calibri"/>
                <a:cs typeface="Calibri"/>
                <a:sym typeface="Calibri"/>
              </a:rPr>
              <a:t>Learn everything from training data only</a:t>
            </a:r>
            <a:endParaRPr sz="1300">
              <a:solidFill>
                <a:schemeClr val="dk1"/>
              </a:solidFill>
              <a:latin typeface="Calibri"/>
              <a:ea typeface="Calibri"/>
              <a:cs typeface="Calibri"/>
              <a:sym typeface="Calibri"/>
            </a:endParaRPr>
          </a:p>
        </p:txBody>
      </p:sp>
      <p:sp>
        <p:nvSpPr>
          <p:cNvPr id="260" name="Google Shape;260;p26"/>
          <p:cNvSpPr/>
          <p:nvPr/>
        </p:nvSpPr>
        <p:spPr>
          <a:xfrm>
            <a:off x="548640" y="3950208"/>
            <a:ext cx="502920" cy="502920"/>
          </a:xfrm>
          <a:prstGeom prst="ellipse">
            <a:avLst/>
          </a:prstGeom>
          <a:solidFill>
            <a:srgbClr val="D7263D"/>
          </a:solidFill>
          <a:ln cap="flat" cmpd="sng" w="12700">
            <a:solidFill>
              <a:srgbClr val="D72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61" name="Google Shape;261;p26"/>
          <p:cNvPicPr preferRelativeResize="0"/>
          <p:nvPr/>
        </p:nvPicPr>
        <p:blipFill rotWithShape="1">
          <a:blip r:embed="rId7">
            <a:alphaModFix/>
          </a:blip>
          <a:srcRect b="0" l="0" r="0" t="0"/>
          <a:stretch/>
        </p:blipFill>
        <p:spPr>
          <a:xfrm>
            <a:off x="674370" y="4075938"/>
            <a:ext cx="251460" cy="251460"/>
          </a:xfrm>
          <a:prstGeom prst="rect">
            <a:avLst/>
          </a:prstGeom>
          <a:noFill/>
          <a:ln>
            <a:noFill/>
          </a:ln>
        </p:spPr>
      </p:pic>
      <p:sp>
        <p:nvSpPr>
          <p:cNvPr id="262" name="Google Shape;262;p26"/>
          <p:cNvSpPr txBox="1"/>
          <p:nvPr/>
        </p:nvSpPr>
        <p:spPr>
          <a:xfrm>
            <a:off x="1280160" y="3931920"/>
            <a:ext cx="3291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mbria"/>
              <a:buNone/>
            </a:pPr>
            <a:r>
              <a:rPr b="1" lang="en" sz="1600">
                <a:solidFill>
                  <a:srgbClr val="FFFFFF"/>
                </a:solidFill>
                <a:latin typeface="Cambria"/>
                <a:ea typeface="Cambria"/>
                <a:cs typeface="Cambria"/>
                <a:sym typeface="Cambria"/>
              </a:rPr>
              <a:t>ROC-AUC and PR-AUC</a:t>
            </a:r>
            <a:endParaRPr sz="1600">
              <a:solidFill>
                <a:schemeClr val="dk1"/>
              </a:solidFill>
              <a:latin typeface="Calibri"/>
              <a:ea typeface="Calibri"/>
              <a:cs typeface="Calibri"/>
              <a:sym typeface="Calibri"/>
            </a:endParaRPr>
          </a:p>
        </p:txBody>
      </p:sp>
      <p:sp>
        <p:nvSpPr>
          <p:cNvPr id="263" name="Google Shape;263;p26"/>
          <p:cNvSpPr txBox="1"/>
          <p:nvPr/>
        </p:nvSpPr>
        <p:spPr>
          <a:xfrm>
            <a:off x="4572000" y="3931920"/>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1E0"/>
              </a:buClr>
              <a:buSzPts val="1300"/>
              <a:buFont typeface="Calibri"/>
              <a:buNone/>
            </a:pPr>
            <a:r>
              <a:rPr lang="en" sz="1300">
                <a:solidFill>
                  <a:srgbClr val="C9D1E0"/>
                </a:solidFill>
                <a:latin typeface="Calibri"/>
                <a:ea typeface="Calibri"/>
                <a:cs typeface="Calibri"/>
                <a:sym typeface="Calibri"/>
              </a:rPr>
              <a:t>Judge models on these, not accuracy</a:t>
            </a:r>
            <a:endParaRPr sz="1300">
              <a:solidFill>
                <a:schemeClr val="dk1"/>
              </a:solidFill>
              <a:latin typeface="Calibri"/>
              <a:ea typeface="Calibri"/>
              <a:cs typeface="Calibri"/>
              <a:sym typeface="Calibri"/>
            </a:endParaRPr>
          </a:p>
        </p:txBody>
      </p:sp>
      <p:sp>
        <p:nvSpPr>
          <p:cNvPr id="264" name="Google Shape;264;p26"/>
          <p:cNvSpPr txBox="1"/>
          <p:nvPr/>
        </p:nvSpPr>
        <p:spPr>
          <a:xfrm>
            <a:off x="457200" y="475488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8CC"/>
              </a:buClr>
              <a:buSzPts val="1000"/>
              <a:buFont typeface="Calibri"/>
              <a:buNone/>
            </a:pPr>
            <a:r>
              <a:rPr lang="en" sz="1000">
                <a:solidFill>
                  <a:srgbClr val="AEB8CC"/>
                </a:solidFill>
                <a:latin typeface="Calibri"/>
                <a:ea typeface="Calibri"/>
                <a:cs typeface="Calibri"/>
                <a:sym typeface="Calibri"/>
              </a:rPr>
              <a:t>Banking B · Mastercard fraud EDA</a:t>
            </a:r>
            <a:endParaRPr sz="1000">
              <a:solidFill>
                <a:schemeClr val="dk1"/>
              </a:solidFill>
              <a:latin typeface="Calibri"/>
              <a:ea typeface="Calibri"/>
              <a:cs typeface="Calibri"/>
              <a:sym typeface="Calibri"/>
            </a:endParaRPr>
          </a:p>
        </p:txBody>
      </p:sp>
      <p:sp>
        <p:nvSpPr>
          <p:cNvPr id="265" name="Google Shape;265;p26"/>
          <p:cNvSpPr txBox="1"/>
          <p:nvPr/>
        </p:nvSpPr>
        <p:spPr>
          <a:xfrm>
            <a:off x="7772400" y="4754880"/>
            <a:ext cx="914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EB8CC"/>
              </a:buClr>
              <a:buSzPts val="1000"/>
              <a:buFont typeface="Calibri"/>
              <a:buNone/>
            </a:pPr>
            <a:r>
              <a:rPr lang="en" sz="1000">
                <a:solidFill>
                  <a:srgbClr val="AEB8CC"/>
                </a:solidFill>
                <a:latin typeface="Calibri"/>
                <a:ea typeface="Calibri"/>
                <a:cs typeface="Calibri"/>
                <a:sym typeface="Calibri"/>
              </a:rPr>
              <a:t>12</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